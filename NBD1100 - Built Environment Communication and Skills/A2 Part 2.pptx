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c6dab4006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c6dab4006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c6dab4006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c6dab4006f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c6dab4006f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c6dab4006f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c6dab4006f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c6dab4006f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c9cfdb4c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c9cfdb4c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c9cfdb4cb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c9cfdb4cb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c9cfdb4cbb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c9cfdb4cbb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c9cfdb4cb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c9cfdb4cb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c9cfdb4cb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c9cfdb4cb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c9cfdb4cb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c9cfdb4cb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c9cfdb4cbb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c9cfdb4cbb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c9cfdb4cb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c9cfdb4cb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4.jpg"/><Relationship Id="rId5" Type="http://schemas.openxmlformats.org/officeDocument/2006/relationships/image" Target="../media/image14.jpg"/><Relationship Id="rId6"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jpg"/><Relationship Id="rId4" Type="http://schemas.openxmlformats.org/officeDocument/2006/relationships/image" Target="../media/image3.jpg"/><Relationship Id="rId5"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727950" y="0"/>
            <a:ext cx="7688100" cy="1664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sz="2800">
                <a:solidFill>
                  <a:schemeClr val="lt1"/>
                </a:solidFill>
                <a:highlight>
                  <a:schemeClr val="dk1"/>
                </a:highlight>
              </a:rPr>
              <a:t> </a:t>
            </a:r>
            <a:r>
              <a:rPr lang="en-GB" sz="2800">
                <a:solidFill>
                  <a:schemeClr val="lt1"/>
                </a:solidFill>
                <a:highlight>
                  <a:schemeClr val="dk1"/>
                </a:highlight>
              </a:rPr>
              <a:t>Portfolio Part 1</a:t>
            </a:r>
            <a:endParaRPr sz="2800">
              <a:solidFill>
                <a:schemeClr val="lt1"/>
              </a:solidFill>
              <a:highlight>
                <a:schemeClr val="dk1"/>
              </a:highlight>
            </a:endParaRPr>
          </a:p>
          <a:p>
            <a:pPr indent="0" lvl="0" marL="0" rtl="0" algn="ctr">
              <a:spcBef>
                <a:spcPts val="0"/>
              </a:spcBef>
              <a:spcAft>
                <a:spcPts val="0"/>
              </a:spcAft>
              <a:buNone/>
            </a:pPr>
            <a:r>
              <a:rPr lang="en-GB" sz="1955">
                <a:solidFill>
                  <a:schemeClr val="lt1"/>
                </a:solidFill>
                <a:highlight>
                  <a:schemeClr val="dk1"/>
                </a:highlight>
              </a:rPr>
              <a:t>Villa Verde Community House - designed by Alejandro Aravena</a:t>
            </a:r>
            <a:endParaRPr sz="1955">
              <a:solidFill>
                <a:schemeClr val="lt1"/>
              </a:solidFill>
              <a:highlight>
                <a:schemeClr val="dk1"/>
              </a:highlight>
            </a:endParaRPr>
          </a:p>
        </p:txBody>
      </p:sp>
      <p:sp>
        <p:nvSpPr>
          <p:cNvPr id="55" name="Google Shape;55;p13"/>
          <p:cNvSpPr txBox="1"/>
          <p:nvPr>
            <p:ph idx="1" type="subTitle"/>
          </p:nvPr>
        </p:nvSpPr>
        <p:spPr>
          <a:xfrm>
            <a:off x="489227" y="1664700"/>
            <a:ext cx="76881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sz="2000">
                <a:solidFill>
                  <a:schemeClr val="lt1"/>
                </a:solidFill>
                <a:highlight>
                  <a:schemeClr val="dk1"/>
                </a:highlight>
              </a:rPr>
              <a:t>Jarrad Meilak</a:t>
            </a:r>
            <a:endParaRPr sz="2000">
              <a:solidFill>
                <a:schemeClr val="lt1"/>
              </a:solidFill>
              <a:highlight>
                <a:schemeClr val="dk1"/>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Perspective sketch</a:t>
            </a:r>
            <a:endParaRPr/>
          </a:p>
        </p:txBody>
      </p:sp>
      <p:pic>
        <p:nvPicPr>
          <p:cNvPr id="61" name="Google Shape;61;p14"/>
          <p:cNvPicPr preferRelativeResize="0"/>
          <p:nvPr/>
        </p:nvPicPr>
        <p:blipFill>
          <a:blip r:embed="rId3">
            <a:alphaModFix/>
          </a:blip>
          <a:stretch>
            <a:fillRect/>
          </a:stretch>
        </p:blipFill>
        <p:spPr>
          <a:xfrm>
            <a:off x="1356900" y="692550"/>
            <a:ext cx="5989932" cy="4266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488300" y="314675"/>
            <a:ext cx="7856323" cy="4828824"/>
          </a:xfrm>
          <a:prstGeom prst="rect">
            <a:avLst/>
          </a:prstGeom>
          <a:noFill/>
          <a:ln>
            <a:noFill/>
          </a:ln>
        </p:spPr>
      </p:pic>
      <p:sp>
        <p:nvSpPr>
          <p:cNvPr id="67" name="Google Shape;67;p15"/>
          <p:cNvSpPr txBox="1"/>
          <p:nvPr/>
        </p:nvSpPr>
        <p:spPr>
          <a:xfrm>
            <a:off x="466600" y="-21700"/>
            <a:ext cx="7812900" cy="34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1"/>
                </a:solidFill>
              </a:rPr>
              <a:t>Site Analysis</a:t>
            </a:r>
            <a:endParaRPr b="1"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Notes/Plan for Model</a:t>
            </a:r>
            <a:endParaRPr/>
          </a:p>
        </p:txBody>
      </p:sp>
      <p:sp>
        <p:nvSpPr>
          <p:cNvPr id="73" name="Google Shape;73;p16"/>
          <p:cNvSpPr txBox="1"/>
          <p:nvPr>
            <p:ph idx="1" type="body"/>
          </p:nvPr>
        </p:nvSpPr>
        <p:spPr>
          <a:xfrm>
            <a:off x="0" y="488300"/>
            <a:ext cx="9144000" cy="4655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b="1" lang="en-GB" sz="950">
                <a:solidFill>
                  <a:schemeClr val="dk1"/>
                </a:solidFill>
              </a:rPr>
              <a:t>Materials: </a:t>
            </a:r>
            <a:endParaRPr b="1" sz="950">
              <a:solidFill>
                <a:schemeClr val="dk1"/>
              </a:solidFill>
            </a:endParaRPr>
          </a:p>
          <a:p>
            <a:pPr indent="0" lvl="0" marL="0" rtl="0" algn="l">
              <a:lnSpc>
                <a:spcPct val="95000"/>
              </a:lnSpc>
              <a:spcBef>
                <a:spcPts val="1200"/>
              </a:spcBef>
              <a:spcAft>
                <a:spcPts val="0"/>
              </a:spcAft>
              <a:buSzPts val="935"/>
              <a:buNone/>
            </a:pPr>
            <a:r>
              <a:rPr lang="en-GB" sz="950">
                <a:solidFill>
                  <a:schemeClr val="dk1"/>
                </a:solidFill>
              </a:rPr>
              <a:t>Radiata laser Plywood x 15 pieces of 30cm x 30cm plywood </a:t>
            </a:r>
            <a:endParaRPr sz="950">
              <a:solidFill>
                <a:schemeClr val="dk1"/>
              </a:solidFill>
            </a:endParaRPr>
          </a:p>
          <a:p>
            <a:pPr indent="0" lvl="0" marL="0" rtl="0" algn="l">
              <a:lnSpc>
                <a:spcPct val="95000"/>
              </a:lnSpc>
              <a:spcBef>
                <a:spcPts val="1200"/>
              </a:spcBef>
              <a:spcAft>
                <a:spcPts val="0"/>
              </a:spcAft>
              <a:buSzPts val="935"/>
              <a:buNone/>
            </a:pPr>
            <a:r>
              <a:rPr lang="en-GB" sz="950">
                <a:solidFill>
                  <a:schemeClr val="dk1"/>
                </a:solidFill>
              </a:rPr>
              <a:t>1x hot glue gun $13.60</a:t>
            </a:r>
            <a:endParaRPr sz="950">
              <a:solidFill>
                <a:schemeClr val="dk1"/>
              </a:solidFill>
            </a:endParaRPr>
          </a:p>
          <a:p>
            <a:pPr indent="0" lvl="0" marL="0" rtl="0" algn="l">
              <a:lnSpc>
                <a:spcPct val="95000"/>
              </a:lnSpc>
              <a:spcBef>
                <a:spcPts val="1200"/>
              </a:spcBef>
              <a:spcAft>
                <a:spcPts val="0"/>
              </a:spcAft>
              <a:buSzPts val="935"/>
              <a:buNone/>
            </a:pPr>
            <a:r>
              <a:rPr lang="en-GB" sz="950">
                <a:solidFill>
                  <a:schemeClr val="dk1"/>
                </a:solidFill>
              </a:rPr>
              <a:t>3x Hinges $3.00</a:t>
            </a:r>
            <a:endParaRPr sz="950">
              <a:solidFill>
                <a:schemeClr val="dk1"/>
              </a:solidFill>
            </a:endParaRPr>
          </a:p>
          <a:p>
            <a:pPr indent="0" lvl="0" marL="0" rtl="0" algn="l">
              <a:lnSpc>
                <a:spcPct val="95000"/>
              </a:lnSpc>
              <a:spcBef>
                <a:spcPts val="1200"/>
              </a:spcBef>
              <a:spcAft>
                <a:spcPts val="0"/>
              </a:spcAft>
              <a:buSzPts val="935"/>
              <a:buNone/>
            </a:pPr>
            <a:r>
              <a:rPr lang="en-GB" sz="950">
                <a:solidFill>
                  <a:schemeClr val="dk1"/>
                </a:solidFill>
              </a:rPr>
              <a:t>2x Spray paint, Orange and white  $10</a:t>
            </a:r>
            <a:endParaRPr sz="950">
              <a:solidFill>
                <a:schemeClr val="dk1"/>
              </a:solidFill>
            </a:endParaRPr>
          </a:p>
          <a:p>
            <a:pPr indent="0" lvl="0" marL="0" rtl="0" algn="l">
              <a:lnSpc>
                <a:spcPct val="95000"/>
              </a:lnSpc>
              <a:spcBef>
                <a:spcPts val="1200"/>
              </a:spcBef>
              <a:spcAft>
                <a:spcPts val="0"/>
              </a:spcAft>
              <a:buSzPts val="935"/>
              <a:buNone/>
            </a:pPr>
            <a:r>
              <a:rPr lang="en-GB" sz="950">
                <a:solidFill>
                  <a:schemeClr val="dk1"/>
                </a:solidFill>
              </a:rPr>
              <a:t>1 x Sale ruler</a:t>
            </a:r>
            <a:endParaRPr sz="950">
              <a:solidFill>
                <a:schemeClr val="dk1"/>
              </a:solidFill>
            </a:endParaRPr>
          </a:p>
          <a:p>
            <a:pPr indent="0" lvl="0" marL="0" rtl="0" algn="l">
              <a:lnSpc>
                <a:spcPct val="95000"/>
              </a:lnSpc>
              <a:spcBef>
                <a:spcPts val="1200"/>
              </a:spcBef>
              <a:spcAft>
                <a:spcPts val="0"/>
              </a:spcAft>
              <a:buSzPts val="935"/>
              <a:buNone/>
            </a:pPr>
            <a:r>
              <a:rPr lang="en-GB" sz="950">
                <a:solidFill>
                  <a:schemeClr val="dk1"/>
                </a:solidFill>
              </a:rPr>
              <a:t>1x T-square</a:t>
            </a:r>
            <a:endParaRPr sz="950">
              <a:solidFill>
                <a:schemeClr val="dk1"/>
              </a:solidFill>
            </a:endParaRPr>
          </a:p>
          <a:p>
            <a:pPr indent="0" lvl="0" marL="0" rtl="0" algn="l">
              <a:lnSpc>
                <a:spcPct val="95000"/>
              </a:lnSpc>
              <a:spcBef>
                <a:spcPts val="1200"/>
              </a:spcBef>
              <a:spcAft>
                <a:spcPts val="0"/>
              </a:spcAft>
              <a:buSzPts val="935"/>
              <a:buNone/>
            </a:pPr>
            <a:r>
              <a:rPr b="1" lang="en-GB" sz="950">
                <a:solidFill>
                  <a:schemeClr val="dk1"/>
                </a:solidFill>
              </a:rPr>
              <a:t>Cost estimation:</a:t>
            </a:r>
            <a:endParaRPr b="1" sz="950">
              <a:solidFill>
                <a:schemeClr val="dk1"/>
              </a:solidFill>
            </a:endParaRPr>
          </a:p>
          <a:p>
            <a:pPr indent="0" lvl="0" marL="0" rtl="0" algn="l">
              <a:lnSpc>
                <a:spcPct val="95000"/>
              </a:lnSpc>
              <a:spcBef>
                <a:spcPts val="1200"/>
              </a:spcBef>
              <a:spcAft>
                <a:spcPts val="0"/>
              </a:spcAft>
              <a:buSzPts val="935"/>
              <a:buNone/>
            </a:pPr>
            <a:r>
              <a:rPr lang="en-GB" sz="950">
                <a:solidFill>
                  <a:schemeClr val="dk1"/>
                </a:solidFill>
              </a:rPr>
              <a:t>Around $40</a:t>
            </a:r>
            <a:endParaRPr sz="950">
              <a:solidFill>
                <a:schemeClr val="dk1"/>
              </a:solidFill>
            </a:endParaRPr>
          </a:p>
          <a:p>
            <a:pPr indent="0" lvl="0" marL="0" rtl="0" algn="l">
              <a:lnSpc>
                <a:spcPct val="95000"/>
              </a:lnSpc>
              <a:spcBef>
                <a:spcPts val="1200"/>
              </a:spcBef>
              <a:spcAft>
                <a:spcPts val="0"/>
              </a:spcAft>
              <a:buSzPts val="935"/>
              <a:buNone/>
            </a:pPr>
            <a:r>
              <a:rPr b="1" lang="en-GB" sz="950">
                <a:solidFill>
                  <a:schemeClr val="dk1"/>
                </a:solidFill>
              </a:rPr>
              <a:t>Measurements:</a:t>
            </a:r>
            <a:endParaRPr b="1" sz="950">
              <a:solidFill>
                <a:schemeClr val="dk1"/>
              </a:solidFill>
            </a:endParaRPr>
          </a:p>
          <a:p>
            <a:pPr indent="0" lvl="0" marL="0" rtl="0" algn="l">
              <a:lnSpc>
                <a:spcPct val="95000"/>
              </a:lnSpc>
              <a:spcBef>
                <a:spcPts val="1200"/>
              </a:spcBef>
              <a:spcAft>
                <a:spcPts val="0"/>
              </a:spcAft>
              <a:buSzPts val="935"/>
              <a:buNone/>
            </a:pPr>
            <a:r>
              <a:rPr lang="en-GB" sz="950">
                <a:solidFill>
                  <a:schemeClr val="dk1"/>
                </a:solidFill>
              </a:rPr>
              <a:t>Each house 30cm x 3 - scale 1:20</a:t>
            </a:r>
            <a:endParaRPr sz="950">
              <a:solidFill>
                <a:schemeClr val="dk1"/>
              </a:solidFill>
            </a:endParaRPr>
          </a:p>
          <a:p>
            <a:pPr indent="0" lvl="0" marL="0" rtl="0" algn="l">
              <a:lnSpc>
                <a:spcPct val="95000"/>
              </a:lnSpc>
              <a:spcBef>
                <a:spcPts val="1200"/>
              </a:spcBef>
              <a:spcAft>
                <a:spcPts val="0"/>
              </a:spcAft>
              <a:buSzPts val="935"/>
              <a:buNone/>
            </a:pPr>
            <a:r>
              <a:rPr b="1" lang="en-GB" sz="950">
                <a:solidFill>
                  <a:schemeClr val="dk1"/>
                </a:solidFill>
              </a:rPr>
              <a:t>Plan/Steps:</a:t>
            </a:r>
            <a:endParaRPr b="1" sz="950">
              <a:solidFill>
                <a:schemeClr val="dk1"/>
              </a:solidFill>
            </a:endParaRPr>
          </a:p>
          <a:p>
            <a:pPr indent="-288925" lvl="0" marL="457200" rtl="0" algn="l">
              <a:lnSpc>
                <a:spcPct val="95000"/>
              </a:lnSpc>
              <a:spcBef>
                <a:spcPts val="1200"/>
              </a:spcBef>
              <a:spcAft>
                <a:spcPts val="0"/>
              </a:spcAft>
              <a:buClr>
                <a:schemeClr val="dk1"/>
              </a:buClr>
              <a:buSzPts val="950"/>
              <a:buChar char="-"/>
            </a:pPr>
            <a:r>
              <a:rPr lang="en-GB" sz="950">
                <a:solidFill>
                  <a:schemeClr val="dk1"/>
                </a:solidFill>
              </a:rPr>
              <a:t>Create to do list for project</a:t>
            </a:r>
            <a:endParaRPr sz="950">
              <a:solidFill>
                <a:schemeClr val="dk1"/>
              </a:solidFill>
            </a:endParaRPr>
          </a:p>
          <a:p>
            <a:pPr indent="-288925" lvl="0" marL="457200" rtl="0" algn="l">
              <a:lnSpc>
                <a:spcPct val="95000"/>
              </a:lnSpc>
              <a:spcBef>
                <a:spcPts val="0"/>
              </a:spcBef>
              <a:spcAft>
                <a:spcPts val="0"/>
              </a:spcAft>
              <a:buClr>
                <a:schemeClr val="dk1"/>
              </a:buClr>
              <a:buSzPts val="950"/>
              <a:buChar char="-"/>
            </a:pPr>
            <a:r>
              <a:rPr lang="en-GB" sz="950">
                <a:solidFill>
                  <a:schemeClr val="dk1"/>
                </a:solidFill>
              </a:rPr>
              <a:t>Gather materials for project</a:t>
            </a:r>
            <a:endParaRPr sz="950">
              <a:solidFill>
                <a:schemeClr val="dk1"/>
              </a:solidFill>
            </a:endParaRPr>
          </a:p>
          <a:p>
            <a:pPr indent="-288925" lvl="0" marL="457200" rtl="0" algn="l">
              <a:lnSpc>
                <a:spcPct val="95000"/>
              </a:lnSpc>
              <a:spcBef>
                <a:spcPts val="0"/>
              </a:spcBef>
              <a:spcAft>
                <a:spcPts val="0"/>
              </a:spcAft>
              <a:buClr>
                <a:schemeClr val="dk1"/>
              </a:buClr>
              <a:buSzPts val="950"/>
              <a:buChar char="-"/>
            </a:pPr>
            <a:r>
              <a:rPr lang="en-GB" sz="950">
                <a:solidFill>
                  <a:schemeClr val="dk1"/>
                </a:solidFill>
              </a:rPr>
              <a:t>Measure each house and dimensions on base for houses  </a:t>
            </a:r>
            <a:endParaRPr sz="950">
              <a:solidFill>
                <a:schemeClr val="dk1"/>
              </a:solidFill>
            </a:endParaRPr>
          </a:p>
          <a:p>
            <a:pPr indent="-288925" lvl="0" marL="457200" rtl="0" algn="l">
              <a:lnSpc>
                <a:spcPct val="95000"/>
              </a:lnSpc>
              <a:spcBef>
                <a:spcPts val="0"/>
              </a:spcBef>
              <a:spcAft>
                <a:spcPts val="0"/>
              </a:spcAft>
              <a:buClr>
                <a:schemeClr val="dk1"/>
              </a:buClr>
              <a:buSzPts val="950"/>
              <a:buChar char="-"/>
            </a:pPr>
            <a:r>
              <a:rPr lang="en-GB" sz="950">
                <a:solidFill>
                  <a:schemeClr val="dk1"/>
                </a:solidFill>
              </a:rPr>
              <a:t>Cut house panels to correct size</a:t>
            </a:r>
            <a:endParaRPr sz="950">
              <a:solidFill>
                <a:schemeClr val="dk1"/>
              </a:solidFill>
            </a:endParaRPr>
          </a:p>
          <a:p>
            <a:pPr indent="-288925" lvl="0" marL="457200" rtl="0" algn="l">
              <a:lnSpc>
                <a:spcPct val="95000"/>
              </a:lnSpc>
              <a:spcBef>
                <a:spcPts val="0"/>
              </a:spcBef>
              <a:spcAft>
                <a:spcPts val="0"/>
              </a:spcAft>
              <a:buClr>
                <a:schemeClr val="dk1"/>
              </a:buClr>
              <a:buSzPts val="950"/>
              <a:buChar char="-"/>
            </a:pPr>
            <a:r>
              <a:rPr lang="en-GB" sz="950">
                <a:solidFill>
                  <a:schemeClr val="dk1"/>
                </a:solidFill>
              </a:rPr>
              <a:t>Glue panels together</a:t>
            </a:r>
            <a:endParaRPr sz="950">
              <a:solidFill>
                <a:schemeClr val="dk1"/>
              </a:solidFill>
            </a:endParaRPr>
          </a:p>
          <a:p>
            <a:pPr indent="-288925" lvl="0" marL="457200" rtl="0" algn="l">
              <a:lnSpc>
                <a:spcPct val="95000"/>
              </a:lnSpc>
              <a:spcBef>
                <a:spcPts val="0"/>
              </a:spcBef>
              <a:spcAft>
                <a:spcPts val="0"/>
              </a:spcAft>
              <a:buClr>
                <a:schemeClr val="dk1"/>
              </a:buClr>
              <a:buSzPts val="950"/>
              <a:buChar char="-"/>
            </a:pPr>
            <a:r>
              <a:rPr lang="en-GB" sz="950">
                <a:solidFill>
                  <a:schemeClr val="dk1"/>
                </a:solidFill>
              </a:rPr>
              <a:t>Glue whole panels to base</a:t>
            </a:r>
            <a:endParaRPr sz="950">
              <a:solidFill>
                <a:schemeClr val="dk1"/>
              </a:solidFill>
            </a:endParaRPr>
          </a:p>
          <a:p>
            <a:pPr indent="-288925" lvl="0" marL="457200" rtl="0" algn="l">
              <a:lnSpc>
                <a:spcPct val="95000"/>
              </a:lnSpc>
              <a:spcBef>
                <a:spcPts val="0"/>
              </a:spcBef>
              <a:spcAft>
                <a:spcPts val="0"/>
              </a:spcAft>
              <a:buClr>
                <a:schemeClr val="dk1"/>
              </a:buClr>
              <a:buSzPts val="950"/>
              <a:buChar char="-"/>
            </a:pPr>
            <a:r>
              <a:rPr lang="en-GB" sz="950">
                <a:solidFill>
                  <a:schemeClr val="dk1"/>
                </a:solidFill>
              </a:rPr>
              <a:t>Add minor details</a:t>
            </a:r>
            <a:endParaRPr sz="950">
              <a:solidFill>
                <a:schemeClr val="dk1"/>
              </a:solidFill>
            </a:endParaRPr>
          </a:p>
          <a:p>
            <a:pPr indent="0" lvl="0" marL="0" rtl="0" algn="l">
              <a:lnSpc>
                <a:spcPct val="95000"/>
              </a:lnSpc>
              <a:spcBef>
                <a:spcPts val="1200"/>
              </a:spcBef>
              <a:spcAft>
                <a:spcPts val="1200"/>
              </a:spcAft>
              <a:buSzPts val="935"/>
              <a:buNone/>
            </a:pPr>
            <a:r>
              <a:t/>
            </a:r>
            <a:endParaRPr sz="850">
              <a:solidFill>
                <a:schemeClr val="dk1"/>
              </a:solidFill>
            </a:endParaRPr>
          </a:p>
        </p:txBody>
      </p:sp>
      <p:pic>
        <p:nvPicPr>
          <p:cNvPr id="74" name="Google Shape;74;p16"/>
          <p:cNvPicPr preferRelativeResize="0"/>
          <p:nvPr/>
        </p:nvPicPr>
        <p:blipFill>
          <a:blip r:embed="rId3">
            <a:alphaModFix/>
          </a:blip>
          <a:stretch>
            <a:fillRect/>
          </a:stretch>
        </p:blipFill>
        <p:spPr>
          <a:xfrm>
            <a:off x="4920677" y="672775"/>
            <a:ext cx="3622100" cy="27345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170675" y="130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Group Theme - Cost efficiency</a:t>
            </a:r>
            <a:endParaRPr/>
          </a:p>
        </p:txBody>
      </p:sp>
      <p:sp>
        <p:nvSpPr>
          <p:cNvPr id="80" name="Google Shape;80;p17"/>
          <p:cNvSpPr txBox="1"/>
          <p:nvPr>
            <p:ph idx="1" type="body"/>
          </p:nvPr>
        </p:nvSpPr>
        <p:spPr>
          <a:xfrm>
            <a:off x="311700" y="7030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solidFill>
                  <a:schemeClr val="dk1"/>
                </a:solidFill>
              </a:rPr>
              <a:t>Our group 3, Karam, Nathan and myself have chosen the theme of cost efficiency within our selected case studies, as it is an important consideration for our architects to recognise whilst </a:t>
            </a:r>
            <a:r>
              <a:rPr lang="en-GB" sz="1200">
                <a:solidFill>
                  <a:schemeClr val="dk1"/>
                </a:solidFill>
              </a:rPr>
              <a:t>designing their buildings/houses. My chosen architect Alejandro Aravena utilises a wide variety of cost efficiency tactics during the design process of the Villa Verde community houses. His main objective during the design process of the community houses was to support the lower economic class of Chile as they would not be able to afford a large good house, so he’s idea was, why not give them half a good house. Constitucion was impacted to a great degree during 2012 when they sustained a large 7.1 magnitude earthquake which wiped out majority of the houses. During the rebuild the government could not afford to rebuild many small houses so they reached out to Alejandro who came up with the great innovative idea of building many half good houses. It was a cheaper and better option during the rebuild process. I chose this case study as I felt it was very interesting and wanted to learn more about this great project of Alejandro’s so I thought it would be good to explore further. Alejandro Aravena felt the need to be the person who would help revive his city of Constitucion, Chile after their mass destruction earthquake which destroyed the peoples houses and buildings. He was the person who bought the city back to life.</a:t>
            </a:r>
            <a:endParaRPr/>
          </a:p>
        </p:txBody>
      </p:sp>
      <p:pic>
        <p:nvPicPr>
          <p:cNvPr id="81" name="Google Shape;81;p17"/>
          <p:cNvPicPr preferRelativeResize="0"/>
          <p:nvPr/>
        </p:nvPicPr>
        <p:blipFill>
          <a:blip r:embed="rId3">
            <a:alphaModFix/>
          </a:blip>
          <a:stretch>
            <a:fillRect/>
          </a:stretch>
        </p:blipFill>
        <p:spPr>
          <a:xfrm>
            <a:off x="3211983" y="3406875"/>
            <a:ext cx="2609000" cy="17366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FF"/>
        </a:solidFill>
      </p:bgPr>
    </p:bg>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84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GB" sz="5020"/>
              <a:t>Part 2</a:t>
            </a:r>
            <a:endParaRPr sz="5020"/>
          </a:p>
        </p:txBody>
      </p:sp>
      <p:pic>
        <p:nvPicPr>
          <p:cNvPr id="87" name="Google Shape;87;p18"/>
          <p:cNvPicPr preferRelativeResize="0"/>
          <p:nvPr/>
        </p:nvPicPr>
        <p:blipFill>
          <a:blip r:embed="rId3">
            <a:alphaModFix/>
          </a:blip>
          <a:stretch>
            <a:fillRect/>
          </a:stretch>
        </p:blipFill>
        <p:spPr>
          <a:xfrm>
            <a:off x="1660588" y="1596125"/>
            <a:ext cx="5822831" cy="35473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2709450" y="0"/>
            <a:ext cx="3725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Perspective sketch</a:t>
            </a:r>
            <a:endParaRPr/>
          </a:p>
        </p:txBody>
      </p:sp>
      <p:pic>
        <p:nvPicPr>
          <p:cNvPr id="93" name="Google Shape;93;p19"/>
          <p:cNvPicPr preferRelativeResize="0"/>
          <p:nvPr/>
        </p:nvPicPr>
        <p:blipFill>
          <a:blip r:embed="rId3">
            <a:alphaModFix/>
          </a:blip>
          <a:stretch>
            <a:fillRect/>
          </a:stretch>
        </p:blipFill>
        <p:spPr>
          <a:xfrm>
            <a:off x="1321832" y="649125"/>
            <a:ext cx="6500332" cy="449437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2547050" y="0"/>
            <a:ext cx="4332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Perspective sketch</a:t>
            </a:r>
            <a:endParaRPr/>
          </a:p>
        </p:txBody>
      </p:sp>
      <p:pic>
        <p:nvPicPr>
          <p:cNvPr id="99" name="Google Shape;99;p20"/>
          <p:cNvPicPr preferRelativeResize="0"/>
          <p:nvPr/>
        </p:nvPicPr>
        <p:blipFill rotWithShape="1">
          <a:blip r:embed="rId3">
            <a:alphaModFix/>
          </a:blip>
          <a:srcRect b="0" l="0" r="22570" t="0"/>
          <a:stretch/>
        </p:blipFill>
        <p:spPr>
          <a:xfrm>
            <a:off x="2072538" y="572700"/>
            <a:ext cx="4998922" cy="45707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1"/>
          <p:cNvPicPr preferRelativeResize="0"/>
          <p:nvPr/>
        </p:nvPicPr>
        <p:blipFill>
          <a:blip r:embed="rId3">
            <a:alphaModFix/>
          </a:blip>
          <a:stretch>
            <a:fillRect/>
          </a:stretch>
        </p:blipFill>
        <p:spPr>
          <a:xfrm>
            <a:off x="939807" y="0"/>
            <a:ext cx="7264396" cy="51435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2168400" y="0"/>
            <a:ext cx="4807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Model Making progress</a:t>
            </a:r>
            <a:endParaRPr/>
          </a:p>
        </p:txBody>
      </p:sp>
      <p:pic>
        <p:nvPicPr>
          <p:cNvPr id="110" name="Google Shape;110;p22"/>
          <p:cNvPicPr preferRelativeResize="0"/>
          <p:nvPr/>
        </p:nvPicPr>
        <p:blipFill>
          <a:blip r:embed="rId3">
            <a:alphaModFix/>
          </a:blip>
          <a:stretch>
            <a:fillRect/>
          </a:stretch>
        </p:blipFill>
        <p:spPr>
          <a:xfrm>
            <a:off x="0" y="572700"/>
            <a:ext cx="6269776" cy="4169125"/>
          </a:xfrm>
          <a:prstGeom prst="rect">
            <a:avLst/>
          </a:prstGeom>
          <a:noFill/>
          <a:ln>
            <a:noFill/>
          </a:ln>
        </p:spPr>
      </p:pic>
      <p:sp>
        <p:nvSpPr>
          <p:cNvPr id="111" name="Google Shape;111;p22"/>
          <p:cNvSpPr txBox="1"/>
          <p:nvPr/>
        </p:nvSpPr>
        <p:spPr>
          <a:xfrm>
            <a:off x="6489050" y="672775"/>
            <a:ext cx="2702100" cy="21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rPr>
              <a:t>Each piece we will need to construct the Villa Verde house.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GB" sz="1800">
                <a:solidFill>
                  <a:schemeClr val="dk1"/>
                </a:solidFill>
              </a:rPr>
              <a:t>The</a:t>
            </a:r>
            <a:r>
              <a:rPr lang="en-GB" sz="1800">
                <a:solidFill>
                  <a:schemeClr val="dk1"/>
                </a:solidFill>
              </a:rPr>
              <a:t> program the laser uses is called lightburn. </a:t>
            </a:r>
            <a:endParaRPr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3"/>
          <p:cNvPicPr preferRelativeResize="0"/>
          <p:nvPr/>
        </p:nvPicPr>
        <p:blipFill>
          <a:blip r:embed="rId3">
            <a:alphaModFix/>
          </a:blip>
          <a:stretch>
            <a:fillRect/>
          </a:stretch>
        </p:blipFill>
        <p:spPr>
          <a:xfrm>
            <a:off x="0" y="0"/>
            <a:ext cx="2245851" cy="2994476"/>
          </a:xfrm>
          <a:prstGeom prst="rect">
            <a:avLst/>
          </a:prstGeom>
          <a:noFill/>
          <a:ln>
            <a:noFill/>
          </a:ln>
        </p:spPr>
      </p:pic>
      <p:pic>
        <p:nvPicPr>
          <p:cNvPr id="117" name="Google Shape;117;p23"/>
          <p:cNvPicPr preferRelativeResize="0"/>
          <p:nvPr/>
        </p:nvPicPr>
        <p:blipFill>
          <a:blip r:embed="rId4">
            <a:alphaModFix/>
          </a:blip>
          <a:stretch>
            <a:fillRect/>
          </a:stretch>
        </p:blipFill>
        <p:spPr>
          <a:xfrm>
            <a:off x="2286000" y="4"/>
            <a:ext cx="2245851" cy="2994460"/>
          </a:xfrm>
          <a:prstGeom prst="rect">
            <a:avLst/>
          </a:prstGeom>
          <a:noFill/>
          <a:ln>
            <a:noFill/>
          </a:ln>
        </p:spPr>
      </p:pic>
      <p:pic>
        <p:nvPicPr>
          <p:cNvPr id="118" name="Google Shape;118;p23"/>
          <p:cNvPicPr preferRelativeResize="0"/>
          <p:nvPr/>
        </p:nvPicPr>
        <p:blipFill>
          <a:blip r:embed="rId5">
            <a:alphaModFix/>
          </a:blip>
          <a:stretch>
            <a:fillRect/>
          </a:stretch>
        </p:blipFill>
        <p:spPr>
          <a:xfrm>
            <a:off x="4572000" y="3"/>
            <a:ext cx="2245851" cy="2994460"/>
          </a:xfrm>
          <a:prstGeom prst="rect">
            <a:avLst/>
          </a:prstGeom>
          <a:noFill/>
          <a:ln>
            <a:noFill/>
          </a:ln>
        </p:spPr>
      </p:pic>
      <p:pic>
        <p:nvPicPr>
          <p:cNvPr id="119" name="Google Shape;119;p23"/>
          <p:cNvPicPr preferRelativeResize="0"/>
          <p:nvPr/>
        </p:nvPicPr>
        <p:blipFill>
          <a:blip r:embed="rId6">
            <a:alphaModFix/>
          </a:blip>
          <a:stretch>
            <a:fillRect/>
          </a:stretch>
        </p:blipFill>
        <p:spPr>
          <a:xfrm>
            <a:off x="6898150" y="0"/>
            <a:ext cx="2245851" cy="2994468"/>
          </a:xfrm>
          <a:prstGeom prst="rect">
            <a:avLst/>
          </a:prstGeom>
          <a:noFill/>
          <a:ln>
            <a:noFill/>
          </a:ln>
        </p:spPr>
      </p:pic>
      <p:sp>
        <p:nvSpPr>
          <p:cNvPr id="120" name="Google Shape;120;p23"/>
          <p:cNvSpPr txBox="1"/>
          <p:nvPr/>
        </p:nvSpPr>
        <p:spPr>
          <a:xfrm>
            <a:off x="379800" y="3461550"/>
            <a:ext cx="8507400" cy="13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Using laser machine to cut out plywood for house. </a:t>
            </a:r>
            <a:endParaRPr>
              <a:solidFill>
                <a:schemeClr val="dk1"/>
              </a:solidFill>
            </a:endParaRPr>
          </a:p>
          <a:p>
            <a:pPr indent="0" lvl="0" marL="0" rtl="0" algn="l">
              <a:spcBef>
                <a:spcPts val="0"/>
              </a:spcBef>
              <a:spcAft>
                <a:spcPts val="0"/>
              </a:spcAft>
              <a:buNone/>
            </a:pPr>
            <a:r>
              <a:rPr lang="en-GB">
                <a:solidFill>
                  <a:schemeClr val="dk1"/>
                </a:solidFill>
              </a:rPr>
              <a:t>60W C02 Laser. </a:t>
            </a:r>
            <a:endParaRPr>
              <a:solidFill>
                <a:schemeClr val="dk1"/>
              </a:solidFill>
            </a:endParaRPr>
          </a:p>
          <a:p>
            <a:pPr indent="0" lvl="0" marL="0" rtl="0" algn="l">
              <a:spcBef>
                <a:spcPts val="0"/>
              </a:spcBef>
              <a:spcAft>
                <a:spcPts val="0"/>
              </a:spcAft>
              <a:buNone/>
            </a:pPr>
            <a:r>
              <a:rPr lang="en-GB">
                <a:solidFill>
                  <a:schemeClr val="dk1"/>
                </a:solidFill>
              </a:rPr>
              <a:t>Base is 500m x 700mm - not perfectly level and that is important for the cuts and engravings to work correctly. Cutting smaller pieces at a time, rather than putting everything on at once on one big sheet. </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4"/>
          <p:cNvPicPr preferRelativeResize="0"/>
          <p:nvPr/>
        </p:nvPicPr>
        <p:blipFill>
          <a:blip r:embed="rId3">
            <a:alphaModFix/>
          </a:blip>
          <a:stretch>
            <a:fillRect/>
          </a:stretch>
        </p:blipFill>
        <p:spPr>
          <a:xfrm>
            <a:off x="6120100" y="0"/>
            <a:ext cx="2831824" cy="3775765"/>
          </a:xfrm>
          <a:prstGeom prst="rect">
            <a:avLst/>
          </a:prstGeom>
          <a:noFill/>
          <a:ln>
            <a:noFill/>
          </a:ln>
        </p:spPr>
      </p:pic>
      <p:pic>
        <p:nvPicPr>
          <p:cNvPr id="126" name="Google Shape;126;p24"/>
          <p:cNvPicPr preferRelativeResize="0"/>
          <p:nvPr/>
        </p:nvPicPr>
        <p:blipFill>
          <a:blip r:embed="rId4">
            <a:alphaModFix/>
          </a:blip>
          <a:stretch>
            <a:fillRect/>
          </a:stretch>
        </p:blipFill>
        <p:spPr>
          <a:xfrm>
            <a:off x="0" y="0"/>
            <a:ext cx="2831826" cy="3775752"/>
          </a:xfrm>
          <a:prstGeom prst="rect">
            <a:avLst/>
          </a:prstGeom>
          <a:noFill/>
          <a:ln>
            <a:noFill/>
          </a:ln>
        </p:spPr>
      </p:pic>
      <p:pic>
        <p:nvPicPr>
          <p:cNvPr id="127" name="Google Shape;127;p24"/>
          <p:cNvPicPr preferRelativeResize="0"/>
          <p:nvPr/>
        </p:nvPicPr>
        <p:blipFill>
          <a:blip r:embed="rId5">
            <a:alphaModFix/>
          </a:blip>
          <a:stretch>
            <a:fillRect/>
          </a:stretch>
        </p:blipFill>
        <p:spPr>
          <a:xfrm>
            <a:off x="3098025" y="-12"/>
            <a:ext cx="2831824" cy="3775765"/>
          </a:xfrm>
          <a:prstGeom prst="rect">
            <a:avLst/>
          </a:prstGeom>
          <a:noFill/>
          <a:ln>
            <a:noFill/>
          </a:ln>
        </p:spPr>
      </p:pic>
      <p:sp>
        <p:nvSpPr>
          <p:cNvPr id="128" name="Google Shape;128;p24"/>
          <p:cNvSpPr txBox="1"/>
          <p:nvPr/>
        </p:nvSpPr>
        <p:spPr>
          <a:xfrm>
            <a:off x="184475" y="4036675"/>
            <a:ext cx="8453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rPr>
              <a:t>Putting pieces of the house together to ensure each piece fits perfectly and there are no flaws. </a:t>
            </a:r>
            <a:endParaRPr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Group theme and case study</a:t>
            </a:r>
            <a:endParaRPr/>
          </a:p>
        </p:txBody>
      </p:sp>
      <p:sp>
        <p:nvSpPr>
          <p:cNvPr id="134" name="Google Shape;13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200">
                <a:solidFill>
                  <a:schemeClr val="dk1"/>
                </a:solidFill>
              </a:rPr>
              <a:t>Our group 3, Karam, Nathan and myself have chosen the theme of cost efficiency within our selected case studies, as it is an important consideration for architects to keep in mind when designing a project. My chosen Architect, Alejandro Aravena designed the project of the Villa Verde housing units. Alejandro designed these houses to be social houses, that were constructed after the destructive earthquake that left devastating effects on the local community of Constitution. The Villa Verde houses were designed this way to accommodate a large number of families in the area and provide them with cheap and sustainable housing that is budget friendly with everything they need to live a normal everyday life. They houses were built in half which came at a cheaper price and once the residents had enough money they could extend to make the full house and customise it in any which way they wanted to. There was a lot of leeway with how the residents could customise their own house. It was too expensive to build a full good house so Alejandro thought why not build half a good house. They housing community was designed to fit many locals, many who were affected from the earthquake. </a:t>
            </a:r>
            <a:endParaRPr sz="1200">
              <a:solidFill>
                <a:schemeClr val="dk1"/>
              </a:solidFill>
            </a:endParaRPr>
          </a:p>
          <a:p>
            <a:pPr indent="0" lvl="0" marL="0" rtl="0" algn="l">
              <a:spcBef>
                <a:spcPts val="1200"/>
              </a:spcBef>
              <a:spcAft>
                <a:spcPts val="0"/>
              </a:spcAft>
              <a:buNone/>
            </a:pPr>
            <a:r>
              <a:rPr lang="en-GB" sz="1200">
                <a:solidFill>
                  <a:schemeClr val="dk1"/>
                </a:solidFill>
              </a:rPr>
              <a:t>During the designing of my analysis diagram, I learnt how to use the app, photoshop. It was a rough start which took me a couple days to get used to, even know I am still not the best at it, but I believe I have improved from my first analysis diagram. I have learnt about the sun path of Constitution, the wind patterns, side details, location, ventilation and many more interesting facts about the Villa Verde house. Analysing the floor plans helped me to better understand how the locals are living and what appliances/living space they are in. </a:t>
            </a:r>
            <a:endParaRPr sz="1200">
              <a:solidFill>
                <a:schemeClr val="dk1"/>
              </a:solidFill>
            </a:endParaRPr>
          </a:p>
          <a:p>
            <a:pPr indent="0" lvl="0" marL="0" rtl="0" algn="l">
              <a:spcBef>
                <a:spcPts val="1200"/>
              </a:spcBef>
              <a:spcAft>
                <a:spcPts val="1200"/>
              </a:spcAft>
              <a:buNone/>
            </a:pPr>
            <a:r>
              <a:t/>
            </a:r>
            <a:endParaRPr sz="1100">
              <a:solidFill>
                <a:srgbClr val="202122"/>
              </a:solidFill>
              <a:highlight>
                <a:srgbClr val="FFFFFF"/>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