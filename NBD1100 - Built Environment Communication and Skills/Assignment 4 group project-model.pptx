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8" r:id="rId3"/>
    <p:sldId id="257" r:id="rId4"/>
    <p:sldId id="263" r:id="rId5"/>
    <p:sldId id="264" r:id="rId6"/>
    <p:sldId id="265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6"/>
    <p:restoredTop sz="96197"/>
  </p:normalViewPr>
  <p:slideViewPr>
    <p:cSldViewPr snapToGrid="0">
      <p:cViewPr varScale="1">
        <p:scale>
          <a:sx n="117" d="100"/>
          <a:sy n="117" d="100"/>
        </p:scale>
        <p:origin x="19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4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34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0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4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03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57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73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283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0401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97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9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6/21/23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76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FB2BB-6900-5F82-9E75-5046E3F7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4827" y="-1265969"/>
            <a:ext cx="7527173" cy="3812102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Model making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400A5-B838-D150-EC7C-8EF4418D7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9864" y="2081348"/>
            <a:ext cx="3129344" cy="2562569"/>
          </a:xfrm>
        </p:spPr>
        <p:txBody>
          <a:bodyPr anchor="t">
            <a:normAutofit fontScale="47500" lnSpcReduction="20000"/>
          </a:bodyPr>
          <a:lstStyle/>
          <a:p>
            <a:pPr algn="l">
              <a:lnSpc>
                <a:spcPct val="91000"/>
              </a:lnSpc>
            </a:pPr>
            <a:endParaRPr lang="en-US" sz="2000" b="1" u="sng" dirty="0"/>
          </a:p>
          <a:p>
            <a:pPr algn="l">
              <a:lnSpc>
                <a:spcPct val="91000"/>
              </a:lnSpc>
            </a:pPr>
            <a:r>
              <a:rPr lang="en-AU" dirty="0"/>
              <a:t>NBC1100 Built Environment Communication</a:t>
            </a:r>
            <a:br>
              <a:rPr lang="en-AU" dirty="0"/>
            </a:br>
            <a:r>
              <a:rPr lang="en-AU" dirty="0"/>
              <a:t>and Skills</a:t>
            </a:r>
            <a:endParaRPr lang="en-US" sz="2000" b="1" u="sng" dirty="0"/>
          </a:p>
          <a:p>
            <a:pPr algn="l">
              <a:lnSpc>
                <a:spcPct val="91000"/>
              </a:lnSpc>
            </a:pPr>
            <a:endParaRPr lang="en-US" sz="2000" b="1" u="sng" dirty="0"/>
          </a:p>
          <a:p>
            <a:pPr algn="l">
              <a:lnSpc>
                <a:spcPct val="91000"/>
              </a:lnSpc>
            </a:pPr>
            <a:r>
              <a:rPr lang="en-US" sz="2000" b="1" u="sng" dirty="0"/>
              <a:t>Architect – Glenn Murcutt</a:t>
            </a:r>
          </a:p>
          <a:p>
            <a:pPr algn="l">
              <a:lnSpc>
                <a:spcPct val="91000"/>
              </a:lnSpc>
            </a:pPr>
            <a:endParaRPr lang="en-US" sz="2000" b="1" u="sng" dirty="0"/>
          </a:p>
          <a:p>
            <a:pPr algn="l">
              <a:lnSpc>
                <a:spcPct val="91000"/>
              </a:lnSpc>
            </a:pPr>
            <a:r>
              <a:rPr lang="en-US" sz="2000" dirty="0"/>
              <a:t>Fergus Shaw - Marie Short House</a:t>
            </a:r>
          </a:p>
          <a:p>
            <a:pPr algn="l">
              <a:lnSpc>
                <a:spcPct val="91000"/>
              </a:lnSpc>
            </a:pPr>
            <a:r>
              <a:rPr lang="en-US" sz="2000" dirty="0"/>
              <a:t>David Larsson – Walsh House</a:t>
            </a:r>
          </a:p>
        </p:txBody>
      </p:sp>
      <p:pic>
        <p:nvPicPr>
          <p:cNvPr id="6" name="Picture 5" descr="A person in a suit and glasses&#10;&#10;Description automatically generated with low confidence">
            <a:extLst>
              <a:ext uri="{FF2B5EF4-FFF2-40B4-BE49-F238E27FC236}">
                <a16:creationId xmlns:a16="http://schemas.microsoft.com/office/drawing/2014/main" id="{A412C3B2-910E-AE41-25CB-F7DEC24268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23" r="28871" b="3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21C7E1-247F-2E1C-72E8-57E2EA3B2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274" y="4553188"/>
            <a:ext cx="3457216" cy="2304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D3356E-B44F-D284-567F-74476057D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274" y="2327113"/>
            <a:ext cx="3475207" cy="2316804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FA0D2E-B326-50B4-5E98-B83B7A0CCF2D}"/>
              </a:ext>
            </a:extLst>
          </p:cNvPr>
          <p:cNvCxnSpPr>
            <a:cxnSpLocks/>
          </p:cNvCxnSpPr>
          <p:nvPr/>
        </p:nvCxnSpPr>
        <p:spPr>
          <a:xfrm>
            <a:off x="6703187" y="4341295"/>
            <a:ext cx="1841206" cy="42675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BAE173-D309-34A0-D5D1-B2FC832DF6DA}"/>
              </a:ext>
            </a:extLst>
          </p:cNvPr>
          <p:cNvCxnSpPr>
            <a:cxnSpLocks/>
          </p:cNvCxnSpPr>
          <p:nvPr/>
        </p:nvCxnSpPr>
        <p:spPr>
          <a:xfrm>
            <a:off x="6847114" y="4093029"/>
            <a:ext cx="1697279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41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C1C60-F8AA-7626-545A-E92026539EED}"/>
              </a:ext>
            </a:extLst>
          </p:cNvPr>
          <p:cNvSpPr txBox="1"/>
          <p:nvPr/>
        </p:nvSpPr>
        <p:spPr>
          <a:xfrm>
            <a:off x="0" y="0"/>
            <a:ext cx="8991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Marie Short House - Process Model (Fergus Shaw)</a:t>
            </a:r>
          </a:p>
        </p:txBody>
      </p:sp>
      <p:pic>
        <p:nvPicPr>
          <p:cNvPr id="6" name="Picture 5" descr="A picture containing indoor, shelving, furniture, room&#10;&#10;Description automatically generated">
            <a:extLst>
              <a:ext uri="{FF2B5EF4-FFF2-40B4-BE49-F238E27FC236}">
                <a16:creationId xmlns:a16="http://schemas.microsoft.com/office/drawing/2014/main" id="{72CDA61B-C3BE-BD22-013C-3F944A45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594369" y="831370"/>
            <a:ext cx="2949315" cy="2245944"/>
          </a:xfrm>
          <a:prstGeom prst="rect">
            <a:avLst/>
          </a:prstGeom>
        </p:spPr>
      </p:pic>
      <p:pic>
        <p:nvPicPr>
          <p:cNvPr id="8" name="Picture 7" descr="A wooden shelf on a table&#10;&#10;Description automatically generated with low confidence">
            <a:extLst>
              <a:ext uri="{FF2B5EF4-FFF2-40B4-BE49-F238E27FC236}">
                <a16:creationId xmlns:a16="http://schemas.microsoft.com/office/drawing/2014/main" id="{D4A54514-03E0-C832-FAB2-04C653F92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115896" y="848349"/>
            <a:ext cx="2949316" cy="2211987"/>
          </a:xfrm>
          <a:prstGeom prst="rect">
            <a:avLst/>
          </a:prstGeom>
        </p:spPr>
      </p:pic>
      <p:pic>
        <p:nvPicPr>
          <p:cNvPr id="10" name="Picture 9" descr="A picture containing wood, plywood, hardwood, indoor&#10;&#10;Description automatically generated">
            <a:extLst>
              <a:ext uri="{FF2B5EF4-FFF2-40B4-BE49-F238E27FC236}">
                <a16:creationId xmlns:a16="http://schemas.microsoft.com/office/drawing/2014/main" id="{69E9248E-5B41-02A4-1CCB-28155268A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125890" y="848350"/>
            <a:ext cx="2949316" cy="2211987"/>
          </a:xfrm>
          <a:prstGeom prst="rect">
            <a:avLst/>
          </a:prstGeom>
        </p:spPr>
      </p:pic>
      <p:pic>
        <p:nvPicPr>
          <p:cNvPr id="12" name="Picture 11" descr="A picture containing indoor, furniture, box, floor&#10;&#10;Description automatically generated">
            <a:extLst>
              <a:ext uri="{FF2B5EF4-FFF2-40B4-BE49-F238E27FC236}">
                <a16:creationId xmlns:a16="http://schemas.microsoft.com/office/drawing/2014/main" id="{D5B4209E-3224-AEA9-D6D0-307157CA6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621342" y="848349"/>
            <a:ext cx="2949314" cy="2211985"/>
          </a:xfrm>
          <a:prstGeom prst="rect">
            <a:avLst/>
          </a:prstGeom>
        </p:spPr>
      </p:pic>
      <p:pic>
        <p:nvPicPr>
          <p:cNvPr id="14" name="Picture 13" descr="A picture containing tool, indoor&#10;&#10;Description automatically generated">
            <a:extLst>
              <a:ext uri="{FF2B5EF4-FFF2-40B4-BE49-F238E27FC236}">
                <a16:creationId xmlns:a16="http://schemas.microsoft.com/office/drawing/2014/main" id="{6B3E8158-25C4-4BAE-A53D-94279FEF62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368665" y="848350"/>
            <a:ext cx="2949316" cy="2211987"/>
          </a:xfrm>
          <a:prstGeom prst="rect">
            <a:avLst/>
          </a:prstGeom>
        </p:spPr>
      </p:pic>
      <p:pic>
        <p:nvPicPr>
          <p:cNvPr id="16" name="Picture 15" descr="A picture containing footwear, floor, tool, indoor&#10;&#10;Description automatically generated">
            <a:extLst>
              <a:ext uri="{FF2B5EF4-FFF2-40B4-BE49-F238E27FC236}">
                <a16:creationId xmlns:a16="http://schemas.microsoft.com/office/drawing/2014/main" id="{0BE86253-9363-06EF-78D3-E35FA316CF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368664" y="4037505"/>
            <a:ext cx="2949315" cy="22119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3C31F0-4605-F8A2-8BF4-2E6FB7A151C4}"/>
              </a:ext>
            </a:extLst>
          </p:cNvPr>
          <p:cNvSpPr txBox="1"/>
          <p:nvPr/>
        </p:nvSpPr>
        <p:spPr>
          <a:xfrm>
            <a:off x="2211987" y="3428999"/>
            <a:ext cx="99800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Steps Involved:</a:t>
            </a:r>
          </a:p>
          <a:p>
            <a:r>
              <a:rPr lang="en-US" dirty="0">
                <a:solidFill>
                  <a:schemeClr val="bg1"/>
                </a:solidFill>
              </a:rPr>
              <a:t>1. Balsa Wood, Stanley knife, hot glue gun, and timber vinyl was purchased from Bunnings</a:t>
            </a:r>
          </a:p>
          <a:p>
            <a:r>
              <a:rPr lang="en-US" dirty="0">
                <a:solidFill>
                  <a:schemeClr val="bg1"/>
                </a:solidFill>
              </a:rPr>
              <a:t>2. The flooring was cut to size and joined together with hot glue</a:t>
            </a:r>
          </a:p>
          <a:p>
            <a:r>
              <a:rPr lang="en-US" dirty="0">
                <a:solidFill>
                  <a:schemeClr val="bg1"/>
                </a:solidFill>
              </a:rPr>
              <a:t>3. The frame was erected and cut to size. The wall and </a:t>
            </a:r>
            <a:r>
              <a:rPr lang="en-US" dirty="0" err="1">
                <a:solidFill>
                  <a:schemeClr val="bg1"/>
                </a:solidFill>
              </a:rPr>
              <a:t>lourves</a:t>
            </a:r>
            <a:r>
              <a:rPr lang="en-US" dirty="0">
                <a:solidFill>
                  <a:schemeClr val="bg1"/>
                </a:solidFill>
              </a:rPr>
              <a:t> where than created using the balsa wood.</a:t>
            </a:r>
          </a:p>
          <a:p>
            <a:r>
              <a:rPr lang="en-US" dirty="0">
                <a:solidFill>
                  <a:schemeClr val="bg1"/>
                </a:solidFill>
              </a:rPr>
              <a:t>4. The roofing was than created. I started off doing a pitched roof. Then I soaked a thin piece of balsa wood in water and manipulated it to curve. After leaving it to rest I screwed it on with my Mikita impact driver. The Vinyl was than placed over the top to hide the screws.</a:t>
            </a:r>
          </a:p>
          <a:p>
            <a:r>
              <a:rPr lang="en-US" dirty="0">
                <a:solidFill>
                  <a:schemeClr val="bg1"/>
                </a:solidFill>
              </a:rPr>
              <a:t>5. The decking steps and internal walls where completed.</a:t>
            </a:r>
          </a:p>
        </p:txBody>
      </p:sp>
    </p:spTree>
    <p:extLst>
      <p:ext uri="{BB962C8B-B14F-4D97-AF65-F5344CB8AC3E}">
        <p14:creationId xmlns:p14="http://schemas.microsoft.com/office/powerpoint/2010/main" val="162264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A82D8D-27E0-A45B-C12D-DABBBDA2E363}"/>
              </a:ext>
            </a:extLst>
          </p:cNvPr>
          <p:cNvSpPr txBox="1"/>
          <p:nvPr/>
        </p:nvSpPr>
        <p:spPr>
          <a:xfrm>
            <a:off x="87084" y="0"/>
            <a:ext cx="8991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Marie Short House - Final Model (Fergus Shaw)</a:t>
            </a:r>
          </a:p>
        </p:txBody>
      </p:sp>
      <p:pic>
        <p:nvPicPr>
          <p:cNvPr id="8" name="Picture 7" descr="A picture containing wood, plywood, wooden block, hardwood&#10;&#10;Description automatically generated">
            <a:extLst>
              <a:ext uri="{FF2B5EF4-FFF2-40B4-BE49-F238E27FC236}">
                <a16:creationId xmlns:a16="http://schemas.microsoft.com/office/drawing/2014/main" id="{6FB0CECF-679C-27CD-7A08-8FD3439DB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72169" y="3552825"/>
            <a:ext cx="3777343" cy="2833007"/>
          </a:xfrm>
          <a:prstGeom prst="rect">
            <a:avLst/>
          </a:prstGeom>
        </p:spPr>
      </p:pic>
      <p:pic>
        <p:nvPicPr>
          <p:cNvPr id="12" name="Picture 11" descr="A wooden dog house on carpet&#10;&#10;Description automatically generated with low confidence">
            <a:extLst>
              <a:ext uri="{FF2B5EF4-FFF2-40B4-BE49-F238E27FC236}">
                <a16:creationId xmlns:a16="http://schemas.microsoft.com/office/drawing/2014/main" id="{29D0B46D-B3A5-97CF-77C6-35EBF132FC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08" t="17513" r="42097" b="8515"/>
          <a:stretch/>
        </p:blipFill>
        <p:spPr>
          <a:xfrm rot="5400000">
            <a:off x="7874495" y="2793915"/>
            <a:ext cx="3377314" cy="4670080"/>
          </a:xfrm>
          <a:prstGeom prst="rect">
            <a:avLst/>
          </a:prstGeom>
        </p:spPr>
      </p:pic>
      <p:pic>
        <p:nvPicPr>
          <p:cNvPr id="14" name="Picture 13" descr="A picture containing ground, house, miniature, building&#10;&#10;Description automatically generated">
            <a:extLst>
              <a:ext uri="{FF2B5EF4-FFF2-40B4-BE49-F238E27FC236}">
                <a16:creationId xmlns:a16="http://schemas.microsoft.com/office/drawing/2014/main" id="{D8949CD7-A6B2-0D05-F1FE-688330D94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814" y="3417704"/>
            <a:ext cx="4433299" cy="3399907"/>
          </a:xfrm>
          <a:prstGeom prst="rect">
            <a:avLst/>
          </a:prstGeom>
        </p:spPr>
      </p:pic>
      <p:pic>
        <p:nvPicPr>
          <p:cNvPr id="16" name="Picture 15" descr="A wooden model of a house&#10;&#10;Description automatically generated with medium confidence">
            <a:extLst>
              <a:ext uri="{FF2B5EF4-FFF2-40B4-BE49-F238E27FC236}">
                <a16:creationId xmlns:a16="http://schemas.microsoft.com/office/drawing/2014/main" id="{0E38849E-440A-1A88-123D-6199226FB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840" y="558847"/>
            <a:ext cx="4050352" cy="2881450"/>
          </a:xfrm>
          <a:prstGeom prst="rect">
            <a:avLst/>
          </a:prstGeom>
        </p:spPr>
      </p:pic>
      <p:pic>
        <p:nvPicPr>
          <p:cNvPr id="18" name="Picture 17" descr="A model of a house&#10;&#10;Description automatically generated with low confidence">
            <a:extLst>
              <a:ext uri="{FF2B5EF4-FFF2-40B4-BE49-F238E27FC236}">
                <a16:creationId xmlns:a16="http://schemas.microsoft.com/office/drawing/2014/main" id="{AA77AD75-1561-32DC-6BD6-B97917136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019" y="584775"/>
            <a:ext cx="3837487" cy="2878116"/>
          </a:xfrm>
          <a:prstGeom prst="rect">
            <a:avLst/>
          </a:prstGeom>
        </p:spPr>
      </p:pic>
      <p:pic>
        <p:nvPicPr>
          <p:cNvPr id="20" name="Picture 19" descr="A picture containing building, floor, property, indoor&#10;&#10;Description automatically generated">
            <a:extLst>
              <a:ext uri="{FF2B5EF4-FFF2-40B4-BE49-F238E27FC236}">
                <a16:creationId xmlns:a16="http://schemas.microsoft.com/office/drawing/2014/main" id="{73D00473-9B00-BC3D-D887-178528722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79339"/>
            <a:ext cx="4180590" cy="287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59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del of a house on grass&#10;&#10;Description automatically generated with medium confidence">
            <a:extLst>
              <a:ext uri="{FF2B5EF4-FFF2-40B4-BE49-F238E27FC236}">
                <a16:creationId xmlns:a16="http://schemas.microsoft.com/office/drawing/2014/main" id="{2F6D2240-BB50-7E9D-8725-515ACDAD4E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1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33A9D9-78D1-AEC0-2319-9B419CA6C457}"/>
              </a:ext>
            </a:extLst>
          </p:cNvPr>
          <p:cNvSpPr txBox="1"/>
          <p:nvPr/>
        </p:nvSpPr>
        <p:spPr>
          <a:xfrm>
            <a:off x="2438400" y="391885"/>
            <a:ext cx="66817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Walsh House Kangaroo valley NSW</a:t>
            </a:r>
          </a:p>
          <a:p>
            <a:r>
              <a:rPr lang="en-GB" sz="2400" dirty="0">
                <a:solidFill>
                  <a:schemeClr val="bg1"/>
                </a:solidFill>
              </a:rPr>
              <a:t>                     Designed by Glenn </a:t>
            </a:r>
            <a:r>
              <a:rPr lang="en-GB" sz="2400" dirty="0" err="1">
                <a:solidFill>
                  <a:schemeClr val="bg1"/>
                </a:solidFill>
              </a:rPr>
              <a:t>Murcutt</a:t>
            </a:r>
            <a:endParaRPr lang="en-A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33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del of a building on grass&#10;&#10;Description automatically generated with medium confidence">
            <a:extLst>
              <a:ext uri="{FF2B5EF4-FFF2-40B4-BE49-F238E27FC236}">
                <a16:creationId xmlns:a16="http://schemas.microsoft.com/office/drawing/2014/main" id="{315C02E8-68C0-7C9D-8BAF-CC4483F7E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1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ss, outdoor, plant, lawn&#10;&#10;Description automatically generated">
            <a:extLst>
              <a:ext uri="{FF2B5EF4-FFF2-40B4-BE49-F238E27FC236}">
                <a16:creationId xmlns:a16="http://schemas.microsoft.com/office/drawing/2014/main" id="{F8E61912-FD24-728B-234C-7A1CC7DF52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7" t="31542"/>
          <a:stretch/>
        </p:blipFill>
        <p:spPr>
          <a:xfrm rot="5400000">
            <a:off x="2238063" y="2050685"/>
            <a:ext cx="6093502" cy="352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7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lant, grass, outdoor&#10;&#10;Description automatically generated">
            <a:extLst>
              <a:ext uri="{FF2B5EF4-FFF2-40B4-BE49-F238E27FC236}">
                <a16:creationId xmlns:a16="http://schemas.microsoft.com/office/drawing/2014/main" id="{50B6EDC2-E8AC-B78A-C60B-6ADAB9AA3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3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del of a building on grass&#10;&#10;Description automatically generated with low confidence">
            <a:extLst>
              <a:ext uri="{FF2B5EF4-FFF2-40B4-BE49-F238E27FC236}">
                <a16:creationId xmlns:a16="http://schemas.microsoft.com/office/drawing/2014/main" id="{B74DE994-8A93-1877-C113-07D9A9018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60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del of a house with grass&#10;&#10;Description automatically generated with low confidence">
            <a:extLst>
              <a:ext uri="{FF2B5EF4-FFF2-40B4-BE49-F238E27FC236}">
                <a16:creationId xmlns:a16="http://schemas.microsoft.com/office/drawing/2014/main" id="{3B8D4D73-B47A-DF6C-87ED-6968C1E12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63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C1C60-F8AA-7626-545A-E92026539EED}"/>
              </a:ext>
            </a:extLst>
          </p:cNvPr>
          <p:cNvSpPr txBox="1"/>
          <p:nvPr/>
        </p:nvSpPr>
        <p:spPr>
          <a:xfrm>
            <a:off x="0" y="49458"/>
            <a:ext cx="11009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Marina-Alderton House - Process Model (</a:t>
            </a:r>
            <a:r>
              <a:rPr lang="en-US" sz="3200" b="1" dirty="0" err="1">
                <a:solidFill>
                  <a:schemeClr val="bg1"/>
                </a:solidFill>
              </a:rPr>
              <a:t>Palwasha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Saqib</a:t>
            </a:r>
            <a:r>
              <a:rPr lang="en-US" sz="32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3C31F0-4605-F8A2-8BF4-2E6FB7A151C4}"/>
              </a:ext>
            </a:extLst>
          </p:cNvPr>
          <p:cNvSpPr txBox="1"/>
          <p:nvPr/>
        </p:nvSpPr>
        <p:spPr>
          <a:xfrm>
            <a:off x="5116945" y="3915696"/>
            <a:ext cx="7195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Steps Involved: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Cardboard box, Stanley knife, heavy duty glue, aluminum foil, tooth picks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All the windows and sections are cut separately and joined</a:t>
            </a:r>
          </a:p>
          <a:p>
            <a:r>
              <a:rPr lang="en-US" dirty="0">
                <a:solidFill>
                  <a:schemeClr val="bg1"/>
                </a:solidFill>
              </a:rPr>
              <a:t>3.  The truss is made by separating layers of cardboard.</a:t>
            </a:r>
          </a:p>
          <a:p>
            <a:pPr marL="342900" indent="-342900">
              <a:buAutoNum type="arabicPeriod" startAt="4"/>
            </a:pPr>
            <a:r>
              <a:rPr lang="en-US" dirty="0">
                <a:solidFill>
                  <a:schemeClr val="bg1"/>
                </a:solidFill>
              </a:rPr>
              <a:t>Chimneys and solar panels made from aluminum foil</a:t>
            </a:r>
          </a:p>
          <a:p>
            <a:pPr marL="342900" indent="-342900">
              <a:buAutoNum type="arabicPeriod" startAt="4"/>
            </a:pPr>
            <a:r>
              <a:rPr lang="en-US" dirty="0">
                <a:solidFill>
                  <a:schemeClr val="bg1"/>
                </a:solidFill>
              </a:rPr>
              <a:t>The façade is spray painted to give actual color of the house</a:t>
            </a:r>
          </a:p>
          <a:p>
            <a:pPr marL="342900" indent="-342900">
              <a:buAutoNum type="arabicPeriod" startAt="4"/>
            </a:pPr>
            <a:r>
              <a:rPr lang="en-US" dirty="0">
                <a:solidFill>
                  <a:schemeClr val="bg1"/>
                </a:solidFill>
              </a:rPr>
              <a:t>Studs made from cardboard as well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848624" y="962796"/>
            <a:ext cx="2850188" cy="21376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71931" y="4031304"/>
            <a:ext cx="2899447" cy="21745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84072" y="950720"/>
            <a:ext cx="2798793" cy="20990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32596" y="955693"/>
            <a:ext cx="2869128" cy="215184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61058" y="936334"/>
            <a:ext cx="2812471" cy="210935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436" y="3668873"/>
            <a:ext cx="2101477" cy="280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6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A82D8D-27E0-A45B-C12D-DABBBDA2E363}"/>
              </a:ext>
            </a:extLst>
          </p:cNvPr>
          <p:cNvSpPr txBox="1"/>
          <p:nvPr/>
        </p:nvSpPr>
        <p:spPr>
          <a:xfrm>
            <a:off x="87084" y="0"/>
            <a:ext cx="11199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Marina – Alderton House - Final Model (</a:t>
            </a:r>
            <a:r>
              <a:rPr lang="en-US" sz="3200" b="1" dirty="0" err="1">
                <a:solidFill>
                  <a:schemeClr val="bg1"/>
                </a:solidFill>
              </a:rPr>
              <a:t>Palwasha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  <a:r>
              <a:rPr lang="en-US" sz="3200" b="1" dirty="0" err="1">
                <a:solidFill>
                  <a:schemeClr val="bg1"/>
                </a:solidFill>
              </a:rPr>
              <a:t>Saqib</a:t>
            </a:r>
            <a:r>
              <a:rPr lang="en-US" sz="3200" b="1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0" b="15862"/>
          <a:stretch/>
        </p:blipFill>
        <p:spPr>
          <a:xfrm>
            <a:off x="7865359" y="676423"/>
            <a:ext cx="3299205" cy="33066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114" y="631797"/>
            <a:ext cx="2660945" cy="35479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4" y="4232606"/>
            <a:ext cx="3558582" cy="26689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059" y="3998438"/>
            <a:ext cx="4432819" cy="332461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382" y="4326277"/>
            <a:ext cx="3308795" cy="24815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709712"/>
            <a:ext cx="4655504" cy="349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88675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DarkSeedLeftStep">
      <a:dk1>
        <a:srgbClr val="000000"/>
      </a:dk1>
      <a:lt1>
        <a:srgbClr val="FFFFFF"/>
      </a:lt1>
      <a:dk2>
        <a:srgbClr val="412E24"/>
      </a:dk2>
      <a:lt2>
        <a:srgbClr val="E8E2E8"/>
      </a:lt2>
      <a:accent1>
        <a:srgbClr val="47B547"/>
      </a:accent1>
      <a:accent2>
        <a:srgbClr val="6CB13B"/>
      </a:accent2>
      <a:accent3>
        <a:srgbClr val="98A942"/>
      </a:accent3>
      <a:accent4>
        <a:srgbClr val="B1933B"/>
      </a:accent4>
      <a:accent5>
        <a:srgbClr val="C3744D"/>
      </a:accent5>
      <a:accent6>
        <a:srgbClr val="B13B45"/>
      </a:accent6>
      <a:hlink>
        <a:srgbClr val="AF743A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272</Words>
  <Application>Microsoft Macintosh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Franklin Gothic Demi Cond</vt:lpstr>
      <vt:lpstr>Franklin Gothic Medium</vt:lpstr>
      <vt:lpstr>Wingdings</vt:lpstr>
      <vt:lpstr>JuxtaposeVTI</vt:lpstr>
      <vt:lpstr>Model making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making process</dc:title>
  <dc:creator>Fergus Shaw</dc:creator>
  <cp:lastModifiedBy>Fergus Shaw</cp:lastModifiedBy>
  <cp:revision>7</cp:revision>
  <dcterms:created xsi:type="dcterms:W3CDTF">2023-06-20T12:24:55Z</dcterms:created>
  <dcterms:modified xsi:type="dcterms:W3CDTF">2023-06-21T00:50:09Z</dcterms:modified>
</cp:coreProperties>
</file>