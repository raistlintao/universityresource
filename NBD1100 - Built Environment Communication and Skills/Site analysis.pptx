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03" r:id="rId5"/>
    <p:sldId id="304" r:id="rId6"/>
    <p:sldId id="306" r:id="rId7"/>
    <p:sldId id="307" r:id="rId8"/>
    <p:sldId id="305" r:id="rId9"/>
    <p:sldId id="308" r:id="rId10"/>
    <p:sldId id="311" r:id="rId11"/>
    <p:sldId id="309" r:id="rId12"/>
    <p:sldId id="310" r:id="rId13"/>
    <p:sldId id="312" r:id="rId14"/>
    <p:sldId id="316" r:id="rId15"/>
    <p:sldId id="317" r:id="rId16"/>
    <p:sldId id="314" r:id="rId17"/>
    <p:sldId id="313" r:id="rId18"/>
    <p:sldId id="321" r:id="rId19"/>
    <p:sldId id="318" r:id="rId20"/>
    <p:sldId id="319" r:id="rId21"/>
    <p:sldId id="320" r:id="rId22"/>
  </p:sldIdLst>
  <p:sldSz cx="9144000" cy="6858000" type="screen4x3"/>
  <p:notesSz cx="7315200" cy="96012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  <a:srgbClr val="F48C02"/>
    <a:srgbClr val="00B050"/>
    <a:srgbClr val="4F81BD"/>
    <a:srgbClr val="000000"/>
    <a:srgbClr val="E8F3F8"/>
    <a:srgbClr val="E8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4" autoAdjust="0"/>
    <p:restoredTop sz="51953" autoAdjust="0"/>
  </p:normalViewPr>
  <p:slideViewPr>
    <p:cSldViewPr>
      <p:cViewPr varScale="1">
        <p:scale>
          <a:sx n="55" d="100"/>
          <a:sy n="55" d="100"/>
        </p:scale>
        <p:origin x="329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1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gbi Li" userId="0bfc1f20-ad18-41c1-94ba-2ea48e570b5e" providerId="ADAL" clId="{A590CCFD-8483-44AE-A7F6-21223A787F80}"/>
    <pc:docChg chg="custSel modSld">
      <pc:chgData name="Mengbi Li" userId="0bfc1f20-ad18-41c1-94ba-2ea48e570b5e" providerId="ADAL" clId="{A590CCFD-8483-44AE-A7F6-21223A787F80}" dt="2022-06-30T21:54:43.068" v="21" actId="368"/>
      <pc:docMkLst>
        <pc:docMk/>
      </pc:docMkLst>
      <pc:sldChg chg="modNotes">
        <pc:chgData name="Mengbi Li" userId="0bfc1f20-ad18-41c1-94ba-2ea48e570b5e" providerId="ADAL" clId="{A590CCFD-8483-44AE-A7F6-21223A787F80}" dt="2022-06-30T21:54:43.035" v="1" actId="368"/>
        <pc:sldMkLst>
          <pc:docMk/>
          <pc:sldMk cId="3216140216" sldId="306"/>
        </pc:sldMkLst>
      </pc:sldChg>
      <pc:sldChg chg="modNotes">
        <pc:chgData name="Mengbi Li" userId="0bfc1f20-ad18-41c1-94ba-2ea48e570b5e" providerId="ADAL" clId="{A590CCFD-8483-44AE-A7F6-21223A787F80}" dt="2022-06-30T21:54:43.038" v="3" actId="368"/>
        <pc:sldMkLst>
          <pc:docMk/>
          <pc:sldMk cId="2288889524" sldId="307"/>
        </pc:sldMkLst>
      </pc:sldChg>
      <pc:sldChg chg="modNotes">
        <pc:chgData name="Mengbi Li" userId="0bfc1f20-ad18-41c1-94ba-2ea48e570b5e" providerId="ADAL" clId="{A590CCFD-8483-44AE-A7F6-21223A787F80}" dt="2022-06-30T21:54:43.043" v="5" actId="368"/>
        <pc:sldMkLst>
          <pc:docMk/>
          <pc:sldMk cId="949908924" sldId="308"/>
        </pc:sldMkLst>
      </pc:sldChg>
      <pc:sldChg chg="modNotes">
        <pc:chgData name="Mengbi Li" userId="0bfc1f20-ad18-41c1-94ba-2ea48e570b5e" providerId="ADAL" clId="{A590CCFD-8483-44AE-A7F6-21223A787F80}" dt="2022-06-30T21:54:43.049" v="9" actId="368"/>
        <pc:sldMkLst>
          <pc:docMk/>
          <pc:sldMk cId="3081898201" sldId="309"/>
        </pc:sldMkLst>
      </pc:sldChg>
      <pc:sldChg chg="modNotes">
        <pc:chgData name="Mengbi Li" userId="0bfc1f20-ad18-41c1-94ba-2ea48e570b5e" providerId="ADAL" clId="{A590CCFD-8483-44AE-A7F6-21223A787F80}" dt="2022-06-30T21:54:43.052" v="11" actId="368"/>
        <pc:sldMkLst>
          <pc:docMk/>
          <pc:sldMk cId="1562581598" sldId="310"/>
        </pc:sldMkLst>
      </pc:sldChg>
      <pc:sldChg chg="modNotes">
        <pc:chgData name="Mengbi Li" userId="0bfc1f20-ad18-41c1-94ba-2ea48e570b5e" providerId="ADAL" clId="{A590CCFD-8483-44AE-A7F6-21223A787F80}" dt="2022-06-30T21:54:43.046" v="7" actId="368"/>
        <pc:sldMkLst>
          <pc:docMk/>
          <pc:sldMk cId="1449767313" sldId="311"/>
        </pc:sldMkLst>
      </pc:sldChg>
      <pc:sldChg chg="modNotes">
        <pc:chgData name="Mengbi Li" userId="0bfc1f20-ad18-41c1-94ba-2ea48e570b5e" providerId="ADAL" clId="{A590CCFD-8483-44AE-A7F6-21223A787F80}" dt="2022-06-30T21:54:43.055" v="13" actId="368"/>
        <pc:sldMkLst>
          <pc:docMk/>
          <pc:sldMk cId="3729540099" sldId="312"/>
        </pc:sldMkLst>
      </pc:sldChg>
      <pc:sldChg chg="modNotes">
        <pc:chgData name="Mengbi Li" userId="0bfc1f20-ad18-41c1-94ba-2ea48e570b5e" providerId="ADAL" clId="{A590CCFD-8483-44AE-A7F6-21223A787F80}" dt="2022-06-30T21:54:43.068" v="21" actId="368"/>
        <pc:sldMkLst>
          <pc:docMk/>
          <pc:sldMk cId="1616018198" sldId="313"/>
        </pc:sldMkLst>
      </pc:sldChg>
      <pc:sldChg chg="modNotes">
        <pc:chgData name="Mengbi Li" userId="0bfc1f20-ad18-41c1-94ba-2ea48e570b5e" providerId="ADAL" clId="{A590CCFD-8483-44AE-A7F6-21223A787F80}" dt="2022-06-30T21:54:43.065" v="19" actId="368"/>
        <pc:sldMkLst>
          <pc:docMk/>
          <pc:sldMk cId="157652841" sldId="314"/>
        </pc:sldMkLst>
      </pc:sldChg>
      <pc:sldChg chg="modNotes">
        <pc:chgData name="Mengbi Li" userId="0bfc1f20-ad18-41c1-94ba-2ea48e570b5e" providerId="ADAL" clId="{A590CCFD-8483-44AE-A7F6-21223A787F80}" dt="2022-06-30T21:54:43.058" v="15" actId="368"/>
        <pc:sldMkLst>
          <pc:docMk/>
          <pc:sldMk cId="3661759310" sldId="316"/>
        </pc:sldMkLst>
      </pc:sldChg>
      <pc:sldChg chg="modNotes">
        <pc:chgData name="Mengbi Li" userId="0bfc1f20-ad18-41c1-94ba-2ea48e570b5e" providerId="ADAL" clId="{A590CCFD-8483-44AE-A7F6-21223A787F80}" dt="2022-06-30T21:54:43.062" v="17" actId="368"/>
        <pc:sldMkLst>
          <pc:docMk/>
          <pc:sldMk cId="2647743820" sldId="31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EA10E19-9C9B-495D-9B5B-722936A77A2B}" type="datetimeFigureOut">
              <a:rPr lang="en-AU" smtClean="0"/>
              <a:t>1/07/2022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4D32AA5-84DC-4400-83E0-1F9AA0AC4B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3255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1935D9C-CD9B-45FF-86A0-67AEC7609315}" type="datetimeFigureOut">
              <a:rPr lang="en-AU" smtClean="0"/>
              <a:t>1/07/2022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F153B75-6F41-4812-AF78-2731A99DC2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351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7839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984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5991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749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4464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9710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515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8544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2778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5762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5762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537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01/07/2022</a:t>
            </a:fld>
            <a:endParaRPr lang="en-GB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09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63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78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01/07/2022</a:t>
            </a:fld>
            <a:endParaRPr lang="en-GB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01/07/2022</a:t>
            </a:fld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95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53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24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40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878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17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01/07/2022</a:t>
            </a:fld>
            <a:endParaRPr lang="en-GB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936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01/07/2022</a:t>
            </a:fld>
            <a:endParaRPr lang="en-GB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803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30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1BBFFC7-5AFF-4374-B478-E246B74FFF8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2A403D9-1EF9-4D83-8F99-27C64A2CC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38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1BBFFC7-5AFF-4374-B478-E246B74FFF8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2A403D9-1EF9-4D83-8F99-27C64A2CC1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427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am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icture Placeholder 7"/>
          <p:cNvSpPr>
            <a:spLocks noGrp="1"/>
          </p:cNvSpPr>
          <p:nvPr>
            <p:ph type="pic" sz="quarter" idx="53" hasCustomPrompt="1"/>
          </p:nvPr>
        </p:nvSpPr>
        <p:spPr>
          <a:xfrm>
            <a:off x="705637" y="2026581"/>
            <a:ext cx="1693164" cy="2257552"/>
          </a:xfrm>
          <a:prstGeom prst="ellipse">
            <a:avLst/>
          </a:prstGeom>
          <a:ln w="762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1" name="Text Placeholder 3"/>
          <p:cNvSpPr>
            <a:spLocks noGrp="1"/>
          </p:cNvSpPr>
          <p:nvPr>
            <p:ph type="body" sz="half" idx="37"/>
          </p:nvPr>
        </p:nvSpPr>
        <p:spPr>
          <a:xfrm>
            <a:off x="752119" y="4893524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50"/>
          </p:nvPr>
        </p:nvSpPr>
        <p:spPr>
          <a:xfrm>
            <a:off x="637819" y="5199369"/>
            <a:ext cx="1828800" cy="1146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 rtl="0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algn="ctr"/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51"/>
          </p:nvPr>
        </p:nvSpPr>
        <p:spPr>
          <a:xfrm>
            <a:off x="752119" y="4591520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0">
              <a:buNone/>
              <a:defRPr sz="1400" b="1" baseline="0">
                <a:solidFill>
                  <a:schemeClr val="accent1"/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54" hasCustomPrompt="1"/>
          </p:nvPr>
        </p:nvSpPr>
        <p:spPr>
          <a:xfrm>
            <a:off x="2716273" y="2026581"/>
            <a:ext cx="1693164" cy="2257552"/>
          </a:xfrm>
          <a:prstGeom prst="ellipse">
            <a:avLst/>
          </a:prstGeom>
          <a:ln w="762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5" name="Text Placeholder 3"/>
          <p:cNvSpPr>
            <a:spLocks noGrp="1"/>
          </p:cNvSpPr>
          <p:nvPr>
            <p:ph type="body" sz="half" idx="55"/>
          </p:nvPr>
        </p:nvSpPr>
        <p:spPr>
          <a:xfrm>
            <a:off x="2762755" y="4893524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56"/>
          </p:nvPr>
        </p:nvSpPr>
        <p:spPr>
          <a:xfrm>
            <a:off x="2648455" y="5199369"/>
            <a:ext cx="1828800" cy="1146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 rtl="0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algn="ctr"/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Text Placeholder 3"/>
          <p:cNvSpPr>
            <a:spLocks noGrp="1"/>
          </p:cNvSpPr>
          <p:nvPr>
            <p:ph type="body" sz="half" idx="57"/>
          </p:nvPr>
        </p:nvSpPr>
        <p:spPr>
          <a:xfrm>
            <a:off x="2762755" y="4591520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0">
              <a:buNone/>
              <a:defRPr sz="1400" b="1" baseline="0">
                <a:solidFill>
                  <a:schemeClr val="accent2"/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38" name="Picture Placeholder 7"/>
          <p:cNvSpPr>
            <a:spLocks noGrp="1"/>
          </p:cNvSpPr>
          <p:nvPr>
            <p:ph type="pic" sz="quarter" idx="58" hasCustomPrompt="1"/>
          </p:nvPr>
        </p:nvSpPr>
        <p:spPr>
          <a:xfrm>
            <a:off x="4726909" y="2026581"/>
            <a:ext cx="1693164" cy="2257552"/>
          </a:xfrm>
          <a:prstGeom prst="ellipse">
            <a:avLst/>
          </a:prstGeom>
          <a:ln w="762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9" name="Text Placeholder 3"/>
          <p:cNvSpPr>
            <a:spLocks noGrp="1"/>
          </p:cNvSpPr>
          <p:nvPr>
            <p:ph type="body" sz="half" idx="59"/>
          </p:nvPr>
        </p:nvSpPr>
        <p:spPr>
          <a:xfrm>
            <a:off x="4773391" y="4893524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40" name="Text Placeholder 3"/>
          <p:cNvSpPr>
            <a:spLocks noGrp="1"/>
          </p:cNvSpPr>
          <p:nvPr>
            <p:ph type="body" sz="half" idx="60"/>
          </p:nvPr>
        </p:nvSpPr>
        <p:spPr>
          <a:xfrm>
            <a:off x="4659091" y="5199369"/>
            <a:ext cx="1828800" cy="1146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 rtl="0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algn="ctr"/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Text Placeholder 3"/>
          <p:cNvSpPr>
            <a:spLocks noGrp="1"/>
          </p:cNvSpPr>
          <p:nvPr>
            <p:ph type="body" sz="half" idx="61"/>
          </p:nvPr>
        </p:nvSpPr>
        <p:spPr>
          <a:xfrm>
            <a:off x="4773391" y="4591520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0">
              <a:buNone/>
              <a:defRPr sz="1400" b="1" baseline="0">
                <a:solidFill>
                  <a:schemeClr val="accent3"/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62" hasCustomPrompt="1"/>
          </p:nvPr>
        </p:nvSpPr>
        <p:spPr>
          <a:xfrm>
            <a:off x="6737546" y="2026581"/>
            <a:ext cx="1693164" cy="2257552"/>
          </a:xfrm>
          <a:prstGeom prst="ellipse">
            <a:avLst/>
          </a:prstGeom>
          <a:ln w="762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63"/>
          </p:nvPr>
        </p:nvSpPr>
        <p:spPr>
          <a:xfrm>
            <a:off x="6784028" y="4893524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44" name="Text Placeholder 3"/>
          <p:cNvSpPr>
            <a:spLocks noGrp="1"/>
          </p:cNvSpPr>
          <p:nvPr>
            <p:ph type="body" sz="half" idx="64"/>
          </p:nvPr>
        </p:nvSpPr>
        <p:spPr>
          <a:xfrm>
            <a:off x="6669728" y="5199369"/>
            <a:ext cx="1828800" cy="1146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 rtl="0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algn="ctr"/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65"/>
          </p:nvPr>
        </p:nvSpPr>
        <p:spPr>
          <a:xfrm>
            <a:off x="6784028" y="4591520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0">
              <a:buNone/>
              <a:defRPr sz="1400" b="1" baseline="0">
                <a:solidFill>
                  <a:schemeClr val="accent4"/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92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31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animBg="1"/>
      <p:bldP spid="39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787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 Lay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048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eam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auto">
          <a:xfrm>
            <a:off x="4175" y="950558"/>
            <a:ext cx="9155430" cy="5569381"/>
          </a:xfrm>
          <a:prstGeom prst="rect">
            <a:avLst/>
          </a:prstGeom>
          <a:solidFill>
            <a:srgbClr val="2F5698">
              <a:alpha val="75000"/>
            </a:srgbClr>
          </a:solidFill>
          <a:ln w="6350">
            <a:noFill/>
            <a:round/>
            <a:headEnd/>
            <a:tailEnd/>
          </a:ln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7" name="Text Placeholder 3"/>
          <p:cNvSpPr>
            <a:spLocks noGrp="1"/>
          </p:cNvSpPr>
          <p:nvPr userDrawn="1">
            <p:ph type="body" sz="half" idx="51"/>
          </p:nvPr>
        </p:nvSpPr>
        <p:spPr>
          <a:xfrm>
            <a:off x="923925" y="1905653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0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118" name="Text Placeholder 3"/>
          <p:cNvSpPr>
            <a:spLocks noGrp="1"/>
          </p:cNvSpPr>
          <p:nvPr userDrawn="1">
            <p:ph type="body" sz="half" idx="57"/>
          </p:nvPr>
        </p:nvSpPr>
        <p:spPr>
          <a:xfrm>
            <a:off x="6610350" y="1905653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 rtl="0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122" name="Picture Placeholder 7"/>
          <p:cNvSpPr>
            <a:spLocks noGrp="1"/>
          </p:cNvSpPr>
          <p:nvPr>
            <p:ph type="pic" sz="quarter" idx="53" hasCustomPrompt="1"/>
          </p:nvPr>
        </p:nvSpPr>
        <p:spPr>
          <a:xfrm>
            <a:off x="2797918" y="1648944"/>
            <a:ext cx="1693164" cy="2257552"/>
          </a:xfrm>
          <a:prstGeom prst="ellipse">
            <a:avLst/>
          </a:prstGeom>
          <a:ln w="57150"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23" name="Picture Placeholder 7"/>
          <p:cNvSpPr>
            <a:spLocks noGrp="1"/>
          </p:cNvSpPr>
          <p:nvPr>
            <p:ph type="pic" sz="quarter" idx="58" hasCustomPrompt="1"/>
          </p:nvPr>
        </p:nvSpPr>
        <p:spPr>
          <a:xfrm>
            <a:off x="4652918" y="1648944"/>
            <a:ext cx="1693164" cy="2257552"/>
          </a:xfrm>
          <a:prstGeom prst="ellipse">
            <a:avLst/>
          </a:prstGeom>
          <a:ln w="57150"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98" name="Text Placeholder 3"/>
          <p:cNvSpPr>
            <a:spLocks noGrp="1"/>
          </p:cNvSpPr>
          <p:nvPr>
            <p:ph type="body" sz="half" idx="59"/>
          </p:nvPr>
        </p:nvSpPr>
        <p:spPr>
          <a:xfrm>
            <a:off x="923925" y="4384863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0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199" name="Text Placeholder 3"/>
          <p:cNvSpPr>
            <a:spLocks noGrp="1"/>
          </p:cNvSpPr>
          <p:nvPr>
            <p:ph type="body" sz="half" idx="60"/>
          </p:nvPr>
        </p:nvSpPr>
        <p:spPr>
          <a:xfrm>
            <a:off x="6610350" y="4384863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 rtl="0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200" name="Picture Placeholder 7"/>
          <p:cNvSpPr>
            <a:spLocks noGrp="1"/>
          </p:cNvSpPr>
          <p:nvPr>
            <p:ph type="pic" sz="quarter" idx="61" hasCustomPrompt="1"/>
          </p:nvPr>
        </p:nvSpPr>
        <p:spPr>
          <a:xfrm>
            <a:off x="2797918" y="4128153"/>
            <a:ext cx="1693164" cy="2257552"/>
          </a:xfrm>
          <a:prstGeom prst="ellipse">
            <a:avLst/>
          </a:prstGeom>
          <a:ln w="57150"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01" name="Picture Placeholder 7"/>
          <p:cNvSpPr>
            <a:spLocks noGrp="1"/>
          </p:cNvSpPr>
          <p:nvPr>
            <p:ph type="pic" sz="quarter" idx="62" hasCustomPrompt="1"/>
          </p:nvPr>
        </p:nvSpPr>
        <p:spPr>
          <a:xfrm>
            <a:off x="4652918" y="4128153"/>
            <a:ext cx="1693164" cy="2257552"/>
          </a:xfrm>
          <a:prstGeom prst="ellipse">
            <a:avLst/>
          </a:prstGeom>
          <a:ln w="57150"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86828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22" grpId="0" animBg="1"/>
      <p:bldP spid="123" grpId="0" animBg="1"/>
      <p:bldP spid="200" grpId="0" animBg="1"/>
      <p:bldP spid="201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102112" y="6286016"/>
            <a:ext cx="413239" cy="365125"/>
          </a:xfrm>
          <a:prstGeom prst="rect">
            <a:avLst/>
          </a:prstGeom>
        </p:spPr>
        <p:txBody>
          <a:bodyPr/>
          <a:lstStyle/>
          <a:p>
            <a:fld id="{C73A5C34-6B76-4AF1-BC39-A0EE85CE817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Рисунок 3"/>
          <p:cNvSpPr>
            <a:spLocks noGrp="1"/>
          </p:cNvSpPr>
          <p:nvPr>
            <p:ph type="pic" sz="quarter" idx="16"/>
          </p:nvPr>
        </p:nvSpPr>
        <p:spPr>
          <a:xfrm>
            <a:off x="6659165" y="1721785"/>
            <a:ext cx="1856184" cy="24733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3"/>
          </p:nvPr>
        </p:nvSpPr>
        <p:spPr>
          <a:xfrm>
            <a:off x="715566" y="1721786"/>
            <a:ext cx="1856184" cy="24733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4"/>
          </p:nvPr>
        </p:nvSpPr>
        <p:spPr>
          <a:xfrm>
            <a:off x="2696767" y="1721785"/>
            <a:ext cx="1856184" cy="24733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Рисунок 3"/>
          <p:cNvSpPr>
            <a:spLocks noGrp="1"/>
          </p:cNvSpPr>
          <p:nvPr>
            <p:ph type="pic" sz="quarter" idx="15"/>
          </p:nvPr>
        </p:nvSpPr>
        <p:spPr>
          <a:xfrm>
            <a:off x="4677967" y="1721786"/>
            <a:ext cx="1856184" cy="24733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882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097281" y="1758206"/>
            <a:ext cx="2437794" cy="42701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5608927" y="1758206"/>
            <a:ext cx="2437794" cy="42701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 rtl="0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3258582" y="1438847"/>
            <a:ext cx="2735941" cy="49089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 rtl="0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insert your image here !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5486343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54060" y="1680135"/>
            <a:ext cx="1887010" cy="4390199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insert your image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920510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74536" y="1488611"/>
            <a:ext cx="1354706" cy="1805853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b"/>
          <a:lstStyle>
            <a:lvl1pPr algn="ctr">
              <a:buNone/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1917859" y="1488611"/>
            <a:ext cx="1354706" cy="1805853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b"/>
          <a:lstStyle>
            <a:lvl1pPr algn="ctr">
              <a:buNone/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3461182" y="1488611"/>
            <a:ext cx="1354706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b"/>
          <a:lstStyle>
            <a:lvl1pPr algn="ctr">
              <a:buNone/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006193" y="1488611"/>
            <a:ext cx="1354706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b"/>
          <a:lstStyle>
            <a:lvl1pPr algn="ctr">
              <a:buNone/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373726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auto">
          <a:xfrm>
            <a:off x="0" y="1223493"/>
            <a:ext cx="9144000" cy="5634507"/>
          </a:xfrm>
          <a:prstGeom prst="rect">
            <a:avLst/>
          </a:prstGeom>
          <a:solidFill>
            <a:srgbClr val="2F5698">
              <a:alpha val="75000"/>
            </a:srgbClr>
          </a:solidFill>
          <a:ln w="6350">
            <a:noFill/>
            <a:round/>
            <a:headEnd/>
            <a:tailEnd/>
          </a:ln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622167" y="1420306"/>
            <a:ext cx="7899668" cy="3293099"/>
          </a:xfrm>
          <a:prstGeom prst="rect">
            <a:avLst/>
          </a:prstGeom>
          <a:ln w="76200" cap="sq">
            <a:solidFill>
              <a:schemeClr val="bg1">
                <a:lumMod val="85000"/>
              </a:schemeClr>
            </a:solidFill>
            <a:miter lim="800000"/>
          </a:ln>
          <a:effectLst/>
          <a:scene3d>
            <a:camera prst="orthographicFront"/>
            <a:lightRig rig="threePt" dir="t"/>
          </a:scene3d>
          <a:sp3d extrusionH="171450">
            <a:extrusionClr>
              <a:schemeClr val="tx1">
                <a:lumMod val="65000"/>
                <a:lumOff val="35000"/>
              </a:schemeClr>
            </a:extrusionClr>
          </a:sp3d>
        </p:spPr>
        <p:txBody>
          <a:bodyPr bIns="7315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1579136" y="3494984"/>
            <a:ext cx="1755594" cy="2344787"/>
          </a:xfrm>
          <a:prstGeom prst="ellipse">
            <a:avLst/>
          </a:prstGeom>
          <a:ln w="76200" cap="sq">
            <a:solidFill>
              <a:schemeClr val="bg1">
                <a:lumMod val="85000"/>
              </a:schemeClr>
            </a:solidFill>
            <a:miter lim="800000"/>
          </a:ln>
          <a:effectLst>
            <a:innerShdw blurRad="114300">
              <a:schemeClr val="bg1"/>
            </a:inn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 extrusionH="165100"/>
        </p:spPr>
        <p:txBody>
          <a:bodyPr wrap="none" bIns="274320" anchor="b"/>
          <a:lstStyle>
            <a:lvl1pPr algn="ctr" rtl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3674636" y="3494984"/>
            <a:ext cx="1755594" cy="2344787"/>
          </a:xfrm>
          <a:prstGeom prst="ellipse">
            <a:avLst/>
          </a:prstGeom>
          <a:ln w="76200" cap="sq">
            <a:solidFill>
              <a:schemeClr val="bg1">
                <a:lumMod val="85000"/>
              </a:schemeClr>
            </a:solidFill>
            <a:miter lim="800000"/>
          </a:ln>
          <a:effectLst>
            <a:innerShdw blurRad="114300">
              <a:schemeClr val="bg1"/>
            </a:inn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 extrusionH="165100"/>
        </p:spPr>
        <p:txBody>
          <a:bodyPr wrap="none" bIns="274320" anchor="b"/>
          <a:lstStyle>
            <a:lvl1pPr algn="ctr" rtl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770136" y="3494984"/>
            <a:ext cx="1755594" cy="2344787"/>
          </a:xfrm>
          <a:prstGeom prst="ellipse">
            <a:avLst/>
          </a:prstGeom>
          <a:ln w="76200" cap="sq">
            <a:solidFill>
              <a:schemeClr val="bg1">
                <a:lumMod val="85000"/>
              </a:schemeClr>
            </a:solidFill>
            <a:miter lim="800000"/>
          </a:ln>
          <a:effectLst>
            <a:innerShdw blurRad="114300">
              <a:schemeClr val="bg1"/>
            </a:inn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 extrusionH="165100"/>
        </p:spPr>
        <p:txBody>
          <a:bodyPr wrap="none" bIns="274320" anchor="b"/>
          <a:lstStyle>
            <a:lvl1pPr algn="ctr" rtl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04089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7" grpId="0" animBg="1"/>
      <p:bldP spid="18" grpId="0" animBg="1"/>
      <p:bldP spid="19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1BBFFC7-5AFF-4374-B478-E246B74FFF8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2A403D9-1EF9-4D83-8F99-27C64A2CC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0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eam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title" hasCustomPrompt="1"/>
          </p:nvPr>
        </p:nvSpPr>
        <p:spPr>
          <a:xfrm>
            <a:off x="2350353" y="377481"/>
            <a:ext cx="4443296" cy="413483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271838" y="837240"/>
            <a:ext cx="260032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44" hasCustomPrompt="1"/>
          </p:nvPr>
        </p:nvSpPr>
        <p:spPr>
          <a:xfrm>
            <a:off x="665034" y="1696827"/>
            <a:ext cx="2020948" cy="2694597"/>
          </a:xfrm>
          <a:prstGeom prst="roundRect">
            <a:avLst>
              <a:gd name="adj" fmla="val 12935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txBody>
          <a:bodyPr wrap="none" tIns="0" bIns="274320" anchor="b"/>
          <a:lstStyle>
            <a:lvl1pPr algn="ctr" rtl="0"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 </a:t>
            </a:r>
          </a:p>
        </p:txBody>
      </p:sp>
    </p:spTree>
    <p:extLst>
      <p:ext uri="{BB962C8B-B14F-4D97-AF65-F5344CB8AC3E}">
        <p14:creationId xmlns:p14="http://schemas.microsoft.com/office/powerpoint/2010/main" val="247771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empty_p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title" hasCustomPrompt="1"/>
          </p:nvPr>
        </p:nvSpPr>
        <p:spPr>
          <a:xfrm>
            <a:off x="2190750" y="266701"/>
            <a:ext cx="4762500" cy="558843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8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271838" y="837240"/>
            <a:ext cx="260032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3171105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01/07/2022</a:t>
            </a:fld>
            <a:endParaRPr lang="en-GB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 descr="Image result for building constructio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65" y="404664"/>
            <a:ext cx="7596335" cy="52224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50"/>
          <a:stretch/>
        </p:blipFill>
        <p:spPr>
          <a:xfrm>
            <a:off x="0" y="4365104"/>
            <a:ext cx="9143999" cy="2492896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0"/>
            <a:ext cx="9144000" cy="56271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2625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771525" y="1485902"/>
            <a:ext cx="18669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4"/>
          </p:nvPr>
        </p:nvSpPr>
        <p:spPr>
          <a:xfrm>
            <a:off x="2705101" y="1485902"/>
            <a:ext cx="18669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Рисунок 8"/>
          <p:cNvSpPr>
            <a:spLocks noGrp="1"/>
          </p:cNvSpPr>
          <p:nvPr>
            <p:ph type="pic" sz="quarter" idx="15"/>
          </p:nvPr>
        </p:nvSpPr>
        <p:spPr>
          <a:xfrm>
            <a:off x="4638676" y="1485902"/>
            <a:ext cx="18669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7" name="Рисунок 8"/>
          <p:cNvSpPr>
            <a:spLocks noGrp="1"/>
          </p:cNvSpPr>
          <p:nvPr>
            <p:ph type="pic" sz="quarter" idx="16"/>
          </p:nvPr>
        </p:nvSpPr>
        <p:spPr>
          <a:xfrm>
            <a:off x="6572250" y="1485902"/>
            <a:ext cx="18669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59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architecture"/>
          <p:cNvPicPr>
            <a:picLocks noChangeAspect="1" noChangeArrowheads="1"/>
          </p:cNvPicPr>
          <p:nvPr userDrawn="1"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7" t="1127" r="9667" b="138"/>
          <a:stretch/>
        </p:blipFill>
        <p:spPr bwMode="auto">
          <a:xfrm>
            <a:off x="-31702" y="0"/>
            <a:ext cx="9175702" cy="609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06848BF-9DF0-E1C8-041A-4D017EEFE2C9}"/>
              </a:ext>
            </a:extLst>
          </p:cNvPr>
          <p:cNvSpPr/>
          <p:nvPr userDrawn="1"/>
        </p:nvSpPr>
        <p:spPr>
          <a:xfrm>
            <a:off x="-31702" y="0"/>
            <a:ext cx="9175702" cy="6858000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61" b="4290"/>
          <a:stretch/>
        </p:blipFill>
        <p:spPr>
          <a:xfrm>
            <a:off x="-31702" y="5042231"/>
            <a:ext cx="9175702" cy="180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6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8" r:id="rId13"/>
    <p:sldLayoutId id="2147483680" r:id="rId14"/>
    <p:sldLayoutId id="2147483683" r:id="rId15"/>
    <p:sldLayoutId id="2147483689" r:id="rId16"/>
    <p:sldLayoutId id="2147483691" r:id="rId17"/>
    <p:sldLayoutId id="2147483692" r:id="rId18"/>
    <p:sldLayoutId id="2147483695" r:id="rId19"/>
    <p:sldLayoutId id="2147483696" r:id="rId20"/>
    <p:sldLayoutId id="2147483698" r:id="rId21"/>
    <p:sldLayoutId id="2147483699" r:id="rId22"/>
    <p:sldLayoutId id="2147483700" r:id="rId23"/>
    <p:sldLayoutId id="214748370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1268760"/>
            <a:ext cx="7772400" cy="1470025"/>
          </a:xfrm>
        </p:spPr>
        <p:txBody>
          <a:bodyPr/>
          <a:lstStyle/>
          <a:p>
            <a:r>
              <a:rPr lang="en-AU" dirty="0"/>
              <a:t>NBD1100 Built Environment Communication and Skills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75656" y="3212976"/>
            <a:ext cx="6400800" cy="1752600"/>
          </a:xfrm>
        </p:spPr>
        <p:txBody>
          <a:bodyPr/>
          <a:lstStyle/>
          <a:p>
            <a:pPr algn="l"/>
            <a:endParaRPr lang="en-A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9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89B5DA-ECED-7844-D7C0-9EDA9085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A7DE15-7A22-A765-BCD9-8E0E43D04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algn="l" fontAlgn="base"/>
            <a:r>
              <a:rPr lang="en-US" altLang="zh-CN" b="1" i="0" dirty="0">
                <a:solidFill>
                  <a:srgbClr val="000000"/>
                </a:solidFill>
                <a:effectLst/>
                <a:latin typeface="inherit"/>
              </a:rPr>
              <a:t>General</a:t>
            </a:r>
            <a:endParaRPr lang="en-US" altLang="zh-CN" b="0" i="0" dirty="0">
              <a:solidFill>
                <a:srgbClr val="000000"/>
              </a:solidFill>
              <a:effectLst/>
              <a:latin typeface="Rubik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Geographic location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Site boundary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Entrance locations and types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Site security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Existing buildings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5EFDA5-0101-3C28-D6DC-6A81CCCF7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999" y="3429000"/>
            <a:ext cx="2818656" cy="253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1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D8952A-1C19-BE78-E17C-6F2DD4FFF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6205" y="274638"/>
            <a:ext cx="8229600" cy="4525963"/>
          </a:xfrm>
        </p:spPr>
        <p:txBody>
          <a:bodyPr/>
          <a:lstStyle/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altLang="zh-CN" dirty="0">
                <a:solidFill>
                  <a:srgbClr val="000000"/>
                </a:solidFill>
                <a:latin typeface="inherit"/>
              </a:rPr>
              <a:t>Neighbourhood</a:t>
            </a:r>
            <a:r>
              <a:rPr lang="en-US" altLang="zh-CN" dirty="0">
                <a:solidFill>
                  <a:srgbClr val="000000"/>
                </a:solidFill>
                <a:latin typeface="inherit"/>
              </a:rPr>
              <a:t> context</a:t>
            </a:r>
            <a:endParaRPr lang="zh-CN" altLang="zh-CN" dirty="0">
              <a:solidFill>
                <a:srgbClr val="000000"/>
              </a:solidFill>
              <a:latin typeface="inherit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inherit"/>
              </a:rPr>
              <a:t>Zoning and size</a:t>
            </a:r>
            <a:endParaRPr lang="zh-CN" altLang="zh-CN" dirty="0">
              <a:solidFill>
                <a:srgbClr val="000000"/>
              </a:solidFill>
              <a:latin typeface="inherit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inherit"/>
              </a:rPr>
              <a:t>Legal information</a:t>
            </a:r>
            <a:endParaRPr lang="zh-CN" altLang="zh-CN" dirty="0">
              <a:solidFill>
                <a:srgbClr val="000000"/>
              </a:solidFill>
              <a:latin typeface="inherit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inherit"/>
              </a:rPr>
              <a:t>Human and culture</a:t>
            </a:r>
            <a:endParaRPr lang="zh-CN" altLang="zh-CN" dirty="0">
              <a:solidFill>
                <a:srgbClr val="000000"/>
              </a:solidFill>
              <a:latin typeface="inherit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inherit"/>
              </a:rPr>
              <a:t>Natural physical features</a:t>
            </a:r>
            <a:endParaRPr lang="zh-CN" altLang="zh-CN" dirty="0">
              <a:solidFill>
                <a:srgbClr val="000000"/>
              </a:solidFill>
              <a:latin typeface="inherit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inherit"/>
              </a:rPr>
              <a:t>Man made features</a:t>
            </a:r>
            <a:endParaRPr lang="zh-CN" altLang="zh-CN" dirty="0">
              <a:solidFill>
                <a:srgbClr val="000000"/>
              </a:solidFill>
              <a:latin typeface="inherit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inherit"/>
              </a:rPr>
              <a:t>Circulation </a:t>
            </a:r>
            <a:endParaRPr lang="zh-CN" altLang="zh-CN" dirty="0">
              <a:solidFill>
                <a:srgbClr val="000000"/>
              </a:solidFill>
              <a:latin typeface="inherit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inherit"/>
              </a:rPr>
              <a:t>Utilities</a:t>
            </a:r>
            <a:endParaRPr lang="zh-CN" altLang="zh-CN" dirty="0">
              <a:solidFill>
                <a:srgbClr val="000000"/>
              </a:solidFill>
              <a:latin typeface="inherit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inherit"/>
              </a:rPr>
              <a:t>Climate</a:t>
            </a:r>
            <a:endParaRPr lang="zh-CN" altLang="zh-CN" dirty="0">
              <a:solidFill>
                <a:srgbClr val="000000"/>
              </a:solidFill>
              <a:latin typeface="inherit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inherit"/>
              </a:rPr>
              <a:t>Sensory</a:t>
            </a:r>
            <a:endParaRPr lang="zh-CN" altLang="zh-CN" dirty="0">
              <a:solidFill>
                <a:srgbClr val="000000"/>
              </a:solidFill>
              <a:latin typeface="inheri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1C4275-3C9A-647A-C4E3-63F56BC2F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472" y="274638"/>
            <a:ext cx="2974333" cy="2928456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E2D6748-C173-03EF-88E4-87EAE8391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509" y="3203094"/>
            <a:ext cx="2664296" cy="35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B988D47-21A3-942A-ECB8-8FBA7DF054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881" r="24110" b="59494"/>
          <a:stretch/>
        </p:blipFill>
        <p:spPr>
          <a:xfrm>
            <a:off x="6012160" y="6362830"/>
            <a:ext cx="1224136" cy="9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14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7AB65F-5B44-8936-AA05-DCA6B96B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65E461-6552-BF9F-DD5F-D9C2F4948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algn="l" fontAlgn="base"/>
            <a:r>
              <a:rPr lang="en-US" altLang="zh-CN" b="0" i="0" dirty="0">
                <a:effectLst/>
                <a:latin typeface="Raleway" pitchFamily="2" charset="0"/>
              </a:rPr>
              <a:t>Location: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Geological maps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Aerial photographs and maps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Historical maps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Distances and travel times</a:t>
            </a:r>
            <a:endParaRPr lang="en-GB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CF4C05-1022-F5A9-CF87-6A425A94C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634" y="1445712"/>
            <a:ext cx="286136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89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747C2-21B0-981E-3C9D-B3BD74C8F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C90192-F8A2-2FF7-3FF1-788C53DA1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algn="l" fontAlgn="base"/>
            <a:r>
              <a:rPr lang="en-US" altLang="zh-CN" b="1" i="0" dirty="0" err="1">
                <a:solidFill>
                  <a:srgbClr val="000000"/>
                </a:solidFill>
                <a:effectLst/>
                <a:latin typeface="inherit"/>
              </a:rPr>
              <a:t>Neighbouring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herit"/>
              </a:rPr>
              <a:t> buildings</a:t>
            </a:r>
            <a:endParaRPr lang="en-US" altLang="zh-CN" b="0" i="0" dirty="0">
              <a:solidFill>
                <a:srgbClr val="000000"/>
              </a:solidFill>
              <a:effectLst/>
              <a:latin typeface="Rubik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Distances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Heights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Uses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Vernacular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Site lines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Rights to light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Legal restrictions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Noise levels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90A365-D88C-E13F-D5FF-7F4D9742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2232734"/>
            <a:ext cx="3619687" cy="326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12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5584BA-EBD0-5CD4-D8F4-C4CE08F8B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04664"/>
            <a:ext cx="8363272" cy="5721499"/>
          </a:xfrm>
        </p:spPr>
        <p:txBody>
          <a:bodyPr/>
          <a:lstStyle/>
          <a:p>
            <a:pPr algn="l" fontAlgn="base"/>
            <a:r>
              <a:rPr lang="en-US" altLang="zh-CN" sz="2800" b="1" i="0" dirty="0">
                <a:effectLst/>
                <a:latin typeface="Raleway" pitchFamily="2" charset="0"/>
              </a:rPr>
              <a:t>Legal and Historical Information: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effectLst/>
                <a:latin typeface="Lato" panose="020F0502020204030203" pitchFamily="34" charset="0"/>
              </a:rPr>
              <a:t>Accessibility &amp; rights of way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effectLst/>
                <a:latin typeface="Lato" panose="020F0502020204030203" pitchFamily="34" charset="0"/>
              </a:rPr>
              <a:t>Planning restrictions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effectLst/>
                <a:latin typeface="Lato" panose="020F0502020204030203" pitchFamily="34" charset="0"/>
              </a:rPr>
              <a:t>History of the site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effectLst/>
                <a:latin typeface="Lato" panose="020F0502020204030203" pitchFamily="34" charset="0"/>
              </a:rPr>
              <a:t>Historical use of the site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effectLst/>
                <a:latin typeface="Lato" panose="020F0502020204030203" pitchFamily="34" charset="0"/>
              </a:rPr>
              <a:t>Conservation area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Lato" panose="020F0502020204030203" pitchFamily="34" charset="0"/>
              </a:rPr>
              <a:t>C</a:t>
            </a:r>
            <a:r>
              <a:rPr lang="en-US" altLang="zh-CN" sz="2800" b="0" i="0" dirty="0">
                <a:effectLst/>
                <a:latin typeface="Lato" panose="020F0502020204030203" pitchFamily="34" charset="0"/>
              </a:rPr>
              <a:t>ultural significance, historic significance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Lato" panose="020F0502020204030203" pitchFamily="34" charset="0"/>
              </a:rPr>
              <a:t>Developmental</a:t>
            </a:r>
            <a:r>
              <a:rPr lang="en-US" altLang="zh-CN" sz="2800" b="0" i="0" dirty="0">
                <a:effectLst/>
                <a:latin typeface="Lato" panose="020F0502020204030203" pitchFamily="34" charset="0"/>
              </a:rPr>
              <a:t> controls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effectLst/>
                <a:latin typeface="Lato" panose="020F0502020204030203" pitchFamily="34" charset="0"/>
              </a:rPr>
              <a:t>Tree Preservation</a:t>
            </a:r>
          </a:p>
          <a:p>
            <a:endParaRPr lang="en-GB" dirty="0"/>
          </a:p>
        </p:txBody>
      </p:sp>
      <p:pic>
        <p:nvPicPr>
          <p:cNvPr id="4098" name="Picture 2" descr="Uli Kraeling | Workflow — Site analysis: development over time/site history">
            <a:extLst>
              <a:ext uri="{FF2B5EF4-FFF2-40B4-BE49-F238E27FC236}">
                <a16:creationId xmlns:a16="http://schemas.microsoft.com/office/drawing/2014/main" id="{3A447FCB-C11B-C070-A392-4551F7223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292" y="4142313"/>
            <a:ext cx="3905708" cy="271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908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EFD93-2985-F87F-510E-89DA600D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5C72F1-9333-3479-F33C-E5A88757B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AU" altLang="zh-CN" b="1" i="0" dirty="0">
                <a:solidFill>
                  <a:srgbClr val="000000"/>
                </a:solidFill>
                <a:effectLst/>
                <a:latin typeface="Rubik"/>
              </a:rPr>
              <a:t>Access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Public routes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Private routes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Vehicle access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Pedestrian access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Existing circulation routes within</a:t>
            </a:r>
          </a:p>
          <a:p>
            <a:endParaRPr lang="en-GB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4CBCF5-A1E0-B574-A47F-B5F64BA9B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559" y="980728"/>
            <a:ext cx="3872241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67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42E05-BDE5-1718-4E53-12580526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9ACB6A-973B-7BFF-4C4E-4BF1F0F32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algn="l" fontAlgn="base"/>
            <a:r>
              <a:rPr lang="en-US" altLang="zh-CN" b="1" i="0" dirty="0">
                <a:effectLst/>
                <a:latin typeface="Raleway" pitchFamily="2" charset="0"/>
              </a:rPr>
              <a:t>Utilities: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Water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Electricity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Gas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Telephone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sewerage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other services</a:t>
            </a:r>
            <a:endParaRPr lang="en-GB" dirty="0"/>
          </a:p>
        </p:txBody>
      </p:sp>
      <p:pic>
        <p:nvPicPr>
          <p:cNvPr id="5124" name="Picture 4" descr="Site Plans-Purpose, Types, Requirements">
            <a:extLst>
              <a:ext uri="{FF2B5EF4-FFF2-40B4-BE49-F238E27FC236}">
                <a16:creationId xmlns:a16="http://schemas.microsoft.com/office/drawing/2014/main" id="{707699F4-20C7-A227-65E8-5E789E12F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636912"/>
            <a:ext cx="48768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898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1059B-9BD1-1902-93FC-32C54804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A1D75F-6891-62DA-31DF-5A7EE1D27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algn="l" fontAlgn="base"/>
            <a:r>
              <a:rPr lang="en-US" altLang="zh-CN" b="1" i="0" dirty="0">
                <a:solidFill>
                  <a:srgbClr val="000000"/>
                </a:solidFill>
                <a:effectLst/>
                <a:latin typeface="inherit"/>
              </a:rPr>
              <a:t>Topography</a:t>
            </a:r>
            <a:endParaRPr lang="en-US" altLang="zh-CN" b="0" i="0" dirty="0">
              <a:solidFill>
                <a:srgbClr val="000000"/>
              </a:solidFill>
              <a:effectLst/>
              <a:latin typeface="Rubik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Levels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Gradients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Key features/restrictions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herit"/>
              </a:rPr>
              <a:t>Exposure</a:t>
            </a:r>
          </a:p>
          <a:p>
            <a:endParaRPr lang="en-GB" dirty="0"/>
          </a:p>
        </p:txBody>
      </p:sp>
      <p:pic>
        <p:nvPicPr>
          <p:cNvPr id="6146" name="Picture 2" descr="Design Site Topography Photos - Free &amp; Royalty-Free Stock Photos from  Dreamstime">
            <a:extLst>
              <a:ext uri="{FF2B5EF4-FFF2-40B4-BE49-F238E27FC236}">
                <a16:creationId xmlns:a16="http://schemas.microsoft.com/office/drawing/2014/main" id="{93094FB6-0AF7-DFE9-2CF4-DBD91C903F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1"/>
          <a:stretch/>
        </p:blipFill>
        <p:spPr bwMode="auto">
          <a:xfrm>
            <a:off x="5122911" y="2852936"/>
            <a:ext cx="3841641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581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4F2E1-1770-D2EC-C146-81D69508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DC1DBB-3061-FD09-7398-F69E461BF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algn="l" fontAlgn="base"/>
            <a:r>
              <a:rPr lang="en-US" altLang="zh-CN" b="1" i="0" dirty="0">
                <a:effectLst/>
                <a:latin typeface="Raleway" pitchFamily="2" charset="0"/>
              </a:rPr>
              <a:t>Climate: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Climate conditions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Sun path and angles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AU" altLang="zh-CN" i="0" dirty="0">
                <a:solidFill>
                  <a:srgbClr val="000000"/>
                </a:solidFill>
                <a:effectLst/>
                <a:latin typeface="Rubik"/>
              </a:rPr>
              <a:t>Wind patterns</a:t>
            </a:r>
            <a:endParaRPr lang="en-US" altLang="zh-CN" i="0" dirty="0">
              <a:effectLst/>
              <a:latin typeface="Lato" panose="020F0502020204030203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Lato" panose="020F0502020204030203" pitchFamily="34" charset="0"/>
              </a:rPr>
              <a:t>Flooding</a:t>
            </a:r>
          </a:p>
          <a:p>
            <a:endParaRPr lang="en-GB" dirty="0"/>
          </a:p>
        </p:txBody>
      </p:sp>
      <p:pic>
        <p:nvPicPr>
          <p:cNvPr id="7170" name="Picture 2" descr="climate analysis … | Site analysis architecture, Site analysis,  Environmental architecture">
            <a:extLst>
              <a:ext uri="{FF2B5EF4-FFF2-40B4-BE49-F238E27FC236}">
                <a16:creationId xmlns:a16="http://schemas.microsoft.com/office/drawing/2014/main" id="{6F20B872-9F30-1B0B-8A9F-A8B23FF1E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420888"/>
            <a:ext cx="4067944" cy="287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54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62CB19-3CA1-F8D8-42C9-8933C8BD9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fontAlgn="base"/>
            <a:r>
              <a:rPr lang="en-AU" altLang="zh-CN" b="1" i="0" dirty="0">
                <a:solidFill>
                  <a:srgbClr val="333333"/>
                </a:solidFill>
                <a:effectLst/>
                <a:latin typeface="Raleway" pitchFamily="2" charset="0"/>
              </a:rPr>
              <a:t>Sensory</a:t>
            </a:r>
          </a:p>
          <a:p>
            <a:pPr algn="l" fontAlgn="base"/>
            <a:r>
              <a:rPr lang="en-US" altLang="zh-CN" b="1" i="0" dirty="0">
                <a:solidFill>
                  <a:srgbClr val="000000"/>
                </a:solidFill>
                <a:effectLst/>
                <a:latin typeface="inherit"/>
              </a:rPr>
              <a:t>Views</a:t>
            </a:r>
            <a:endParaRPr lang="en-US" altLang="zh-CN" b="0" i="0" dirty="0">
              <a:solidFill>
                <a:srgbClr val="000000"/>
              </a:solidFill>
              <a:effectLst/>
              <a:latin typeface="Rubik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Private views out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Public views in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inherit"/>
              </a:rPr>
              <a:t>Noise and </a:t>
            </a:r>
            <a:r>
              <a:rPr lang="en-US" altLang="zh-CN" sz="2800" dirty="0" err="1">
                <a:solidFill>
                  <a:srgbClr val="000000"/>
                </a:solidFill>
                <a:latin typeface="inherit"/>
              </a:rPr>
              <a:t>odour</a:t>
            </a:r>
            <a:endParaRPr lang="en-US" altLang="zh-CN" sz="2800" b="0" i="0" dirty="0">
              <a:solidFill>
                <a:srgbClr val="000000"/>
              </a:solidFill>
              <a:effectLst/>
              <a:latin typeface="inherit"/>
            </a:endParaRPr>
          </a:p>
          <a:p>
            <a:endParaRPr lang="en-GB" dirty="0"/>
          </a:p>
          <a:p>
            <a:endParaRPr lang="en-GB" dirty="0"/>
          </a:p>
        </p:txBody>
      </p:sp>
      <p:pic>
        <p:nvPicPr>
          <p:cNvPr id="9218" name="Picture 2" descr="Architectural Site Analysis - ppt download">
            <a:extLst>
              <a:ext uri="{FF2B5EF4-FFF2-40B4-BE49-F238E27FC236}">
                <a16:creationId xmlns:a16="http://schemas.microsoft.com/office/drawing/2014/main" id="{ED784C0F-D6B8-6663-F274-FB5B23905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752" y="2204864"/>
            <a:ext cx="5004048" cy="375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759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62CB19-3CA1-F8D8-42C9-8933C8BD9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fontAlgn="base"/>
            <a:r>
              <a:rPr lang="en-AU" altLang="zh-CN" b="1" i="0" dirty="0">
                <a:solidFill>
                  <a:srgbClr val="333333"/>
                </a:solidFill>
                <a:effectLst/>
                <a:latin typeface="Raleway" pitchFamily="2" charset="0"/>
              </a:rPr>
              <a:t>Sensory</a:t>
            </a:r>
          </a:p>
          <a:p>
            <a:pPr algn="l" fontAlgn="base"/>
            <a:r>
              <a:rPr lang="en-US" altLang="zh-CN" b="1" i="0" dirty="0">
                <a:solidFill>
                  <a:srgbClr val="000000"/>
                </a:solidFill>
                <a:effectLst/>
                <a:latin typeface="inherit"/>
              </a:rPr>
              <a:t>Views</a:t>
            </a:r>
            <a:endParaRPr lang="en-US" altLang="zh-CN" b="0" i="0" dirty="0">
              <a:solidFill>
                <a:srgbClr val="000000"/>
              </a:solidFill>
              <a:effectLst/>
              <a:latin typeface="Rubik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Private views out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Public views in</a:t>
            </a:r>
          </a:p>
          <a:p>
            <a:endParaRPr lang="en-GB" dirty="0"/>
          </a:p>
          <a:p>
            <a:r>
              <a:rPr lang="en-AU" altLang="zh-CN" b="1" i="0" dirty="0">
                <a:solidFill>
                  <a:srgbClr val="000000"/>
                </a:solidFill>
                <a:effectLst/>
                <a:latin typeface="Rubik"/>
              </a:rPr>
              <a:t>Site restrictions</a:t>
            </a:r>
            <a:endParaRPr lang="en-GB" altLang="zh-CN" b="1" i="0" dirty="0">
              <a:solidFill>
                <a:srgbClr val="000000"/>
              </a:solidFill>
              <a:effectLst/>
              <a:latin typeface="Rubik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Visibility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Light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Views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Neighbors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Pollution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Land slides</a:t>
            </a:r>
          </a:p>
          <a:p>
            <a:endParaRPr lang="en-GB" dirty="0"/>
          </a:p>
        </p:txBody>
      </p:sp>
      <p:pic>
        <p:nvPicPr>
          <p:cNvPr id="9218" name="Picture 2" descr="Architectural Site Analysis - ppt download">
            <a:extLst>
              <a:ext uri="{FF2B5EF4-FFF2-40B4-BE49-F238E27FC236}">
                <a16:creationId xmlns:a16="http://schemas.microsoft.com/office/drawing/2014/main" id="{ED784C0F-D6B8-6663-F274-FB5B23905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752" y="2204864"/>
            <a:ext cx="5004048" cy="375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743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62CB19-3CA1-F8D8-42C9-8933C8BD9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fontAlgn="base"/>
            <a:r>
              <a:rPr lang="en-AU" altLang="zh-CN" b="1" i="0" dirty="0">
                <a:solidFill>
                  <a:srgbClr val="333333"/>
                </a:solidFill>
                <a:effectLst/>
                <a:latin typeface="Raleway" pitchFamily="2" charset="0"/>
              </a:rPr>
              <a:t>Sensory</a:t>
            </a:r>
          </a:p>
          <a:p>
            <a:pPr algn="l" fontAlgn="base"/>
            <a:r>
              <a:rPr lang="en-US" altLang="zh-CN" b="1" i="0" dirty="0">
                <a:solidFill>
                  <a:srgbClr val="000000"/>
                </a:solidFill>
                <a:effectLst/>
                <a:latin typeface="inherit"/>
              </a:rPr>
              <a:t>Views</a:t>
            </a:r>
            <a:endParaRPr lang="en-US" altLang="zh-CN" b="0" i="0" dirty="0">
              <a:solidFill>
                <a:srgbClr val="000000"/>
              </a:solidFill>
              <a:effectLst/>
              <a:latin typeface="Rubik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Private views out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Public views in</a:t>
            </a:r>
          </a:p>
          <a:p>
            <a:endParaRPr lang="en-GB" dirty="0"/>
          </a:p>
          <a:p>
            <a:r>
              <a:rPr lang="en-AU" altLang="zh-CN" b="1" i="0" dirty="0">
                <a:solidFill>
                  <a:srgbClr val="000000"/>
                </a:solidFill>
                <a:effectLst/>
                <a:latin typeface="Rubik"/>
              </a:rPr>
              <a:t>Site restrictions</a:t>
            </a:r>
            <a:endParaRPr lang="en-GB" altLang="zh-CN" b="1" i="0" dirty="0">
              <a:solidFill>
                <a:srgbClr val="000000"/>
              </a:solidFill>
              <a:effectLst/>
              <a:latin typeface="Rubik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Visibility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Light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Views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Neighbors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Pollution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inherit"/>
              </a:rPr>
              <a:t>Land slides</a:t>
            </a:r>
          </a:p>
          <a:p>
            <a:endParaRPr lang="en-GB" dirty="0"/>
          </a:p>
        </p:txBody>
      </p:sp>
      <p:pic>
        <p:nvPicPr>
          <p:cNvPr id="9218" name="Picture 2" descr="Architectural Site Analysis - ppt download">
            <a:extLst>
              <a:ext uri="{FF2B5EF4-FFF2-40B4-BE49-F238E27FC236}">
                <a16:creationId xmlns:a16="http://schemas.microsoft.com/office/drawing/2014/main" id="{ED784C0F-D6B8-6663-F274-FB5B23905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752" y="2204864"/>
            <a:ext cx="5004048" cy="375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52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449A4-B219-66EC-E442-4E39323E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EAC789-C455-467D-F3EC-73DF09E7E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0000"/>
              </a:solidFill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AU" altLang="zh-CN" b="1" i="0" dirty="0">
                <a:solidFill>
                  <a:srgbClr val="000000"/>
                </a:solidFill>
                <a:effectLst/>
                <a:latin typeface="Rubik"/>
              </a:rPr>
              <a:t>Trees and vegetation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AU" altLang="zh-CN" b="1" i="0" dirty="0">
                <a:solidFill>
                  <a:srgbClr val="000000"/>
                </a:solidFill>
                <a:effectLst/>
                <a:latin typeface="Rubik"/>
              </a:rPr>
              <a:t>Ecology</a:t>
            </a:r>
            <a:endParaRPr lang="en-US" altLang="zh-CN" b="1" i="0" dirty="0">
              <a:solidFill>
                <a:srgbClr val="000000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000000"/>
              </a:solidFill>
              <a:effectLst/>
              <a:latin typeface="inherit"/>
            </a:endParaRPr>
          </a:p>
          <a:p>
            <a:endParaRPr lang="en-GB" b="1" dirty="0"/>
          </a:p>
        </p:txBody>
      </p:sp>
      <p:pic>
        <p:nvPicPr>
          <p:cNvPr id="8198" name="Picture 6" descr="Garden and Landscape Planting Design Plans - Second Nature">
            <a:extLst>
              <a:ext uri="{FF2B5EF4-FFF2-40B4-BE49-F238E27FC236}">
                <a16:creationId xmlns:a16="http://schemas.microsoft.com/office/drawing/2014/main" id="{87E55740-E842-2711-B242-FFA9A983D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751501"/>
            <a:ext cx="4824536" cy="337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018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2E8B2-341D-F42F-0761-15E152A60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Site Visit and Site Analysis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ABAAE5-9A63-8597-2531-34613CD0F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2290" name="Picture 2" descr="A Complete Beginner's Guide to Architecture Site Analysis Urbanism - YouTube">
            <a:extLst>
              <a:ext uri="{FF2B5EF4-FFF2-40B4-BE49-F238E27FC236}">
                <a16:creationId xmlns:a16="http://schemas.microsoft.com/office/drawing/2014/main" id="{6D135E78-189E-6802-DE9F-139E5D202B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00" b="11801"/>
          <a:stretch/>
        </p:blipFill>
        <p:spPr bwMode="auto">
          <a:xfrm>
            <a:off x="109638" y="3923367"/>
            <a:ext cx="4572000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Gallery of ZCB Zero Carbon Building / Ronald Lu and Partners - 10 | Green  architect, Diagram architecture, Green architecture">
            <a:extLst>
              <a:ext uri="{FF2B5EF4-FFF2-40B4-BE49-F238E27FC236}">
                <a16:creationId xmlns:a16="http://schemas.microsoft.com/office/drawing/2014/main" id="{B1E3A0D4-A2AE-0EE0-012E-842EB7064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815864"/>
            <a:ext cx="4028691" cy="370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An example of site analysis through mapping (Source: Site analysis, 2017).  | Download Scientific Diagram">
            <a:extLst>
              <a:ext uri="{FF2B5EF4-FFF2-40B4-BE49-F238E27FC236}">
                <a16:creationId xmlns:a16="http://schemas.microsoft.com/office/drawing/2014/main" id="{53CB3086-7F76-D993-366F-6FD8BE78E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97024"/>
            <a:ext cx="4028691" cy="284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220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D3A87C-DA8B-A89D-5BF2-7C7B1C8EE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3528" y="0"/>
            <a:ext cx="8229600" cy="5865515"/>
          </a:xfrm>
        </p:spPr>
        <p:txBody>
          <a:bodyPr/>
          <a:lstStyle/>
          <a:p>
            <a:pPr algn="l" fontAlgn="base"/>
            <a:r>
              <a:rPr lang="en-US" altLang="zh-CN" sz="1800" b="0" i="0" dirty="0">
                <a:effectLst/>
                <a:latin typeface="Raleway" pitchFamily="2" charset="0"/>
              </a:rPr>
              <a:t>The Site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Street patterns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Street section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Scale and the hierarchy/form/space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Land use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Typologies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 err="1">
                <a:effectLst/>
                <a:latin typeface="Lato" panose="020F0502020204030203" pitchFamily="34" charset="0"/>
              </a:rPr>
              <a:t>Neighbourhood</a:t>
            </a:r>
            <a:r>
              <a:rPr lang="en-US" altLang="zh-CN" sz="1800" b="0" i="0" dirty="0">
                <a:effectLst/>
                <a:latin typeface="Lato" panose="020F0502020204030203" pitchFamily="34" charset="0"/>
              </a:rPr>
              <a:t> relationships, formal street variation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Perspective relationships, views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Edge conditions, surfaces and materials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Natural and man made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Movement and circulation within and around the site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Vehicle vs. pedestrian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Access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Public space vs. private space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Open space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History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Climate – sun angles and sun shadows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Negative and positive spaces – we move through negative spaces and dwell in positive spaces</a:t>
            </a:r>
          </a:p>
          <a:p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669877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D3A87C-DA8B-A89D-5BF2-7C7B1C8EE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3528" y="0"/>
            <a:ext cx="8229600" cy="5865515"/>
          </a:xfrm>
        </p:spPr>
        <p:txBody>
          <a:bodyPr/>
          <a:lstStyle/>
          <a:p>
            <a:pPr algn="l" fontAlgn="base"/>
            <a:r>
              <a:rPr lang="en-US" altLang="zh-CN" sz="1800" b="1" i="0" dirty="0">
                <a:effectLst/>
                <a:latin typeface="Raleway" pitchFamily="2" charset="0"/>
              </a:rPr>
              <a:t>The Site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Street patterns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Street section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Scale and the hierarchy/form/space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Land use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Typologies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 err="1">
                <a:effectLst/>
                <a:latin typeface="Lato" panose="020F0502020204030203" pitchFamily="34" charset="0"/>
              </a:rPr>
              <a:t>Neighbourhood</a:t>
            </a:r>
            <a:r>
              <a:rPr lang="en-US" altLang="zh-CN" sz="1800" b="0" i="0" dirty="0">
                <a:effectLst/>
                <a:latin typeface="Lato" panose="020F0502020204030203" pitchFamily="34" charset="0"/>
              </a:rPr>
              <a:t> relationships, formal street variation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Perspective relationships, views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Edge conditions, surfaces and materials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Natural and man made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Movement and circulation within and around the site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Vehicle vs. pedestrian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Access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Public space vs. private space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Open space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History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Climate – sun angles and sun shadows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Negative and positive spaces – we move through negative spaces and dwell in positive spaces</a:t>
            </a:r>
          </a:p>
          <a:p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89772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D3A87C-DA8B-A89D-5BF2-7C7B1C8EE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3528" y="0"/>
            <a:ext cx="8229600" cy="5865515"/>
          </a:xfrm>
        </p:spPr>
        <p:txBody>
          <a:bodyPr/>
          <a:lstStyle/>
          <a:p>
            <a:pPr algn="l" fontAlgn="base"/>
            <a:r>
              <a:rPr lang="en-US" altLang="zh-CN" sz="1800" b="1" i="0" dirty="0">
                <a:effectLst/>
                <a:latin typeface="Raleway" pitchFamily="2" charset="0"/>
              </a:rPr>
              <a:t>The Building</a:t>
            </a:r>
          </a:p>
          <a:p>
            <a:pPr algn="l" fontAlgn="base"/>
            <a:r>
              <a:rPr lang="en-US" altLang="zh-CN" sz="1800" b="0" i="0" dirty="0">
                <a:effectLst/>
                <a:latin typeface="Lato" panose="020F0502020204030203" pitchFamily="34" charset="0"/>
              </a:rPr>
              <a:t>Think about how your proposal is going to link in with the site, and how the site will connect with the building. Make a few notes about each of the points below about what you are looking to achieve.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Massing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Structure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Circulation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Axis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Symmetry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Scale and proportion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Balance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Regulating lines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Light quality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Rhythm and repetition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Views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Geometry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Hierarchy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Enclosure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effectLst/>
                <a:latin typeface="Lato" panose="020F0502020204030203" pitchFamily="34" charset="0"/>
              </a:rPr>
              <a:t>Space/void relationship</a:t>
            </a:r>
          </a:p>
        </p:txBody>
      </p:sp>
      <p:pic>
        <p:nvPicPr>
          <p:cNvPr id="11266" name="Picture 2" descr="Site analysis sketch">
            <a:extLst>
              <a:ext uri="{FF2B5EF4-FFF2-40B4-BE49-F238E27FC236}">
                <a16:creationId xmlns:a16="http://schemas.microsoft.com/office/drawing/2014/main" id="{266DAE22-FAB1-620D-E207-0018AD4D1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714500"/>
            <a:ext cx="411638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872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5F1AB1AB5D214D9624100458A0887E" ma:contentTypeVersion="14" ma:contentTypeDescription="Create a new document." ma:contentTypeScope="" ma:versionID="269ea37edc181ee1c6b2e3b264f03de5">
  <xsd:schema xmlns:xsd="http://www.w3.org/2001/XMLSchema" xmlns:xs="http://www.w3.org/2001/XMLSchema" xmlns:p="http://schemas.microsoft.com/office/2006/metadata/properties" xmlns:ns3="631627b9-1e40-44c6-867f-39307b73531c" xmlns:ns4="ae7bf3d6-f120-4b9c-998a-3ea54fab7540" targetNamespace="http://schemas.microsoft.com/office/2006/metadata/properties" ma:root="true" ma:fieldsID="7bd991eb19a6f4d52a97ee271dfb2ec2" ns3:_="" ns4:_="">
    <xsd:import namespace="631627b9-1e40-44c6-867f-39307b73531c"/>
    <xsd:import namespace="ae7bf3d6-f120-4b9c-998a-3ea54fab754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627b9-1e40-44c6-867f-39307b7353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bf3d6-f120-4b9c-998a-3ea54fab754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58E108-8205-43FC-A095-0705FFD9B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1627b9-1e40-44c6-867f-39307b73531c"/>
    <ds:schemaRef ds:uri="ae7bf3d6-f120-4b9c-998a-3ea54fab75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330A69-CD72-4E48-9CD4-AEDAA3A3EF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476BEF-A704-454D-A483-973D66B06ABA}">
  <ds:schemaRefs>
    <ds:schemaRef ds:uri="http://schemas.openxmlformats.org/package/2006/metadata/core-properti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documentManagement/types"/>
    <ds:schemaRef ds:uri="ae7bf3d6-f120-4b9c-998a-3ea54fab7540"/>
    <ds:schemaRef ds:uri="http://schemas.microsoft.com/office/infopath/2007/PartnerControls"/>
    <ds:schemaRef ds:uri="631627b9-1e40-44c6-867f-39307b73531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11495</TotalTime>
  <Words>437</Words>
  <Application>Microsoft Office PowerPoint</Application>
  <PresentationFormat>全屏显示(4:3)</PresentationFormat>
  <Paragraphs>161</Paragraphs>
  <Slides>18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inherit</vt:lpstr>
      <vt:lpstr>Rubik</vt:lpstr>
      <vt:lpstr>Arial</vt:lpstr>
      <vt:lpstr>Calibri</vt:lpstr>
      <vt:lpstr>Lato</vt:lpstr>
      <vt:lpstr>Raleway</vt:lpstr>
      <vt:lpstr>Symbol</vt:lpstr>
      <vt:lpstr>Office 主题​​</vt:lpstr>
      <vt:lpstr>NBD1100 Built Environment Communication and Skills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Site Visit and Site Analysis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Computer</dc:creator>
  <cp:lastModifiedBy>Mengbi Li</cp:lastModifiedBy>
  <cp:revision>464</cp:revision>
  <cp:lastPrinted>2018-02-05T02:46:48Z</cp:lastPrinted>
  <dcterms:created xsi:type="dcterms:W3CDTF">2017-11-07T01:05:33Z</dcterms:created>
  <dcterms:modified xsi:type="dcterms:W3CDTF">2022-06-30T21:54:51Z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0x010100B05F1AB1AB5D214D9624100458A0887E</vt:lpwstr>
  </property>
</Properties>
</file>