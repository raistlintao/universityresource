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7" r:id="rId1"/>
  </p:sldMasterIdLst>
  <p:sldIdLst>
    <p:sldId id="264" r:id="rId2"/>
    <p:sldId id="271" r:id="rId3"/>
    <p:sldId id="256" r:id="rId4"/>
    <p:sldId id="258" r:id="rId5"/>
    <p:sldId id="265" r:id="rId6"/>
    <p:sldId id="270" r:id="rId7"/>
    <p:sldId id="274" r:id="rId8"/>
    <p:sldId id="262" r:id="rId9"/>
    <p:sldId id="272" r:id="rId10"/>
    <p:sldId id="273" r:id="rId11"/>
    <p:sldId id="275" r:id="rId12"/>
    <p:sldId id="257" r:id="rId13"/>
    <p:sldId id="269" r:id="rId14"/>
    <p:sldId id="268"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824" autoAdjust="0"/>
    <p:restoredTop sz="94660"/>
  </p:normalViewPr>
  <p:slideViewPr>
    <p:cSldViewPr snapToGrid="0">
      <p:cViewPr varScale="1">
        <p:scale>
          <a:sx n="68" d="100"/>
          <a:sy n="68" d="100"/>
        </p:scale>
        <p:origin x="45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smtClean="0"/>
              <a:pPr/>
              <a:t>4/10/2024</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smtClean="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3283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smtClean="0"/>
              <a:t>4/10/2024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smtClean="0"/>
              <a:t>‹#›</a:t>
            </a:fld>
            <a:endParaRPr lang="en-US" dirty="0"/>
          </a:p>
        </p:txBody>
      </p:sp>
    </p:spTree>
    <p:extLst>
      <p:ext uri="{BB962C8B-B14F-4D97-AF65-F5344CB8AC3E}">
        <p14:creationId xmlns:p14="http://schemas.microsoft.com/office/powerpoint/2010/main" val="835325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87021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smtClean="0"/>
              <a:t>4/10/2024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2804192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4/10/2024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84561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4/10/2024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93813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4/10/2024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16651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48291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2445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90216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102110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336773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22900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31335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43626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865752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84229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smtClean="0"/>
              <a:pPr/>
              <a:t>4/10/2024</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24549507"/>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4.xml"/><Relationship Id="rId4" Type="http://schemas.openxmlformats.org/officeDocument/2006/relationships/image" Target="../media/image9.jp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jp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2.jp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1.jp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3.jp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4.jp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8" Type="http://schemas.openxmlformats.org/officeDocument/2006/relationships/image" Target="../media/image22.jpg"/><Relationship Id="rId3" Type="http://schemas.openxmlformats.org/officeDocument/2006/relationships/image" Target="../media/image17.jpg"/><Relationship Id="rId7" Type="http://schemas.openxmlformats.org/officeDocument/2006/relationships/image" Target="../media/image21.jpg"/><Relationship Id="rId2" Type="http://schemas.openxmlformats.org/officeDocument/2006/relationships/image" Target="../media/image16.jpg"/><Relationship Id="rId1" Type="http://schemas.openxmlformats.org/officeDocument/2006/relationships/slideLayout" Target="../slideLayouts/slideLayout4.xml"/><Relationship Id="rId6" Type="http://schemas.openxmlformats.org/officeDocument/2006/relationships/image" Target="../media/image20.jpg"/><Relationship Id="rId5" Type="http://schemas.openxmlformats.org/officeDocument/2006/relationships/image" Target="../media/image19.jpg"/><Relationship Id="rId4" Type="http://schemas.openxmlformats.org/officeDocument/2006/relationships/image" Target="../media/image18.jpg"/><Relationship Id="rId9" Type="http://schemas.openxmlformats.org/officeDocument/2006/relationships/image" Target="../media/image2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7AF45-FF9B-5C42-2B7F-2354B04DA880}"/>
              </a:ext>
            </a:extLst>
          </p:cNvPr>
          <p:cNvSpPr>
            <a:spLocks noGrp="1"/>
          </p:cNvSpPr>
          <p:nvPr>
            <p:ph type="title"/>
          </p:nvPr>
        </p:nvSpPr>
        <p:spPr/>
        <p:txBody>
          <a:bodyPr/>
          <a:lstStyle/>
          <a:p>
            <a:r>
              <a:rPr lang="en-US" dirty="0"/>
              <a:t>Sustainable Housing</a:t>
            </a:r>
            <a:endParaRPr lang="en-AU" dirty="0"/>
          </a:p>
        </p:txBody>
      </p:sp>
      <p:pic>
        <p:nvPicPr>
          <p:cNvPr id="6" name="Content Placeholder 5" descr="A house with a fence and grass&#10;&#10;Description automatically generated">
            <a:extLst>
              <a:ext uri="{FF2B5EF4-FFF2-40B4-BE49-F238E27FC236}">
                <a16:creationId xmlns:a16="http://schemas.microsoft.com/office/drawing/2014/main" id="{26730D0D-95A0-3688-5E29-8F9C29341A56}"/>
              </a:ext>
            </a:extLst>
          </p:cNvPr>
          <p:cNvPicPr>
            <a:picLocks noGrp="1" noChangeAspect="1"/>
          </p:cNvPicPr>
          <p:nvPr>
            <p:ph sz="half" idx="1"/>
          </p:nvPr>
        </p:nvPicPr>
        <p:blipFill>
          <a:blip r:embed="rId2"/>
          <a:stretch>
            <a:fillRect/>
          </a:stretch>
        </p:blipFill>
        <p:spPr>
          <a:xfrm>
            <a:off x="1201115" y="2642923"/>
            <a:ext cx="3173017" cy="2115344"/>
          </a:xfrm>
        </p:spPr>
      </p:pic>
      <p:pic>
        <p:nvPicPr>
          <p:cNvPr id="7" name="Content Placeholder 5">
            <a:extLst>
              <a:ext uri="{FF2B5EF4-FFF2-40B4-BE49-F238E27FC236}">
                <a16:creationId xmlns:a16="http://schemas.microsoft.com/office/drawing/2014/main" id="{04D4C64F-41EE-4509-2428-C5A730C0CFF1}"/>
              </a:ext>
            </a:extLst>
          </p:cNvPr>
          <p:cNvPicPr>
            <a:picLocks noChangeAspect="1"/>
          </p:cNvPicPr>
          <p:nvPr/>
        </p:nvPicPr>
        <p:blipFill>
          <a:blip r:embed="rId3"/>
          <a:srcRect/>
          <a:stretch/>
        </p:blipFill>
        <p:spPr>
          <a:xfrm>
            <a:off x="4518726" y="2642923"/>
            <a:ext cx="3081794" cy="2115344"/>
          </a:xfrm>
          <a:prstGeom prst="rect">
            <a:avLst/>
          </a:prstGeom>
        </p:spPr>
      </p:pic>
      <p:sp>
        <p:nvSpPr>
          <p:cNvPr id="8" name="TextBox 7">
            <a:extLst>
              <a:ext uri="{FF2B5EF4-FFF2-40B4-BE49-F238E27FC236}">
                <a16:creationId xmlns:a16="http://schemas.microsoft.com/office/drawing/2014/main" id="{D1F2CF53-6A50-D444-7187-FC5629BDCFC8}"/>
              </a:ext>
            </a:extLst>
          </p:cNvPr>
          <p:cNvSpPr txBox="1"/>
          <p:nvPr/>
        </p:nvSpPr>
        <p:spPr>
          <a:xfrm>
            <a:off x="1140703" y="4866658"/>
            <a:ext cx="3233430" cy="338554"/>
          </a:xfrm>
          <a:prstGeom prst="rect">
            <a:avLst/>
          </a:prstGeom>
          <a:noFill/>
        </p:spPr>
        <p:txBody>
          <a:bodyPr wrap="square" rtlCol="0">
            <a:spAutoFit/>
          </a:bodyPr>
          <a:lstStyle/>
          <a:p>
            <a:pPr algn="ctr"/>
            <a:r>
              <a:rPr lang="en-US" sz="1600" b="1" dirty="0"/>
              <a:t>United Kingdom </a:t>
            </a:r>
            <a:r>
              <a:rPr lang="en-US" sz="1600" dirty="0"/>
              <a:t>- Shawm House </a:t>
            </a:r>
            <a:endParaRPr lang="en-AU" sz="1600" dirty="0"/>
          </a:p>
        </p:txBody>
      </p:sp>
      <p:sp>
        <p:nvSpPr>
          <p:cNvPr id="9" name="TextBox 8">
            <a:extLst>
              <a:ext uri="{FF2B5EF4-FFF2-40B4-BE49-F238E27FC236}">
                <a16:creationId xmlns:a16="http://schemas.microsoft.com/office/drawing/2014/main" id="{06E03270-4827-F285-F5C5-DEBAA6DF4C2E}"/>
              </a:ext>
            </a:extLst>
          </p:cNvPr>
          <p:cNvSpPr txBox="1"/>
          <p:nvPr/>
        </p:nvSpPr>
        <p:spPr>
          <a:xfrm>
            <a:off x="4374132" y="4866658"/>
            <a:ext cx="3325834" cy="338554"/>
          </a:xfrm>
          <a:prstGeom prst="rect">
            <a:avLst/>
          </a:prstGeom>
          <a:noFill/>
        </p:spPr>
        <p:txBody>
          <a:bodyPr wrap="square" rtlCol="0">
            <a:spAutoFit/>
          </a:bodyPr>
          <a:lstStyle/>
          <a:p>
            <a:pPr algn="ctr"/>
            <a:r>
              <a:rPr lang="en-US" sz="1600" b="1" dirty="0"/>
              <a:t>Italy</a:t>
            </a:r>
            <a:r>
              <a:rPr lang="en-US" sz="1600" dirty="0"/>
              <a:t> – House of Wood, Straw &amp; Cork</a:t>
            </a:r>
            <a:endParaRPr lang="en-AU" sz="1600" dirty="0"/>
          </a:p>
        </p:txBody>
      </p:sp>
      <p:sp>
        <p:nvSpPr>
          <p:cNvPr id="10" name="TextBox 9">
            <a:extLst>
              <a:ext uri="{FF2B5EF4-FFF2-40B4-BE49-F238E27FC236}">
                <a16:creationId xmlns:a16="http://schemas.microsoft.com/office/drawing/2014/main" id="{9200E659-BD0B-39A7-F772-AC95311DBC23}"/>
              </a:ext>
            </a:extLst>
          </p:cNvPr>
          <p:cNvSpPr txBox="1"/>
          <p:nvPr/>
        </p:nvSpPr>
        <p:spPr>
          <a:xfrm>
            <a:off x="7699966" y="4866658"/>
            <a:ext cx="3060228" cy="338554"/>
          </a:xfrm>
          <a:prstGeom prst="rect">
            <a:avLst/>
          </a:prstGeom>
          <a:noFill/>
        </p:spPr>
        <p:txBody>
          <a:bodyPr wrap="square" rtlCol="0">
            <a:spAutoFit/>
          </a:bodyPr>
          <a:lstStyle/>
          <a:p>
            <a:pPr algn="ctr"/>
            <a:r>
              <a:rPr lang="en-US" sz="1600" b="1" dirty="0"/>
              <a:t>Brazil</a:t>
            </a:r>
            <a:r>
              <a:rPr lang="en-US" sz="1600" dirty="0"/>
              <a:t> – Subtraction House </a:t>
            </a:r>
            <a:endParaRPr lang="en-AU" sz="1600" dirty="0"/>
          </a:p>
        </p:txBody>
      </p:sp>
      <p:sp>
        <p:nvSpPr>
          <p:cNvPr id="11" name="TextBox 10">
            <a:extLst>
              <a:ext uri="{FF2B5EF4-FFF2-40B4-BE49-F238E27FC236}">
                <a16:creationId xmlns:a16="http://schemas.microsoft.com/office/drawing/2014/main" id="{5BC7A267-9E73-7A4A-4292-1AB3CC6820C2}"/>
              </a:ext>
            </a:extLst>
          </p:cNvPr>
          <p:cNvSpPr txBox="1"/>
          <p:nvPr/>
        </p:nvSpPr>
        <p:spPr>
          <a:xfrm>
            <a:off x="1201115" y="5647268"/>
            <a:ext cx="9789769" cy="369332"/>
          </a:xfrm>
          <a:prstGeom prst="rect">
            <a:avLst/>
          </a:prstGeom>
          <a:noFill/>
        </p:spPr>
        <p:txBody>
          <a:bodyPr wrap="square" rtlCol="0">
            <a:spAutoFit/>
          </a:bodyPr>
          <a:lstStyle/>
          <a:p>
            <a:pPr algn="ctr"/>
            <a:r>
              <a:rPr lang="en-US" dirty="0"/>
              <a:t>Group 7 – D. Martini (s8097697), D. Caputo (s4528393), P. Deep Singh (s8076712) </a:t>
            </a:r>
            <a:endParaRPr lang="en-AU" dirty="0"/>
          </a:p>
        </p:txBody>
      </p:sp>
      <p:pic>
        <p:nvPicPr>
          <p:cNvPr id="3" name="Content Placeholder 5" descr="A building with a white wall and trees&#10;&#10;Description automatically generated">
            <a:extLst>
              <a:ext uri="{FF2B5EF4-FFF2-40B4-BE49-F238E27FC236}">
                <a16:creationId xmlns:a16="http://schemas.microsoft.com/office/drawing/2014/main" id="{12D3965F-EF4D-3E3E-DAC4-73F3851BEEA1}"/>
              </a:ext>
            </a:extLst>
          </p:cNvPr>
          <p:cNvPicPr>
            <a:picLocks noChangeAspect="1"/>
          </p:cNvPicPr>
          <p:nvPr/>
        </p:nvPicPr>
        <p:blipFill>
          <a:blip r:embed="rId4"/>
          <a:stretch>
            <a:fillRect/>
          </a:stretch>
        </p:blipFill>
        <p:spPr>
          <a:xfrm>
            <a:off x="7745114" y="2642923"/>
            <a:ext cx="3015079" cy="2115344"/>
          </a:xfrm>
          <a:prstGeom prst="rect">
            <a:avLst/>
          </a:prstGeom>
        </p:spPr>
      </p:pic>
    </p:spTree>
    <p:extLst>
      <p:ext uri="{BB962C8B-B14F-4D97-AF65-F5344CB8AC3E}">
        <p14:creationId xmlns:p14="http://schemas.microsoft.com/office/powerpoint/2010/main" val="450347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grpSp>
        <p:nvGrpSpPr>
          <p:cNvPr id="64" name="Group 63">
            <a:extLst>
              <a:ext uri="{FF2B5EF4-FFF2-40B4-BE49-F238E27FC236}">
                <a16:creationId xmlns:a16="http://schemas.microsoft.com/office/drawing/2014/main" id="{7575D7A7-3C36-4508-9BC6-70A93BD3C4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934" y="0"/>
            <a:ext cx="12231160" cy="6856214"/>
            <a:chOff x="-16934" y="0"/>
            <a:chExt cx="12231160" cy="6856214"/>
          </a:xfrm>
        </p:grpSpPr>
        <p:pic>
          <p:nvPicPr>
            <p:cNvPr id="65" name="Picture 64">
              <a:extLst>
                <a:ext uri="{FF2B5EF4-FFF2-40B4-BE49-F238E27FC236}">
                  <a16:creationId xmlns:a16="http://schemas.microsoft.com/office/drawing/2014/main" id="{BC964A0D-06B7-4C16-AC9F-20ADDA8059E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66" name="Rectangle 65">
              <a:extLst>
                <a:ext uri="{FF2B5EF4-FFF2-40B4-BE49-F238E27FC236}">
                  <a16:creationId xmlns:a16="http://schemas.microsoft.com/office/drawing/2014/main" id="{F5703F5C-55DF-45CD-BC3F-3BE8F1033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en-AU"/>
            </a:p>
          </p:txBody>
        </p:sp>
        <p:pic>
          <p:nvPicPr>
            <p:cNvPr id="67" name="Picture 66">
              <a:extLst>
                <a:ext uri="{FF2B5EF4-FFF2-40B4-BE49-F238E27FC236}">
                  <a16:creationId xmlns:a16="http://schemas.microsoft.com/office/drawing/2014/main" id="{A8C7134F-70F9-4826-A97E-9B39AEA08F5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68" name="Picture 67">
              <a:extLst>
                <a:ext uri="{FF2B5EF4-FFF2-40B4-BE49-F238E27FC236}">
                  <a16:creationId xmlns:a16="http://schemas.microsoft.com/office/drawing/2014/main" id="{39351E73-B6DD-4B56-8EE9-C16B5711C46D}"/>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cxnSp>
        <p:nvCxnSpPr>
          <p:cNvPr id="70" name="Straight Connector 69">
            <a:extLst>
              <a:ext uri="{FF2B5EF4-FFF2-40B4-BE49-F238E27FC236}">
                <a16:creationId xmlns:a16="http://schemas.microsoft.com/office/drawing/2014/main" id="{AE446D0E-6531-40B7-A182-FB860243977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 useBgFill="1">
        <p:nvSpPr>
          <p:cNvPr id="72" name="Rectangle 71">
            <a:extLst>
              <a:ext uri="{FF2B5EF4-FFF2-40B4-BE49-F238E27FC236}">
                <a16:creationId xmlns:a16="http://schemas.microsoft.com/office/drawing/2014/main" id="{D59C2C63-D709-4949-9465-29A52CBEDD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0EFD2038-15D6-4003-8350-AFEC394EEF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920" y="1399880"/>
            <a:ext cx="7808159" cy="4103960"/>
          </a:xfrm>
          <a:prstGeom prst="rect">
            <a:avLst/>
          </a:prstGeom>
          <a:solidFill>
            <a:schemeClr val="tx2">
              <a:lumMod val="90000"/>
              <a:lumOff val="10000"/>
            </a:schemeClr>
          </a:solid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tx2">
                <a:lumMod val="75000"/>
                <a:lumOff val="25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8CF519C2-F6BE-41BE-A50E-54B98359C9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solidFill>
              <a:schemeClr val="accent1"/>
            </a:solidFill>
            <a:miter lim="800000"/>
          </a:ln>
        </p:spPr>
        <p:style>
          <a:lnRef idx="1">
            <a:schemeClr val="accent1"/>
          </a:lnRef>
          <a:fillRef idx="3">
            <a:schemeClr val="accent1"/>
          </a:fillRef>
          <a:effectRef idx="2">
            <a:schemeClr val="accent1"/>
          </a:effectRef>
          <a:fontRef idx="minor">
            <a:schemeClr val="lt1"/>
          </a:fontRef>
        </p:style>
        <p:txBody>
          <a:bodyPr/>
          <a:lstStyle/>
          <a:p>
            <a:endParaRPr lang="en-AU"/>
          </a:p>
        </p:txBody>
      </p:sp>
      <p:grpSp>
        <p:nvGrpSpPr>
          <p:cNvPr id="78" name="Group 77">
            <a:extLst>
              <a:ext uri="{FF2B5EF4-FFF2-40B4-BE49-F238E27FC236}">
                <a16:creationId xmlns:a16="http://schemas.microsoft.com/office/drawing/2014/main" id="{7767AD93-AD3E-4C62-97D5-E54E14B2EAD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23631"/>
            <a:ext cx="12231160" cy="659658"/>
            <a:chOff x="-16934" y="3123631"/>
            <a:chExt cx="12231160" cy="659658"/>
          </a:xfrm>
        </p:grpSpPr>
        <p:sp>
          <p:nvSpPr>
            <p:cNvPr id="79" name="Rounded Rectangle 17">
              <a:extLst>
                <a:ext uri="{FF2B5EF4-FFF2-40B4-BE49-F238E27FC236}">
                  <a16:creationId xmlns:a16="http://schemas.microsoft.com/office/drawing/2014/main" id="{AA443E8D-EC07-4B8F-B370-2A1153F350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430976" y="3123631"/>
              <a:ext cx="45720" cy="658368"/>
            </a:xfrm>
            <a:prstGeom prst="roundRect">
              <a:avLst>
                <a:gd name="adj" fmla="val 50000"/>
              </a:avLst>
            </a:prstGeom>
            <a:solidFill>
              <a:schemeClr val="tx2">
                <a:alpha val="55000"/>
              </a:schemeClr>
            </a:solidFill>
            <a:ln w="9525">
              <a:noFill/>
            </a:ln>
            <a:effectLst>
              <a:innerShdw blurRad="114300">
                <a:prstClr val="black">
                  <a:alpha val="4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0" name="Picture 79">
              <a:extLst>
                <a:ext uri="{FF2B5EF4-FFF2-40B4-BE49-F238E27FC236}">
                  <a16:creationId xmlns:a16="http://schemas.microsoft.com/office/drawing/2014/main" id="{841F0AA1-D12D-4FDB-BF66-D9398ED9303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6934" y="3145536"/>
              <a:ext cx="2478024" cy="612648"/>
            </a:xfrm>
            <a:prstGeom prst="rect">
              <a:avLst/>
            </a:prstGeom>
          </p:spPr>
        </p:pic>
        <p:sp>
          <p:nvSpPr>
            <p:cNvPr id="81" name="Rounded Rectangle 20">
              <a:extLst>
                <a:ext uri="{FF2B5EF4-FFF2-40B4-BE49-F238E27FC236}">
                  <a16:creationId xmlns:a16="http://schemas.microsoft.com/office/drawing/2014/main" id="{E2B949DE-0178-4942-80DE-811C1AA4F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17803" y="3124921"/>
              <a:ext cx="45720" cy="658368"/>
            </a:xfrm>
            <a:prstGeom prst="roundRect">
              <a:avLst>
                <a:gd name="adj" fmla="val 50000"/>
              </a:avLst>
            </a:prstGeom>
            <a:solidFill>
              <a:schemeClr val="tx2">
                <a:alpha val="55000"/>
              </a:schemeClr>
            </a:solidFill>
            <a:ln w="9525">
              <a:noFill/>
            </a:ln>
            <a:effectLst>
              <a:innerShdw blurRad="114300">
                <a:prstClr val="black">
                  <a:alpha val="4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2" name="Picture 81">
              <a:extLst>
                <a:ext uri="{FF2B5EF4-FFF2-40B4-BE49-F238E27FC236}">
                  <a16:creationId xmlns:a16="http://schemas.microsoft.com/office/drawing/2014/main" id="{284AA86D-EAE1-4E3F-A54C-7F1E390B6DF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9736202" y="3145536"/>
              <a:ext cx="2478024" cy="612648"/>
            </a:xfrm>
            <a:prstGeom prst="rect">
              <a:avLst/>
            </a:prstGeom>
          </p:spPr>
        </p:pic>
      </p:grpSp>
      <p:sp>
        <p:nvSpPr>
          <p:cNvPr id="2" name="Title 1">
            <a:extLst>
              <a:ext uri="{FF2B5EF4-FFF2-40B4-BE49-F238E27FC236}">
                <a16:creationId xmlns:a16="http://schemas.microsoft.com/office/drawing/2014/main" id="{BAB35320-2CD1-89E4-1769-D3685E1BB89E}"/>
              </a:ext>
            </a:extLst>
          </p:cNvPr>
          <p:cNvSpPr>
            <a:spLocks noGrp="1"/>
          </p:cNvSpPr>
          <p:nvPr>
            <p:ph type="title"/>
          </p:nvPr>
        </p:nvSpPr>
        <p:spPr>
          <a:xfrm>
            <a:off x="2692398" y="1871131"/>
            <a:ext cx="6815669" cy="1515533"/>
          </a:xfrm>
        </p:spPr>
        <p:txBody>
          <a:bodyPr vert="horz" lIns="91440" tIns="45720" rIns="91440" bIns="45720" rtlCol="0" anchor="b">
            <a:normAutofit/>
          </a:bodyPr>
          <a:lstStyle/>
          <a:p>
            <a:pPr>
              <a:lnSpc>
                <a:spcPct val="90000"/>
              </a:lnSpc>
            </a:pPr>
            <a:r>
              <a:rPr lang="en-US" sz="3500" dirty="0">
                <a:solidFill>
                  <a:schemeClr val="bg1"/>
                </a:solidFill>
              </a:rPr>
              <a:t>Theme Selection</a:t>
            </a:r>
          </a:p>
        </p:txBody>
      </p:sp>
      <p:cxnSp>
        <p:nvCxnSpPr>
          <p:cNvPr id="84" name="Straight Connector 83">
            <a:extLst>
              <a:ext uri="{FF2B5EF4-FFF2-40B4-BE49-F238E27FC236}">
                <a16:creationId xmlns:a16="http://schemas.microsoft.com/office/drawing/2014/main" id="{0772CE55-4C36-44F1-A9BD-379BEB84317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2748011C-AD03-C2B2-3AAE-A1673BBA4C6D}"/>
              </a:ext>
            </a:extLst>
          </p:cNvPr>
          <p:cNvSpPr txBox="1"/>
          <p:nvPr/>
        </p:nvSpPr>
        <p:spPr>
          <a:xfrm>
            <a:off x="2493630" y="3758184"/>
            <a:ext cx="7225501" cy="1277273"/>
          </a:xfrm>
          <a:prstGeom prst="rect">
            <a:avLst/>
          </a:prstGeom>
          <a:noFill/>
        </p:spPr>
        <p:txBody>
          <a:bodyPr wrap="square" rtlCol="0">
            <a:spAutoFit/>
          </a:bodyPr>
          <a:lstStyle/>
          <a:p>
            <a:r>
              <a:rPr lang="en-US" sz="1100" dirty="0">
                <a:solidFill>
                  <a:schemeClr val="bg1"/>
                </a:solidFill>
              </a:rPr>
              <a:t>Sustainable Housing has been chosen as the group theme to enable each team member to look closely at an example of international residential construction. Initially, the theme allowed our members to demonstrate how sustainable methodologies have been incorporated internationally in building industries, however it also enables our team to compare these to those currently adopted in the Australian building industry. As awareness and knowledge grow, it is of increasing importance that the building industry collectively learns from each other and works together to design sustainable homes for our health and the future health of the planet.</a:t>
            </a:r>
          </a:p>
          <a:p>
            <a:endParaRPr lang="en-US" sz="1100" dirty="0">
              <a:solidFill>
                <a:schemeClr val="bg1"/>
              </a:solidFill>
            </a:endParaRPr>
          </a:p>
        </p:txBody>
      </p:sp>
    </p:spTree>
    <p:extLst>
      <p:ext uri="{BB962C8B-B14F-4D97-AF65-F5344CB8AC3E}">
        <p14:creationId xmlns:p14="http://schemas.microsoft.com/office/powerpoint/2010/main" val="546749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45F30-F4E5-C20F-3A09-6B1F7FB9ACA6}"/>
              </a:ext>
            </a:extLst>
          </p:cNvPr>
          <p:cNvSpPr>
            <a:spLocks noGrp="1"/>
          </p:cNvSpPr>
          <p:nvPr>
            <p:ph type="ctrTitle"/>
          </p:nvPr>
        </p:nvSpPr>
        <p:spPr>
          <a:xfrm>
            <a:off x="2692398" y="1723424"/>
            <a:ext cx="6815669" cy="1515533"/>
          </a:xfrm>
        </p:spPr>
        <p:txBody>
          <a:bodyPr/>
          <a:lstStyle/>
          <a:p>
            <a:r>
              <a:rPr lang="en-US" sz="4400" dirty="0"/>
              <a:t>Sustainable Housing - UK</a:t>
            </a:r>
            <a:endParaRPr lang="en-AU" sz="4400" dirty="0"/>
          </a:p>
        </p:txBody>
      </p:sp>
      <p:sp>
        <p:nvSpPr>
          <p:cNvPr id="3" name="Subtitle 2">
            <a:extLst>
              <a:ext uri="{FF2B5EF4-FFF2-40B4-BE49-F238E27FC236}">
                <a16:creationId xmlns:a16="http://schemas.microsoft.com/office/drawing/2014/main" id="{251DA388-10EF-9EB1-ECAE-8B8B9F65AA86}"/>
              </a:ext>
            </a:extLst>
          </p:cNvPr>
          <p:cNvSpPr>
            <a:spLocks noGrp="1"/>
          </p:cNvSpPr>
          <p:nvPr>
            <p:ph type="subTitle" idx="1"/>
          </p:nvPr>
        </p:nvSpPr>
        <p:spPr>
          <a:xfrm>
            <a:off x="2692398" y="3657596"/>
            <a:ext cx="6815669" cy="1659992"/>
          </a:xfrm>
        </p:spPr>
        <p:txBody>
          <a:bodyPr>
            <a:normAutofit fontScale="92500" lnSpcReduction="20000"/>
          </a:bodyPr>
          <a:lstStyle/>
          <a:p>
            <a:r>
              <a:rPr lang="en-US" sz="3800" dirty="0"/>
              <a:t>Shawm House </a:t>
            </a:r>
          </a:p>
          <a:p>
            <a:r>
              <a:rPr lang="en-US" dirty="0"/>
              <a:t>(D. Martini s8097697) </a:t>
            </a:r>
          </a:p>
          <a:p>
            <a:r>
              <a:rPr lang="en-US" dirty="0"/>
              <a:t>Architect: Mawson Kerr    </a:t>
            </a:r>
          </a:p>
          <a:p>
            <a:r>
              <a:rPr lang="en-US" dirty="0"/>
              <a:t>Size: 274 m2    Completed: 2017</a:t>
            </a:r>
            <a:endParaRPr lang="en-AU" dirty="0"/>
          </a:p>
        </p:txBody>
      </p:sp>
    </p:spTree>
    <p:extLst>
      <p:ext uri="{BB962C8B-B14F-4D97-AF65-F5344CB8AC3E}">
        <p14:creationId xmlns:p14="http://schemas.microsoft.com/office/powerpoint/2010/main" val="1914554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35320-2CD1-89E4-1769-D3685E1BB89E}"/>
              </a:ext>
            </a:extLst>
          </p:cNvPr>
          <p:cNvSpPr>
            <a:spLocks noGrp="1"/>
          </p:cNvSpPr>
          <p:nvPr>
            <p:ph type="title"/>
          </p:nvPr>
        </p:nvSpPr>
        <p:spPr/>
        <p:txBody>
          <a:bodyPr vert="horz" lIns="91440" tIns="45720" rIns="91440" bIns="45720" rtlCol="0" anchor="b">
            <a:normAutofit/>
          </a:bodyPr>
          <a:lstStyle/>
          <a:p>
            <a:r>
              <a:rPr lang="en-US" dirty="0">
                <a:solidFill>
                  <a:srgbClr val="262626"/>
                </a:solidFill>
              </a:rPr>
              <a:t>Shawm House - Reflection</a:t>
            </a:r>
          </a:p>
        </p:txBody>
      </p:sp>
      <p:sp>
        <p:nvSpPr>
          <p:cNvPr id="7" name="Text Placeholder 6">
            <a:extLst>
              <a:ext uri="{FF2B5EF4-FFF2-40B4-BE49-F238E27FC236}">
                <a16:creationId xmlns:a16="http://schemas.microsoft.com/office/drawing/2014/main" id="{A53E87C0-3B74-78D9-BDAB-45C3B8ABB850}"/>
              </a:ext>
            </a:extLst>
          </p:cNvPr>
          <p:cNvSpPr>
            <a:spLocks noGrp="1"/>
          </p:cNvSpPr>
          <p:nvPr>
            <p:ph type="body" sz="half" idx="2"/>
          </p:nvPr>
        </p:nvSpPr>
        <p:spPr>
          <a:xfrm>
            <a:off x="1293811" y="3031064"/>
            <a:ext cx="4248860" cy="3047999"/>
          </a:xfrm>
        </p:spPr>
        <p:txBody>
          <a:bodyPr>
            <a:normAutofit fontScale="77500" lnSpcReduction="20000"/>
          </a:bodyPr>
          <a:lstStyle/>
          <a:p>
            <a:pPr algn="l"/>
            <a:r>
              <a:rPr lang="en-US" dirty="0"/>
              <a:t>Deemed by the local council to be in the open countryside,         Shawm House is located in the rural area of West Woodburn, Northumberland, United Kingdom. The project consists of a new build and the incorporation of an existing stone stable and stone wall. The stone stable was a listed building. </a:t>
            </a:r>
          </a:p>
          <a:p>
            <a:pPr algn="l"/>
            <a:r>
              <a:rPr lang="en-US" dirty="0"/>
              <a:t>Passivhaus principles have been employed and the result is a well designed, highly insulated and airtight home. Featuring triple glazed windows and doors throughout, quality insulation, rainwater storage, a mechanical heat recovery ventilation system and a solar photovoltaic system. Materials have been sourced locally, reducing transportation costs and greenhouse gas emissions. The home also incorporates a small elevator which serves to future-proof the build for the retired owners.  </a:t>
            </a:r>
          </a:p>
          <a:p>
            <a:pPr algn="l"/>
            <a:r>
              <a:rPr lang="en-US" dirty="0"/>
              <a:t>Incorporating an existing building into the new design demonstrates an important consideration to both sustainability and sustainable housing - to preserve, not waste, existing structures and to reimagine for future use. The considered design has saved the structure from ruin while also reducing land fill.</a:t>
            </a:r>
            <a:endParaRPr lang="en-US" b="1" dirty="0">
              <a:solidFill>
                <a:srgbClr val="FF0000"/>
              </a:solidFill>
            </a:endParaRPr>
          </a:p>
          <a:p>
            <a:pPr algn="l"/>
            <a:endParaRPr lang="en-AU" dirty="0"/>
          </a:p>
        </p:txBody>
      </p:sp>
      <p:pic>
        <p:nvPicPr>
          <p:cNvPr id="4" name="Picture 3" descr="A house with a fence and grass&#10;&#10;Description automatically generated">
            <a:extLst>
              <a:ext uri="{FF2B5EF4-FFF2-40B4-BE49-F238E27FC236}">
                <a16:creationId xmlns:a16="http://schemas.microsoft.com/office/drawing/2014/main" id="{094BC2C2-2716-0FFC-8765-C5A9FAE9E749}"/>
              </a:ext>
            </a:extLst>
          </p:cNvPr>
          <p:cNvPicPr>
            <a:picLocks noChangeAspect="1"/>
          </p:cNvPicPr>
          <p:nvPr/>
        </p:nvPicPr>
        <p:blipFill>
          <a:blip r:embed="rId3"/>
          <a:stretch>
            <a:fillRect/>
          </a:stretch>
        </p:blipFill>
        <p:spPr>
          <a:xfrm>
            <a:off x="5542671" y="1744133"/>
            <a:ext cx="5715000" cy="3810000"/>
          </a:xfrm>
          <a:prstGeom prst="rect">
            <a:avLst/>
          </a:prstGeom>
        </p:spPr>
      </p:pic>
    </p:spTree>
    <p:extLst>
      <p:ext uri="{BB962C8B-B14F-4D97-AF65-F5344CB8AC3E}">
        <p14:creationId xmlns:p14="http://schemas.microsoft.com/office/powerpoint/2010/main" val="17594028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grpSp>
        <p:nvGrpSpPr>
          <p:cNvPr id="41" name="Group 40">
            <a:extLst>
              <a:ext uri="{FF2B5EF4-FFF2-40B4-BE49-F238E27FC236}">
                <a16:creationId xmlns:a16="http://schemas.microsoft.com/office/drawing/2014/main" id="{749C117F-F390-437B-ADB0-57E87EFF34F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934" y="0"/>
            <a:ext cx="12231160" cy="6856214"/>
            <a:chOff x="-16934" y="0"/>
            <a:chExt cx="12231160" cy="6856214"/>
          </a:xfrm>
        </p:grpSpPr>
        <p:pic>
          <p:nvPicPr>
            <p:cNvPr id="42" name="Picture 41">
              <a:extLst>
                <a:ext uri="{FF2B5EF4-FFF2-40B4-BE49-F238E27FC236}">
                  <a16:creationId xmlns:a16="http://schemas.microsoft.com/office/drawing/2014/main" id="{A7EF42F8-2417-49A6-95CE-DE9503B0AA6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43" name="Rectangle 42">
              <a:extLst>
                <a:ext uri="{FF2B5EF4-FFF2-40B4-BE49-F238E27FC236}">
                  <a16:creationId xmlns:a16="http://schemas.microsoft.com/office/drawing/2014/main" id="{AC6F623B-2003-4AED-B02F-541A150EC1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en-AU"/>
            </a:p>
          </p:txBody>
        </p:sp>
        <p:pic>
          <p:nvPicPr>
            <p:cNvPr id="44" name="Picture 43">
              <a:extLst>
                <a:ext uri="{FF2B5EF4-FFF2-40B4-BE49-F238E27FC236}">
                  <a16:creationId xmlns:a16="http://schemas.microsoft.com/office/drawing/2014/main" id="{CD11837A-4F3D-419F-ACE2-E80B1EA2846F}"/>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45" name="Picture 44">
              <a:extLst>
                <a:ext uri="{FF2B5EF4-FFF2-40B4-BE49-F238E27FC236}">
                  <a16:creationId xmlns:a16="http://schemas.microsoft.com/office/drawing/2014/main" id="{B9411D1A-7E2C-4A36-BE32-BF7A8E13072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cxnSp>
        <p:nvCxnSpPr>
          <p:cNvPr id="47" name="Straight Connector 46">
            <a:extLst>
              <a:ext uri="{FF2B5EF4-FFF2-40B4-BE49-F238E27FC236}">
                <a16:creationId xmlns:a16="http://schemas.microsoft.com/office/drawing/2014/main" id="{20742BC3-654B-4E41-9A6A-73A42E47763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 useBgFill="1">
        <p:nvSpPr>
          <p:cNvPr id="49" name="Rectangle 48">
            <a:extLst>
              <a:ext uri="{FF2B5EF4-FFF2-40B4-BE49-F238E27FC236}">
                <a16:creationId xmlns:a16="http://schemas.microsoft.com/office/drawing/2014/main" id="{1755C732-3264-4614-8316-41F7548371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 name="Group 50">
            <a:extLst>
              <a:ext uri="{FF2B5EF4-FFF2-40B4-BE49-F238E27FC236}">
                <a16:creationId xmlns:a16="http://schemas.microsoft.com/office/drawing/2014/main" id="{59C7C6ED-4EA1-4532-A820-59A8ADEEE0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786"/>
            <a:ext cx="12229962" cy="6856214"/>
            <a:chOff x="-15736" y="0"/>
            <a:chExt cx="12229962" cy="6856214"/>
          </a:xfrm>
        </p:grpSpPr>
        <p:pic>
          <p:nvPicPr>
            <p:cNvPr id="52" name="Picture 51">
              <a:extLst>
                <a:ext uri="{FF2B5EF4-FFF2-40B4-BE49-F238E27FC236}">
                  <a16:creationId xmlns:a16="http://schemas.microsoft.com/office/drawing/2014/main" id="{3A197BB7-B689-4B37-8BE2-FC23F6ED649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53" name="Rectangle 52">
              <a:extLst>
                <a:ext uri="{FF2B5EF4-FFF2-40B4-BE49-F238E27FC236}">
                  <a16:creationId xmlns:a16="http://schemas.microsoft.com/office/drawing/2014/main" id="{E93E4556-7891-471E-B9B7-A38508C759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AU"/>
            </a:p>
          </p:txBody>
        </p:sp>
        <p:pic>
          <p:nvPicPr>
            <p:cNvPr id="54" name="Picture 53">
              <a:extLst>
                <a:ext uri="{FF2B5EF4-FFF2-40B4-BE49-F238E27FC236}">
                  <a16:creationId xmlns:a16="http://schemas.microsoft.com/office/drawing/2014/main" id="{6F9C6176-D87B-4D8F-8BC3-FE6DF55C4ED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55" name="Picture 54">
              <a:extLst>
                <a:ext uri="{FF2B5EF4-FFF2-40B4-BE49-F238E27FC236}">
                  <a16:creationId xmlns:a16="http://schemas.microsoft.com/office/drawing/2014/main" id="{B838BA48-DDFB-46B3-9EF6-031C91D27927}"/>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1">
            <a:extLst>
              <a:ext uri="{FF2B5EF4-FFF2-40B4-BE49-F238E27FC236}">
                <a16:creationId xmlns:a16="http://schemas.microsoft.com/office/drawing/2014/main" id="{BAB35320-2CD1-89E4-1769-D3685E1BB89E}"/>
              </a:ext>
            </a:extLst>
          </p:cNvPr>
          <p:cNvSpPr>
            <a:spLocks noGrp="1"/>
          </p:cNvSpPr>
          <p:nvPr>
            <p:ph type="title"/>
          </p:nvPr>
        </p:nvSpPr>
        <p:spPr>
          <a:xfrm>
            <a:off x="1102619" y="5040965"/>
            <a:ext cx="9999652" cy="418632"/>
          </a:xfrm>
        </p:spPr>
        <p:txBody>
          <a:bodyPr vert="horz" lIns="91440" tIns="45720" rIns="91440" bIns="45720" rtlCol="0" anchor="b">
            <a:normAutofit/>
          </a:bodyPr>
          <a:lstStyle/>
          <a:p>
            <a:pPr>
              <a:lnSpc>
                <a:spcPct val="90000"/>
              </a:lnSpc>
            </a:pPr>
            <a:r>
              <a:rPr lang="en-US" sz="1800" dirty="0">
                <a:solidFill>
                  <a:srgbClr val="262626"/>
                </a:solidFill>
              </a:rPr>
              <a:t>Shawm House – Hand Drawn External Perspective</a:t>
            </a:r>
          </a:p>
        </p:txBody>
      </p:sp>
      <p:sp>
        <p:nvSpPr>
          <p:cNvPr id="57" name="Rectangle 56">
            <a:extLst>
              <a:ext uri="{FF2B5EF4-FFF2-40B4-BE49-F238E27FC236}">
                <a16:creationId xmlns:a16="http://schemas.microsoft.com/office/drawing/2014/main" id="{4AD786D6-2C42-45AF-888B-F2038C4D0A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644" y="1092200"/>
            <a:ext cx="9999652" cy="3128346"/>
          </a:xfrm>
          <a:prstGeom prst="rect">
            <a:avLst/>
          </a:prstGeom>
          <a:solidFill>
            <a:schemeClr val="bg1"/>
          </a:solidFill>
          <a:ln w="57150" cmpd="thickThin">
            <a:solidFill>
              <a:schemeClr val="tx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drawing of a house&#10;&#10;Description automatically generated">
            <a:extLst>
              <a:ext uri="{FF2B5EF4-FFF2-40B4-BE49-F238E27FC236}">
                <a16:creationId xmlns:a16="http://schemas.microsoft.com/office/drawing/2014/main" id="{929D8548-F642-5D18-43DC-59AA697A0BCA}"/>
              </a:ext>
            </a:extLst>
          </p:cNvPr>
          <p:cNvPicPr>
            <a:picLocks noChangeAspect="1"/>
          </p:cNvPicPr>
          <p:nvPr/>
        </p:nvPicPr>
        <p:blipFill>
          <a:blip r:embed="rId7"/>
          <a:stretch>
            <a:fillRect/>
          </a:stretch>
        </p:blipFill>
        <p:spPr>
          <a:xfrm>
            <a:off x="913571" y="752609"/>
            <a:ext cx="10357797" cy="4246697"/>
          </a:xfrm>
          <a:prstGeom prst="rect">
            <a:avLst/>
          </a:prstGeom>
        </p:spPr>
      </p:pic>
      <p:cxnSp>
        <p:nvCxnSpPr>
          <p:cNvPr id="59" name="Straight Connector 58">
            <a:extLst>
              <a:ext uri="{FF2B5EF4-FFF2-40B4-BE49-F238E27FC236}">
                <a16:creationId xmlns:a16="http://schemas.microsoft.com/office/drawing/2014/main" id="{B8D6659D-FA60-4C6D-A9F6-063E294AA15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98448" y="5501254"/>
            <a:ext cx="9603727"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50973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Group 40">
            <a:extLst>
              <a:ext uri="{FF2B5EF4-FFF2-40B4-BE49-F238E27FC236}">
                <a16:creationId xmlns:a16="http://schemas.microsoft.com/office/drawing/2014/main" id="{749C117F-F390-437B-ADB0-57E87EFF34F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934" y="0"/>
            <a:ext cx="12231160" cy="6856214"/>
            <a:chOff x="-16934" y="0"/>
            <a:chExt cx="12231160" cy="6856214"/>
          </a:xfrm>
        </p:grpSpPr>
        <p:pic>
          <p:nvPicPr>
            <p:cNvPr id="42" name="Picture 41">
              <a:extLst>
                <a:ext uri="{FF2B5EF4-FFF2-40B4-BE49-F238E27FC236}">
                  <a16:creationId xmlns:a16="http://schemas.microsoft.com/office/drawing/2014/main" id="{A7EF42F8-2417-49A6-95CE-DE9503B0AA6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43" name="Rectangle 42">
              <a:extLst>
                <a:ext uri="{FF2B5EF4-FFF2-40B4-BE49-F238E27FC236}">
                  <a16:creationId xmlns:a16="http://schemas.microsoft.com/office/drawing/2014/main" id="{AC6F623B-2003-4AED-B02F-541A150EC1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en-AU"/>
            </a:p>
          </p:txBody>
        </p:sp>
        <p:pic>
          <p:nvPicPr>
            <p:cNvPr id="44" name="Picture 43">
              <a:extLst>
                <a:ext uri="{FF2B5EF4-FFF2-40B4-BE49-F238E27FC236}">
                  <a16:creationId xmlns:a16="http://schemas.microsoft.com/office/drawing/2014/main" id="{CD11837A-4F3D-419F-ACE2-E80B1EA2846F}"/>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45" name="Picture 44">
              <a:extLst>
                <a:ext uri="{FF2B5EF4-FFF2-40B4-BE49-F238E27FC236}">
                  <a16:creationId xmlns:a16="http://schemas.microsoft.com/office/drawing/2014/main" id="{B9411D1A-7E2C-4A36-BE32-BF7A8E13072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cxnSp>
        <p:nvCxnSpPr>
          <p:cNvPr id="47" name="Straight Connector 46">
            <a:extLst>
              <a:ext uri="{FF2B5EF4-FFF2-40B4-BE49-F238E27FC236}">
                <a16:creationId xmlns:a16="http://schemas.microsoft.com/office/drawing/2014/main" id="{20742BC3-654B-4E41-9A6A-73A42E47763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 useBgFill="1">
        <p:nvSpPr>
          <p:cNvPr id="49" name="Rectangle 48">
            <a:extLst>
              <a:ext uri="{FF2B5EF4-FFF2-40B4-BE49-F238E27FC236}">
                <a16:creationId xmlns:a16="http://schemas.microsoft.com/office/drawing/2014/main" id="{1755C732-3264-4614-8316-41F7548371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 name="Group 50">
            <a:extLst>
              <a:ext uri="{FF2B5EF4-FFF2-40B4-BE49-F238E27FC236}">
                <a16:creationId xmlns:a16="http://schemas.microsoft.com/office/drawing/2014/main" id="{59C7C6ED-4EA1-4532-A820-59A8ADEEE0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786"/>
            <a:ext cx="12229962" cy="6856214"/>
            <a:chOff x="-15736" y="0"/>
            <a:chExt cx="12229962" cy="6856214"/>
          </a:xfrm>
        </p:grpSpPr>
        <p:pic>
          <p:nvPicPr>
            <p:cNvPr id="52" name="Picture 51">
              <a:extLst>
                <a:ext uri="{FF2B5EF4-FFF2-40B4-BE49-F238E27FC236}">
                  <a16:creationId xmlns:a16="http://schemas.microsoft.com/office/drawing/2014/main" id="{3A197BB7-B689-4B37-8BE2-FC23F6ED649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53" name="Rectangle 52">
              <a:extLst>
                <a:ext uri="{FF2B5EF4-FFF2-40B4-BE49-F238E27FC236}">
                  <a16:creationId xmlns:a16="http://schemas.microsoft.com/office/drawing/2014/main" id="{E93E4556-7891-471E-B9B7-A38508C759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AU"/>
            </a:p>
          </p:txBody>
        </p:sp>
        <p:pic>
          <p:nvPicPr>
            <p:cNvPr id="54" name="Picture 53">
              <a:extLst>
                <a:ext uri="{FF2B5EF4-FFF2-40B4-BE49-F238E27FC236}">
                  <a16:creationId xmlns:a16="http://schemas.microsoft.com/office/drawing/2014/main" id="{6F9C6176-D87B-4D8F-8BC3-FE6DF55C4ED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55" name="Picture 54">
              <a:extLst>
                <a:ext uri="{FF2B5EF4-FFF2-40B4-BE49-F238E27FC236}">
                  <a16:creationId xmlns:a16="http://schemas.microsoft.com/office/drawing/2014/main" id="{B838BA48-DDFB-46B3-9EF6-031C91D27927}"/>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1">
            <a:extLst>
              <a:ext uri="{FF2B5EF4-FFF2-40B4-BE49-F238E27FC236}">
                <a16:creationId xmlns:a16="http://schemas.microsoft.com/office/drawing/2014/main" id="{BAB35320-2CD1-89E4-1769-D3685E1BB89E}"/>
              </a:ext>
            </a:extLst>
          </p:cNvPr>
          <p:cNvSpPr>
            <a:spLocks noGrp="1"/>
          </p:cNvSpPr>
          <p:nvPr>
            <p:ph type="title"/>
          </p:nvPr>
        </p:nvSpPr>
        <p:spPr>
          <a:xfrm>
            <a:off x="1102619" y="5040965"/>
            <a:ext cx="9999652" cy="418632"/>
          </a:xfrm>
        </p:spPr>
        <p:txBody>
          <a:bodyPr vert="horz" lIns="91440" tIns="45720" rIns="91440" bIns="45720" rtlCol="0" anchor="b">
            <a:normAutofit/>
          </a:bodyPr>
          <a:lstStyle/>
          <a:p>
            <a:pPr>
              <a:lnSpc>
                <a:spcPct val="90000"/>
              </a:lnSpc>
            </a:pPr>
            <a:r>
              <a:rPr lang="en-US" sz="1800" dirty="0">
                <a:solidFill>
                  <a:srgbClr val="262626"/>
                </a:solidFill>
              </a:rPr>
              <a:t>Shawm House – Hand Drawn Internal Perspective</a:t>
            </a:r>
          </a:p>
        </p:txBody>
      </p:sp>
      <p:sp>
        <p:nvSpPr>
          <p:cNvPr id="57" name="Rectangle 56">
            <a:extLst>
              <a:ext uri="{FF2B5EF4-FFF2-40B4-BE49-F238E27FC236}">
                <a16:creationId xmlns:a16="http://schemas.microsoft.com/office/drawing/2014/main" id="{4AD786D6-2C42-45AF-888B-F2038C4D0A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644" y="1092200"/>
            <a:ext cx="9999652" cy="3128346"/>
          </a:xfrm>
          <a:prstGeom prst="rect">
            <a:avLst/>
          </a:prstGeom>
          <a:solidFill>
            <a:schemeClr val="bg1"/>
          </a:solidFill>
          <a:ln w="57150" cmpd="thickThin">
            <a:solidFill>
              <a:schemeClr val="tx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B8D6659D-FA60-4C6D-A9F6-063E294AA15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98448" y="5501254"/>
            <a:ext cx="9603727" cy="0"/>
          </a:xfrm>
          <a:prstGeom prst="line">
            <a:avLst/>
          </a:prstGeom>
        </p:spPr>
        <p:style>
          <a:lnRef idx="2">
            <a:schemeClr val="accent1"/>
          </a:lnRef>
          <a:fillRef idx="0">
            <a:schemeClr val="accent1"/>
          </a:fillRef>
          <a:effectRef idx="1">
            <a:schemeClr val="accent1"/>
          </a:effectRef>
          <a:fontRef idx="minor">
            <a:schemeClr val="tx1"/>
          </a:fontRef>
        </p:style>
      </p:cxnSp>
      <p:pic>
        <p:nvPicPr>
          <p:cNvPr id="4" name="Picture 3" descr="A white background with black dots&#10;&#10;Description automatically generated">
            <a:extLst>
              <a:ext uri="{FF2B5EF4-FFF2-40B4-BE49-F238E27FC236}">
                <a16:creationId xmlns:a16="http://schemas.microsoft.com/office/drawing/2014/main" id="{4DD24C5D-9B1E-8A4B-AB8E-5E8461AD9EF4}"/>
              </a:ext>
            </a:extLst>
          </p:cNvPr>
          <p:cNvPicPr>
            <a:picLocks noChangeAspect="1"/>
          </p:cNvPicPr>
          <p:nvPr/>
        </p:nvPicPr>
        <p:blipFill>
          <a:blip r:embed="rId6"/>
          <a:stretch>
            <a:fillRect/>
          </a:stretch>
        </p:blipFill>
        <p:spPr>
          <a:xfrm>
            <a:off x="1067242" y="951932"/>
            <a:ext cx="10215523" cy="2696644"/>
          </a:xfrm>
          <a:prstGeom prst="rect">
            <a:avLst/>
          </a:prstGeom>
        </p:spPr>
      </p:pic>
      <p:pic>
        <p:nvPicPr>
          <p:cNvPr id="5" name="Picture 4" descr="A white background with black dots&#10;&#10;Description automatically generated">
            <a:extLst>
              <a:ext uri="{FF2B5EF4-FFF2-40B4-BE49-F238E27FC236}">
                <a16:creationId xmlns:a16="http://schemas.microsoft.com/office/drawing/2014/main" id="{6EA6039B-CDE6-EA69-1611-A0C6426E7AB4}"/>
              </a:ext>
            </a:extLst>
          </p:cNvPr>
          <p:cNvPicPr>
            <a:picLocks noChangeAspect="1"/>
          </p:cNvPicPr>
          <p:nvPr/>
        </p:nvPicPr>
        <p:blipFill>
          <a:blip r:embed="rId6"/>
          <a:stretch>
            <a:fillRect/>
          </a:stretch>
        </p:blipFill>
        <p:spPr>
          <a:xfrm>
            <a:off x="1005375" y="1738293"/>
            <a:ext cx="10215523" cy="2696644"/>
          </a:xfrm>
          <a:prstGeom prst="rect">
            <a:avLst/>
          </a:prstGeom>
        </p:spPr>
      </p:pic>
      <p:pic>
        <p:nvPicPr>
          <p:cNvPr id="8" name="Picture 7">
            <a:extLst>
              <a:ext uri="{FF2B5EF4-FFF2-40B4-BE49-F238E27FC236}">
                <a16:creationId xmlns:a16="http://schemas.microsoft.com/office/drawing/2014/main" id="{929D8548-F642-5D18-43DC-59AA697A0BCA}"/>
              </a:ext>
            </a:extLst>
          </p:cNvPr>
          <p:cNvPicPr>
            <a:picLocks noChangeAspect="1"/>
          </p:cNvPicPr>
          <p:nvPr/>
        </p:nvPicPr>
        <p:blipFill>
          <a:blip r:embed="rId7"/>
          <a:srcRect/>
          <a:stretch/>
        </p:blipFill>
        <p:spPr>
          <a:xfrm>
            <a:off x="2173182" y="752609"/>
            <a:ext cx="7838574" cy="4246697"/>
          </a:xfrm>
          <a:prstGeom prst="rect">
            <a:avLst/>
          </a:prstGeom>
        </p:spPr>
      </p:pic>
    </p:spTree>
    <p:extLst>
      <p:ext uri="{BB962C8B-B14F-4D97-AF65-F5344CB8AC3E}">
        <p14:creationId xmlns:p14="http://schemas.microsoft.com/office/powerpoint/2010/main" val="1204409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grpSp>
        <p:nvGrpSpPr>
          <p:cNvPr id="64" name="Group 63">
            <a:extLst>
              <a:ext uri="{FF2B5EF4-FFF2-40B4-BE49-F238E27FC236}">
                <a16:creationId xmlns:a16="http://schemas.microsoft.com/office/drawing/2014/main" id="{7575D7A7-3C36-4508-9BC6-70A93BD3C4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934" y="0"/>
            <a:ext cx="12231160" cy="6856214"/>
            <a:chOff x="-16934" y="0"/>
            <a:chExt cx="12231160" cy="6856214"/>
          </a:xfrm>
        </p:grpSpPr>
        <p:pic>
          <p:nvPicPr>
            <p:cNvPr id="65" name="Picture 64">
              <a:extLst>
                <a:ext uri="{FF2B5EF4-FFF2-40B4-BE49-F238E27FC236}">
                  <a16:creationId xmlns:a16="http://schemas.microsoft.com/office/drawing/2014/main" id="{BC964A0D-06B7-4C16-AC9F-20ADDA8059E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66" name="Rectangle 65">
              <a:extLst>
                <a:ext uri="{FF2B5EF4-FFF2-40B4-BE49-F238E27FC236}">
                  <a16:creationId xmlns:a16="http://schemas.microsoft.com/office/drawing/2014/main" id="{F5703F5C-55DF-45CD-BC3F-3BE8F1033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en-AU"/>
            </a:p>
          </p:txBody>
        </p:sp>
        <p:pic>
          <p:nvPicPr>
            <p:cNvPr id="67" name="Picture 66">
              <a:extLst>
                <a:ext uri="{FF2B5EF4-FFF2-40B4-BE49-F238E27FC236}">
                  <a16:creationId xmlns:a16="http://schemas.microsoft.com/office/drawing/2014/main" id="{A8C7134F-70F9-4826-A97E-9B39AEA08F5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68" name="Picture 67">
              <a:extLst>
                <a:ext uri="{FF2B5EF4-FFF2-40B4-BE49-F238E27FC236}">
                  <a16:creationId xmlns:a16="http://schemas.microsoft.com/office/drawing/2014/main" id="{39351E73-B6DD-4B56-8EE9-C16B5711C46D}"/>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cxnSp>
        <p:nvCxnSpPr>
          <p:cNvPr id="70" name="Straight Connector 69">
            <a:extLst>
              <a:ext uri="{FF2B5EF4-FFF2-40B4-BE49-F238E27FC236}">
                <a16:creationId xmlns:a16="http://schemas.microsoft.com/office/drawing/2014/main" id="{AE446D0E-6531-40B7-A182-FB860243977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 useBgFill="1">
        <p:nvSpPr>
          <p:cNvPr id="72" name="Rectangle 71">
            <a:extLst>
              <a:ext uri="{FF2B5EF4-FFF2-40B4-BE49-F238E27FC236}">
                <a16:creationId xmlns:a16="http://schemas.microsoft.com/office/drawing/2014/main" id="{D59C2C63-D709-4949-9465-29A52CBEDD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0EFD2038-15D6-4003-8350-AFEC394EEF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920" y="1399880"/>
            <a:ext cx="7808159" cy="4103960"/>
          </a:xfrm>
          <a:prstGeom prst="rect">
            <a:avLst/>
          </a:prstGeom>
          <a:solidFill>
            <a:schemeClr val="tx2">
              <a:lumMod val="90000"/>
              <a:lumOff val="10000"/>
            </a:schemeClr>
          </a:solid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tx2">
                <a:lumMod val="75000"/>
                <a:lumOff val="25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8CF519C2-F6BE-41BE-A50E-54B98359C9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solidFill>
              <a:schemeClr val="accent1"/>
            </a:solidFill>
            <a:miter lim="800000"/>
          </a:ln>
        </p:spPr>
        <p:style>
          <a:lnRef idx="1">
            <a:schemeClr val="accent1"/>
          </a:lnRef>
          <a:fillRef idx="3">
            <a:schemeClr val="accent1"/>
          </a:fillRef>
          <a:effectRef idx="2">
            <a:schemeClr val="accent1"/>
          </a:effectRef>
          <a:fontRef idx="minor">
            <a:schemeClr val="lt1"/>
          </a:fontRef>
        </p:style>
        <p:txBody>
          <a:bodyPr/>
          <a:lstStyle/>
          <a:p>
            <a:endParaRPr lang="en-AU"/>
          </a:p>
        </p:txBody>
      </p:sp>
      <p:grpSp>
        <p:nvGrpSpPr>
          <p:cNvPr id="78" name="Group 77">
            <a:extLst>
              <a:ext uri="{FF2B5EF4-FFF2-40B4-BE49-F238E27FC236}">
                <a16:creationId xmlns:a16="http://schemas.microsoft.com/office/drawing/2014/main" id="{7767AD93-AD3E-4C62-97D5-E54E14B2EAD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23631"/>
            <a:ext cx="12231160" cy="659658"/>
            <a:chOff x="-16934" y="3123631"/>
            <a:chExt cx="12231160" cy="659658"/>
          </a:xfrm>
        </p:grpSpPr>
        <p:sp>
          <p:nvSpPr>
            <p:cNvPr id="79" name="Rounded Rectangle 17">
              <a:extLst>
                <a:ext uri="{FF2B5EF4-FFF2-40B4-BE49-F238E27FC236}">
                  <a16:creationId xmlns:a16="http://schemas.microsoft.com/office/drawing/2014/main" id="{AA443E8D-EC07-4B8F-B370-2A1153F350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430976" y="3123631"/>
              <a:ext cx="45720" cy="658368"/>
            </a:xfrm>
            <a:prstGeom prst="roundRect">
              <a:avLst>
                <a:gd name="adj" fmla="val 50000"/>
              </a:avLst>
            </a:prstGeom>
            <a:solidFill>
              <a:schemeClr val="tx2">
                <a:alpha val="55000"/>
              </a:schemeClr>
            </a:solidFill>
            <a:ln w="9525">
              <a:noFill/>
            </a:ln>
            <a:effectLst>
              <a:innerShdw blurRad="114300">
                <a:prstClr val="black">
                  <a:alpha val="4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0" name="Picture 79">
              <a:extLst>
                <a:ext uri="{FF2B5EF4-FFF2-40B4-BE49-F238E27FC236}">
                  <a16:creationId xmlns:a16="http://schemas.microsoft.com/office/drawing/2014/main" id="{841F0AA1-D12D-4FDB-BF66-D9398ED9303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6934" y="3145536"/>
              <a:ext cx="2478024" cy="612648"/>
            </a:xfrm>
            <a:prstGeom prst="rect">
              <a:avLst/>
            </a:prstGeom>
          </p:spPr>
        </p:pic>
        <p:sp>
          <p:nvSpPr>
            <p:cNvPr id="81" name="Rounded Rectangle 20">
              <a:extLst>
                <a:ext uri="{FF2B5EF4-FFF2-40B4-BE49-F238E27FC236}">
                  <a16:creationId xmlns:a16="http://schemas.microsoft.com/office/drawing/2014/main" id="{E2B949DE-0178-4942-80DE-811C1AA4F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17803" y="3124921"/>
              <a:ext cx="45720" cy="658368"/>
            </a:xfrm>
            <a:prstGeom prst="roundRect">
              <a:avLst>
                <a:gd name="adj" fmla="val 50000"/>
              </a:avLst>
            </a:prstGeom>
            <a:solidFill>
              <a:schemeClr val="tx2">
                <a:alpha val="55000"/>
              </a:schemeClr>
            </a:solidFill>
            <a:ln w="9525">
              <a:noFill/>
            </a:ln>
            <a:effectLst>
              <a:innerShdw blurRad="114300">
                <a:prstClr val="black">
                  <a:alpha val="4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2" name="Picture 81">
              <a:extLst>
                <a:ext uri="{FF2B5EF4-FFF2-40B4-BE49-F238E27FC236}">
                  <a16:creationId xmlns:a16="http://schemas.microsoft.com/office/drawing/2014/main" id="{284AA86D-EAE1-4E3F-A54C-7F1E390B6DF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9736202" y="3145536"/>
              <a:ext cx="2478024" cy="612648"/>
            </a:xfrm>
            <a:prstGeom prst="rect">
              <a:avLst/>
            </a:prstGeom>
          </p:spPr>
        </p:pic>
      </p:grpSp>
      <p:sp>
        <p:nvSpPr>
          <p:cNvPr id="2" name="Title 1">
            <a:extLst>
              <a:ext uri="{FF2B5EF4-FFF2-40B4-BE49-F238E27FC236}">
                <a16:creationId xmlns:a16="http://schemas.microsoft.com/office/drawing/2014/main" id="{BAB35320-2CD1-89E4-1769-D3685E1BB89E}"/>
              </a:ext>
            </a:extLst>
          </p:cNvPr>
          <p:cNvSpPr>
            <a:spLocks noGrp="1"/>
          </p:cNvSpPr>
          <p:nvPr>
            <p:ph type="title"/>
          </p:nvPr>
        </p:nvSpPr>
        <p:spPr>
          <a:xfrm>
            <a:off x="2692398" y="1871131"/>
            <a:ext cx="6815669" cy="1515533"/>
          </a:xfrm>
        </p:spPr>
        <p:txBody>
          <a:bodyPr vert="horz" lIns="91440" tIns="45720" rIns="91440" bIns="45720" rtlCol="0" anchor="b">
            <a:normAutofit/>
          </a:bodyPr>
          <a:lstStyle/>
          <a:p>
            <a:pPr>
              <a:lnSpc>
                <a:spcPct val="90000"/>
              </a:lnSpc>
            </a:pPr>
            <a:r>
              <a:rPr lang="en-US" sz="3500" dirty="0">
                <a:solidFill>
                  <a:schemeClr val="bg1"/>
                </a:solidFill>
              </a:rPr>
              <a:t>Shawm House                                      Site Analysis Diagram</a:t>
            </a:r>
          </a:p>
        </p:txBody>
      </p:sp>
      <p:cxnSp>
        <p:nvCxnSpPr>
          <p:cNvPr id="84" name="Straight Connector 83">
            <a:extLst>
              <a:ext uri="{FF2B5EF4-FFF2-40B4-BE49-F238E27FC236}">
                <a16:creationId xmlns:a16="http://schemas.microsoft.com/office/drawing/2014/main" id="{0772CE55-4C36-44F1-A9BD-379BEB84317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2748011C-AD03-C2B2-3AAE-A1673BBA4C6D}"/>
              </a:ext>
            </a:extLst>
          </p:cNvPr>
          <p:cNvSpPr txBox="1"/>
          <p:nvPr/>
        </p:nvSpPr>
        <p:spPr>
          <a:xfrm>
            <a:off x="2597501" y="3558635"/>
            <a:ext cx="7045559" cy="1831271"/>
          </a:xfrm>
          <a:prstGeom prst="rect">
            <a:avLst/>
          </a:prstGeom>
          <a:noFill/>
        </p:spPr>
        <p:txBody>
          <a:bodyPr wrap="square" rtlCol="0">
            <a:spAutoFit/>
          </a:bodyPr>
          <a:lstStyle/>
          <a:p>
            <a:r>
              <a:rPr lang="en-US" sz="1050" dirty="0">
                <a:solidFill>
                  <a:schemeClr val="bg1"/>
                </a:solidFill>
              </a:rPr>
              <a:t>In the following Site Analysis Diagram, the new build and existing buildings have been </a:t>
            </a:r>
            <a:r>
              <a:rPr lang="en-US" sz="1050" dirty="0" err="1">
                <a:solidFill>
                  <a:schemeClr val="bg1"/>
                </a:solidFill>
              </a:rPr>
              <a:t>colour</a:t>
            </a:r>
            <a:r>
              <a:rPr lang="en-US" sz="1050" dirty="0">
                <a:solidFill>
                  <a:schemeClr val="bg1"/>
                </a:solidFill>
              </a:rPr>
              <a:t> coded for quick identification. As indicated by the north direction arrow, in the new build two bedrooms on the ground floor, and the living areas and kitchen on the first floor, are on the north facing side. The glazing of these rooms makes use of natural daylight, </a:t>
            </a:r>
            <a:r>
              <a:rPr lang="en-US" sz="1050" dirty="0" err="1">
                <a:solidFill>
                  <a:schemeClr val="bg1"/>
                </a:solidFill>
              </a:rPr>
              <a:t>minimising</a:t>
            </a:r>
            <a:r>
              <a:rPr lang="en-US" sz="1050" dirty="0">
                <a:solidFill>
                  <a:schemeClr val="bg1"/>
                </a:solidFill>
              </a:rPr>
              <a:t> the need for artificial lighting. The kitchen has two west facing vertical windows and glazed doors however some protection is provided from the eave overhang and triple glazing. The stone stable has been reconfigured to house a bedroom, bathroom and lounge area. All feature glazing on the east side, while the lounge area also features a large south facing window. </a:t>
            </a:r>
            <a:endParaRPr lang="en-US" sz="400" dirty="0">
              <a:solidFill>
                <a:schemeClr val="bg1"/>
              </a:solidFill>
            </a:endParaRPr>
          </a:p>
          <a:p>
            <a:r>
              <a:rPr lang="en-US" sz="400" dirty="0">
                <a:solidFill>
                  <a:schemeClr val="bg1"/>
                </a:solidFill>
              </a:rPr>
              <a:t>  </a:t>
            </a:r>
          </a:p>
          <a:p>
            <a:r>
              <a:rPr lang="en-US" sz="1050" dirty="0">
                <a:solidFill>
                  <a:schemeClr val="bg1"/>
                </a:solidFill>
              </a:rPr>
              <a:t>The prevailing winter wind comes from the north-east, while the summer wind is from the south-west. The existing stone wall has been retained in the design and provides protection from prevailing winds. </a:t>
            </a:r>
            <a:endParaRPr lang="en-US" sz="400" dirty="0">
              <a:solidFill>
                <a:schemeClr val="bg1"/>
              </a:solidFill>
            </a:endParaRPr>
          </a:p>
          <a:p>
            <a:r>
              <a:rPr lang="en-US" sz="400" dirty="0">
                <a:solidFill>
                  <a:schemeClr val="bg1"/>
                </a:solidFill>
              </a:rPr>
              <a:t> </a:t>
            </a:r>
          </a:p>
          <a:p>
            <a:r>
              <a:rPr lang="en-US" sz="1050" dirty="0">
                <a:solidFill>
                  <a:schemeClr val="bg1"/>
                </a:solidFill>
              </a:rPr>
              <a:t>Vehicular access routes are designed to provide access to each of the buildings on the site while also offering privacy to residents. The inclusion of stone gravel on the driveways enables stormwater to be absorbed, </a:t>
            </a:r>
            <a:r>
              <a:rPr lang="en-US" sz="1050" dirty="0" err="1">
                <a:solidFill>
                  <a:schemeClr val="bg1"/>
                </a:solidFill>
              </a:rPr>
              <a:t>minimising</a:t>
            </a:r>
            <a:r>
              <a:rPr lang="en-US" sz="1050" dirty="0">
                <a:solidFill>
                  <a:schemeClr val="bg1"/>
                </a:solidFill>
              </a:rPr>
              <a:t> run off.</a:t>
            </a:r>
            <a:endParaRPr lang="en-AU" sz="1050" dirty="0">
              <a:solidFill>
                <a:schemeClr val="bg1"/>
              </a:solidFill>
            </a:endParaRPr>
          </a:p>
        </p:txBody>
      </p:sp>
    </p:spTree>
    <p:extLst>
      <p:ext uri="{BB962C8B-B14F-4D97-AF65-F5344CB8AC3E}">
        <p14:creationId xmlns:p14="http://schemas.microsoft.com/office/powerpoint/2010/main" val="1059224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5" name="Group 104">
            <a:extLst>
              <a:ext uri="{FF2B5EF4-FFF2-40B4-BE49-F238E27FC236}">
                <a16:creationId xmlns:a16="http://schemas.microsoft.com/office/drawing/2014/main" id="{5066F8AE-A5C7-4B3E-B1DA-D0B624059BE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106" name="Picture 105">
              <a:extLst>
                <a:ext uri="{FF2B5EF4-FFF2-40B4-BE49-F238E27FC236}">
                  <a16:creationId xmlns:a16="http://schemas.microsoft.com/office/drawing/2014/main" id="{F78E901E-6697-44E3-9533-1457FA4F0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07" name="Rectangle 106">
              <a:extLst>
                <a:ext uri="{FF2B5EF4-FFF2-40B4-BE49-F238E27FC236}">
                  <a16:creationId xmlns:a16="http://schemas.microsoft.com/office/drawing/2014/main" id="{C515452A-514A-4763-9932-37302A8D6D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AU"/>
            </a:p>
          </p:txBody>
        </p:sp>
        <p:pic>
          <p:nvPicPr>
            <p:cNvPr id="108" name="Picture 107">
              <a:extLst>
                <a:ext uri="{FF2B5EF4-FFF2-40B4-BE49-F238E27FC236}">
                  <a16:creationId xmlns:a16="http://schemas.microsoft.com/office/drawing/2014/main" id="{D0EC146D-CF08-4B34-ADEB-2F0296F98A14}"/>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09" name="Picture 108">
              <a:extLst>
                <a:ext uri="{FF2B5EF4-FFF2-40B4-BE49-F238E27FC236}">
                  <a16:creationId xmlns:a16="http://schemas.microsoft.com/office/drawing/2014/main" id="{E1FBA240-87AB-400A-9292-7DC6F3E5521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useBgFill="1">
        <p:nvSpPr>
          <p:cNvPr id="111" name="Rectangle 110">
            <a:extLst>
              <a:ext uri="{FF2B5EF4-FFF2-40B4-BE49-F238E27FC236}">
                <a16:creationId xmlns:a16="http://schemas.microsoft.com/office/drawing/2014/main" id="{7193F1A9-EED8-46C5-A64D-C219BE030B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diagram of a building&#10;&#10;Description automatically generated">
            <a:extLst>
              <a:ext uri="{FF2B5EF4-FFF2-40B4-BE49-F238E27FC236}">
                <a16:creationId xmlns:a16="http://schemas.microsoft.com/office/drawing/2014/main" id="{98D5A2A4-715A-B45F-962B-7EBA8E6E2DC7}"/>
              </a:ext>
            </a:extLst>
          </p:cNvPr>
          <p:cNvPicPr>
            <a:picLocks noChangeAspect="1"/>
          </p:cNvPicPr>
          <p:nvPr/>
        </p:nvPicPr>
        <p:blipFill rotWithShape="1">
          <a:blip r:embed="rId4"/>
          <a:srcRect t="3220" r="-1" b="-1"/>
          <a:stretch/>
        </p:blipFill>
        <p:spPr>
          <a:xfrm>
            <a:off x="945224" y="874215"/>
            <a:ext cx="10301551" cy="5109569"/>
          </a:xfrm>
          <a:prstGeom prst="rect">
            <a:avLst/>
          </a:prstGeom>
        </p:spPr>
      </p:pic>
      <p:sp>
        <p:nvSpPr>
          <p:cNvPr id="123" name="Rectangle 122">
            <a:extLst>
              <a:ext uri="{FF2B5EF4-FFF2-40B4-BE49-F238E27FC236}">
                <a16:creationId xmlns:a16="http://schemas.microsoft.com/office/drawing/2014/main" id="{ECE6865D-C104-4F99-86B8-B6E914940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4611" y="350556"/>
            <a:ext cx="11542779" cy="6156888"/>
          </a:xfrm>
          <a:prstGeom prst="rect">
            <a:avLst/>
          </a:prstGeom>
          <a:noFill/>
          <a:ln w="25400" cap="flat">
            <a:solidFill>
              <a:srgbClr val="F5C077"/>
            </a:solidFill>
            <a:miter lim="800000"/>
          </a:ln>
        </p:spPr>
        <p:style>
          <a:lnRef idx="1">
            <a:schemeClr val="accent1"/>
          </a:lnRef>
          <a:fillRef idx="3">
            <a:schemeClr val="accent1"/>
          </a:fillRef>
          <a:effectRef idx="2">
            <a:schemeClr val="accent1"/>
          </a:effectRef>
          <a:fontRef idx="minor">
            <a:schemeClr val="lt1"/>
          </a:fontRef>
        </p:style>
        <p:txBody>
          <a:bodyPr/>
          <a:lstStyle/>
          <a:p>
            <a:endParaRPr lang="en-AU"/>
          </a:p>
        </p:txBody>
      </p:sp>
    </p:spTree>
    <p:extLst>
      <p:ext uri="{BB962C8B-B14F-4D97-AF65-F5344CB8AC3E}">
        <p14:creationId xmlns:p14="http://schemas.microsoft.com/office/powerpoint/2010/main" val="8113636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grpSp>
        <p:nvGrpSpPr>
          <p:cNvPr id="64" name="Group 63">
            <a:extLst>
              <a:ext uri="{FF2B5EF4-FFF2-40B4-BE49-F238E27FC236}">
                <a16:creationId xmlns:a16="http://schemas.microsoft.com/office/drawing/2014/main" id="{7575D7A7-3C36-4508-9BC6-70A93BD3C4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934" y="0"/>
            <a:ext cx="12231160" cy="6856214"/>
            <a:chOff x="-16934" y="0"/>
            <a:chExt cx="12231160" cy="6856214"/>
          </a:xfrm>
        </p:grpSpPr>
        <p:pic>
          <p:nvPicPr>
            <p:cNvPr id="65" name="Picture 64">
              <a:extLst>
                <a:ext uri="{FF2B5EF4-FFF2-40B4-BE49-F238E27FC236}">
                  <a16:creationId xmlns:a16="http://schemas.microsoft.com/office/drawing/2014/main" id="{BC964A0D-06B7-4C16-AC9F-20ADDA8059E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66" name="Rectangle 65">
              <a:extLst>
                <a:ext uri="{FF2B5EF4-FFF2-40B4-BE49-F238E27FC236}">
                  <a16:creationId xmlns:a16="http://schemas.microsoft.com/office/drawing/2014/main" id="{F5703F5C-55DF-45CD-BC3F-3BE8F1033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en-AU"/>
            </a:p>
          </p:txBody>
        </p:sp>
        <p:pic>
          <p:nvPicPr>
            <p:cNvPr id="67" name="Picture 66">
              <a:extLst>
                <a:ext uri="{FF2B5EF4-FFF2-40B4-BE49-F238E27FC236}">
                  <a16:creationId xmlns:a16="http://schemas.microsoft.com/office/drawing/2014/main" id="{A8C7134F-70F9-4826-A97E-9B39AEA08F5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68" name="Picture 67">
              <a:extLst>
                <a:ext uri="{FF2B5EF4-FFF2-40B4-BE49-F238E27FC236}">
                  <a16:creationId xmlns:a16="http://schemas.microsoft.com/office/drawing/2014/main" id="{39351E73-B6DD-4B56-8EE9-C16B5711C46D}"/>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cxnSp>
        <p:nvCxnSpPr>
          <p:cNvPr id="70" name="Straight Connector 69">
            <a:extLst>
              <a:ext uri="{FF2B5EF4-FFF2-40B4-BE49-F238E27FC236}">
                <a16:creationId xmlns:a16="http://schemas.microsoft.com/office/drawing/2014/main" id="{AE446D0E-6531-40B7-A182-FB860243977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 useBgFill="1">
        <p:nvSpPr>
          <p:cNvPr id="72" name="Rectangle 71">
            <a:extLst>
              <a:ext uri="{FF2B5EF4-FFF2-40B4-BE49-F238E27FC236}">
                <a16:creationId xmlns:a16="http://schemas.microsoft.com/office/drawing/2014/main" id="{D59C2C63-D709-4949-9465-29A52CBEDD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0EFD2038-15D6-4003-8350-AFEC394EEF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920" y="1399880"/>
            <a:ext cx="7808159" cy="4103960"/>
          </a:xfrm>
          <a:prstGeom prst="rect">
            <a:avLst/>
          </a:prstGeom>
          <a:solidFill>
            <a:schemeClr val="tx2">
              <a:lumMod val="90000"/>
              <a:lumOff val="10000"/>
            </a:schemeClr>
          </a:solid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tx2">
                <a:lumMod val="75000"/>
                <a:lumOff val="25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8CF519C2-F6BE-41BE-A50E-54B98359C9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solidFill>
              <a:schemeClr val="accent1"/>
            </a:solidFill>
            <a:miter lim="800000"/>
          </a:ln>
        </p:spPr>
        <p:style>
          <a:lnRef idx="1">
            <a:schemeClr val="accent1"/>
          </a:lnRef>
          <a:fillRef idx="3">
            <a:schemeClr val="accent1"/>
          </a:fillRef>
          <a:effectRef idx="2">
            <a:schemeClr val="accent1"/>
          </a:effectRef>
          <a:fontRef idx="minor">
            <a:schemeClr val="lt1"/>
          </a:fontRef>
        </p:style>
        <p:txBody>
          <a:bodyPr/>
          <a:lstStyle/>
          <a:p>
            <a:endParaRPr lang="en-AU"/>
          </a:p>
        </p:txBody>
      </p:sp>
      <p:grpSp>
        <p:nvGrpSpPr>
          <p:cNvPr id="78" name="Group 77">
            <a:extLst>
              <a:ext uri="{FF2B5EF4-FFF2-40B4-BE49-F238E27FC236}">
                <a16:creationId xmlns:a16="http://schemas.microsoft.com/office/drawing/2014/main" id="{7767AD93-AD3E-4C62-97D5-E54E14B2EAD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23631"/>
            <a:ext cx="12231160" cy="659658"/>
            <a:chOff x="-16934" y="3123631"/>
            <a:chExt cx="12231160" cy="659658"/>
          </a:xfrm>
        </p:grpSpPr>
        <p:sp>
          <p:nvSpPr>
            <p:cNvPr id="79" name="Rounded Rectangle 17">
              <a:extLst>
                <a:ext uri="{FF2B5EF4-FFF2-40B4-BE49-F238E27FC236}">
                  <a16:creationId xmlns:a16="http://schemas.microsoft.com/office/drawing/2014/main" id="{AA443E8D-EC07-4B8F-B370-2A1153F350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430976" y="3123631"/>
              <a:ext cx="45720" cy="658368"/>
            </a:xfrm>
            <a:prstGeom prst="roundRect">
              <a:avLst>
                <a:gd name="adj" fmla="val 50000"/>
              </a:avLst>
            </a:prstGeom>
            <a:solidFill>
              <a:schemeClr val="tx2">
                <a:alpha val="55000"/>
              </a:schemeClr>
            </a:solidFill>
            <a:ln w="9525">
              <a:noFill/>
            </a:ln>
            <a:effectLst>
              <a:innerShdw blurRad="114300">
                <a:prstClr val="black">
                  <a:alpha val="4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0" name="Picture 79">
              <a:extLst>
                <a:ext uri="{FF2B5EF4-FFF2-40B4-BE49-F238E27FC236}">
                  <a16:creationId xmlns:a16="http://schemas.microsoft.com/office/drawing/2014/main" id="{841F0AA1-D12D-4FDB-BF66-D9398ED9303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6934" y="3145536"/>
              <a:ext cx="2478024" cy="612648"/>
            </a:xfrm>
            <a:prstGeom prst="rect">
              <a:avLst/>
            </a:prstGeom>
          </p:spPr>
        </p:pic>
        <p:sp>
          <p:nvSpPr>
            <p:cNvPr id="81" name="Rounded Rectangle 20">
              <a:extLst>
                <a:ext uri="{FF2B5EF4-FFF2-40B4-BE49-F238E27FC236}">
                  <a16:creationId xmlns:a16="http://schemas.microsoft.com/office/drawing/2014/main" id="{E2B949DE-0178-4942-80DE-811C1AA4F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17803" y="3124921"/>
              <a:ext cx="45720" cy="658368"/>
            </a:xfrm>
            <a:prstGeom prst="roundRect">
              <a:avLst>
                <a:gd name="adj" fmla="val 50000"/>
              </a:avLst>
            </a:prstGeom>
            <a:solidFill>
              <a:schemeClr val="tx2">
                <a:alpha val="55000"/>
              </a:schemeClr>
            </a:solidFill>
            <a:ln w="9525">
              <a:noFill/>
            </a:ln>
            <a:effectLst>
              <a:innerShdw blurRad="114300">
                <a:prstClr val="black">
                  <a:alpha val="4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2" name="Picture 81">
              <a:extLst>
                <a:ext uri="{FF2B5EF4-FFF2-40B4-BE49-F238E27FC236}">
                  <a16:creationId xmlns:a16="http://schemas.microsoft.com/office/drawing/2014/main" id="{284AA86D-EAE1-4E3F-A54C-7F1E390B6DF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9736202" y="3145536"/>
              <a:ext cx="2478024" cy="612648"/>
            </a:xfrm>
            <a:prstGeom prst="rect">
              <a:avLst/>
            </a:prstGeom>
          </p:spPr>
        </p:pic>
      </p:grpSp>
      <p:sp>
        <p:nvSpPr>
          <p:cNvPr id="2" name="Title 1">
            <a:extLst>
              <a:ext uri="{FF2B5EF4-FFF2-40B4-BE49-F238E27FC236}">
                <a16:creationId xmlns:a16="http://schemas.microsoft.com/office/drawing/2014/main" id="{BAB35320-2CD1-89E4-1769-D3685E1BB89E}"/>
              </a:ext>
            </a:extLst>
          </p:cNvPr>
          <p:cNvSpPr>
            <a:spLocks noGrp="1"/>
          </p:cNvSpPr>
          <p:nvPr>
            <p:ph type="title"/>
          </p:nvPr>
        </p:nvSpPr>
        <p:spPr>
          <a:xfrm>
            <a:off x="2692399" y="2169757"/>
            <a:ext cx="6815668" cy="1216907"/>
          </a:xfrm>
        </p:spPr>
        <p:txBody>
          <a:bodyPr vert="horz" lIns="91440" tIns="45720" rIns="91440" bIns="45720" rtlCol="0" anchor="b">
            <a:normAutofit/>
          </a:bodyPr>
          <a:lstStyle/>
          <a:p>
            <a:pPr>
              <a:lnSpc>
                <a:spcPct val="90000"/>
              </a:lnSpc>
            </a:pPr>
            <a:r>
              <a:rPr lang="en-US" sz="3500">
                <a:solidFill>
                  <a:schemeClr val="bg1"/>
                </a:solidFill>
              </a:rPr>
              <a:t>Shawm House                                          Floor Plan Analysis Diagram</a:t>
            </a:r>
            <a:endParaRPr lang="en-US" sz="3500" dirty="0">
              <a:solidFill>
                <a:schemeClr val="bg1"/>
              </a:solidFill>
            </a:endParaRPr>
          </a:p>
        </p:txBody>
      </p:sp>
      <p:cxnSp>
        <p:nvCxnSpPr>
          <p:cNvPr id="84" name="Straight Connector 83">
            <a:extLst>
              <a:ext uri="{FF2B5EF4-FFF2-40B4-BE49-F238E27FC236}">
                <a16:creationId xmlns:a16="http://schemas.microsoft.com/office/drawing/2014/main" id="{0772CE55-4C36-44F1-A9BD-379BEB84317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1AE8BA15-44D4-5313-001E-36D63BDD9498}"/>
              </a:ext>
            </a:extLst>
          </p:cNvPr>
          <p:cNvSpPr txBox="1"/>
          <p:nvPr/>
        </p:nvSpPr>
        <p:spPr>
          <a:xfrm>
            <a:off x="2589767" y="3522131"/>
            <a:ext cx="7009290" cy="2062103"/>
          </a:xfrm>
          <a:prstGeom prst="rect">
            <a:avLst/>
          </a:prstGeom>
          <a:noFill/>
        </p:spPr>
        <p:txBody>
          <a:bodyPr wrap="square" rtlCol="0">
            <a:spAutoFit/>
          </a:bodyPr>
          <a:lstStyle/>
          <a:p>
            <a:r>
              <a:rPr lang="en-US" sz="1050" dirty="0">
                <a:solidFill>
                  <a:schemeClr val="bg1"/>
                </a:solidFill>
              </a:rPr>
              <a:t>In the following Floor Plan Analysis Diagram, cross ventilation is provided by the well positioned windows and doors throughout and the openable skylight windows in the roof of the stone stable and upper windows on the first floor of the new build. Inclusion of the skylights and upper windows enables any rising heat in the build to be purged at night.</a:t>
            </a:r>
            <a:r>
              <a:rPr lang="en-US" sz="400" dirty="0">
                <a:solidFill>
                  <a:schemeClr val="bg1"/>
                </a:solidFill>
              </a:rPr>
              <a:t>   </a:t>
            </a:r>
          </a:p>
          <a:p>
            <a:r>
              <a:rPr lang="en-US" sz="400" dirty="0">
                <a:solidFill>
                  <a:schemeClr val="bg1"/>
                </a:solidFill>
              </a:rPr>
              <a:t> </a:t>
            </a:r>
          </a:p>
          <a:p>
            <a:r>
              <a:rPr lang="en-US" sz="1050" dirty="0">
                <a:solidFill>
                  <a:schemeClr val="bg1"/>
                </a:solidFill>
              </a:rPr>
              <a:t>With the existing stone wall and the stone side of the stable, the build is protected from the prevailing winds and the occasional      30 deg Celsius high of summer, and 0 deg Celsius low of winter.</a:t>
            </a:r>
            <a:endParaRPr lang="en-US" sz="400" dirty="0">
              <a:solidFill>
                <a:schemeClr val="bg1"/>
              </a:solidFill>
            </a:endParaRPr>
          </a:p>
          <a:p>
            <a:r>
              <a:rPr lang="en-US" sz="400" dirty="0">
                <a:solidFill>
                  <a:schemeClr val="bg1"/>
                </a:solidFill>
              </a:rPr>
              <a:t> </a:t>
            </a:r>
          </a:p>
          <a:p>
            <a:r>
              <a:rPr lang="en-US" sz="1050" dirty="0">
                <a:solidFill>
                  <a:schemeClr val="bg1"/>
                </a:solidFill>
              </a:rPr>
              <a:t>Access throughout the ground floor is via the hallway. Doors segregate the hallway into two parts, while the entry door to each room off the hallway provides privacy to each while also enabling noise control. Access to the first floor is via the staircase (or lift) and the open living area offers easy access to each room and the external balcony.</a:t>
            </a:r>
            <a:endParaRPr lang="en-US" sz="400" dirty="0">
              <a:solidFill>
                <a:schemeClr val="bg1"/>
              </a:solidFill>
            </a:endParaRPr>
          </a:p>
          <a:p>
            <a:r>
              <a:rPr lang="en-US" sz="400" dirty="0">
                <a:solidFill>
                  <a:schemeClr val="bg1"/>
                </a:solidFill>
              </a:rPr>
              <a:t> </a:t>
            </a:r>
          </a:p>
          <a:p>
            <a:r>
              <a:rPr lang="en-US" sz="1050" dirty="0">
                <a:solidFill>
                  <a:schemeClr val="bg1"/>
                </a:solidFill>
              </a:rPr>
              <a:t>The majority of rooms in the new build and renovated stable face in the northern or eastern direction which affords each room       a rural view and therefore overlooking the existing buildings on the site is avoided.</a:t>
            </a:r>
          </a:p>
          <a:p>
            <a:endParaRPr lang="en-AU" sz="1100" dirty="0">
              <a:solidFill>
                <a:schemeClr val="bg1"/>
              </a:solidFill>
            </a:endParaRPr>
          </a:p>
        </p:txBody>
      </p:sp>
    </p:spTree>
    <p:extLst>
      <p:ext uri="{BB962C8B-B14F-4D97-AF65-F5344CB8AC3E}">
        <p14:creationId xmlns:p14="http://schemas.microsoft.com/office/powerpoint/2010/main" val="2990341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5" name="Group 104">
            <a:extLst>
              <a:ext uri="{FF2B5EF4-FFF2-40B4-BE49-F238E27FC236}">
                <a16:creationId xmlns:a16="http://schemas.microsoft.com/office/drawing/2014/main" id="{5066F8AE-A5C7-4B3E-B1DA-D0B624059BE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106" name="Picture 105">
              <a:extLst>
                <a:ext uri="{FF2B5EF4-FFF2-40B4-BE49-F238E27FC236}">
                  <a16:creationId xmlns:a16="http://schemas.microsoft.com/office/drawing/2014/main" id="{F78E901E-6697-44E3-9533-1457FA4F0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07" name="Rectangle 106">
              <a:extLst>
                <a:ext uri="{FF2B5EF4-FFF2-40B4-BE49-F238E27FC236}">
                  <a16:creationId xmlns:a16="http://schemas.microsoft.com/office/drawing/2014/main" id="{C515452A-514A-4763-9932-37302A8D6D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AU"/>
            </a:p>
          </p:txBody>
        </p:sp>
        <p:pic>
          <p:nvPicPr>
            <p:cNvPr id="108" name="Picture 107">
              <a:extLst>
                <a:ext uri="{FF2B5EF4-FFF2-40B4-BE49-F238E27FC236}">
                  <a16:creationId xmlns:a16="http://schemas.microsoft.com/office/drawing/2014/main" id="{D0EC146D-CF08-4B34-ADEB-2F0296F98A14}"/>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09" name="Picture 108">
              <a:extLst>
                <a:ext uri="{FF2B5EF4-FFF2-40B4-BE49-F238E27FC236}">
                  <a16:creationId xmlns:a16="http://schemas.microsoft.com/office/drawing/2014/main" id="{E1FBA240-87AB-400A-9292-7DC6F3E5521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useBgFill="1">
        <p:nvSpPr>
          <p:cNvPr id="111" name="Rectangle 110">
            <a:extLst>
              <a:ext uri="{FF2B5EF4-FFF2-40B4-BE49-F238E27FC236}">
                <a16:creationId xmlns:a16="http://schemas.microsoft.com/office/drawing/2014/main" id="{7193F1A9-EED8-46C5-A64D-C219BE030B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ECE6865D-C104-4F99-86B8-B6E914940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4611" y="350556"/>
            <a:ext cx="11542779" cy="6156888"/>
          </a:xfrm>
          <a:prstGeom prst="rect">
            <a:avLst/>
          </a:prstGeom>
          <a:noFill/>
          <a:ln w="25400" cap="flat">
            <a:solidFill>
              <a:srgbClr val="F5C077"/>
            </a:solidFill>
            <a:miter lim="800000"/>
          </a:ln>
        </p:spPr>
        <p:style>
          <a:lnRef idx="1">
            <a:schemeClr val="accent1"/>
          </a:lnRef>
          <a:fillRef idx="3">
            <a:schemeClr val="accent1"/>
          </a:fillRef>
          <a:effectRef idx="2">
            <a:schemeClr val="accent1"/>
          </a:effectRef>
          <a:fontRef idx="minor">
            <a:schemeClr val="lt1"/>
          </a:fontRef>
        </p:style>
        <p:txBody>
          <a:bodyPr/>
          <a:lstStyle/>
          <a:p>
            <a:endParaRPr lang="en-AU"/>
          </a:p>
        </p:txBody>
      </p:sp>
      <p:pic>
        <p:nvPicPr>
          <p:cNvPr id="3" name="Picture 2">
            <a:extLst>
              <a:ext uri="{FF2B5EF4-FFF2-40B4-BE49-F238E27FC236}">
                <a16:creationId xmlns:a16="http://schemas.microsoft.com/office/drawing/2014/main" id="{761C7370-5934-5198-5D1F-2CA32ECBB527}"/>
              </a:ext>
            </a:extLst>
          </p:cNvPr>
          <p:cNvPicPr>
            <a:picLocks noChangeAspect="1"/>
          </p:cNvPicPr>
          <p:nvPr/>
        </p:nvPicPr>
        <p:blipFill>
          <a:blip r:embed="rId4"/>
          <a:srcRect/>
          <a:stretch/>
        </p:blipFill>
        <p:spPr>
          <a:xfrm>
            <a:off x="2612360" y="572533"/>
            <a:ext cx="6964103" cy="5711147"/>
          </a:xfrm>
          <a:prstGeom prst="rect">
            <a:avLst/>
          </a:prstGeom>
        </p:spPr>
      </p:pic>
    </p:spTree>
    <p:extLst>
      <p:ext uri="{BB962C8B-B14F-4D97-AF65-F5344CB8AC3E}">
        <p14:creationId xmlns:p14="http://schemas.microsoft.com/office/powerpoint/2010/main" val="28871543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5" name="Group 104">
            <a:extLst>
              <a:ext uri="{FF2B5EF4-FFF2-40B4-BE49-F238E27FC236}">
                <a16:creationId xmlns:a16="http://schemas.microsoft.com/office/drawing/2014/main" id="{5066F8AE-A5C7-4B3E-B1DA-D0B624059BE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106" name="Picture 105">
              <a:extLst>
                <a:ext uri="{FF2B5EF4-FFF2-40B4-BE49-F238E27FC236}">
                  <a16:creationId xmlns:a16="http://schemas.microsoft.com/office/drawing/2014/main" id="{F78E901E-6697-44E3-9533-1457FA4F0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07" name="Rectangle 106">
              <a:extLst>
                <a:ext uri="{FF2B5EF4-FFF2-40B4-BE49-F238E27FC236}">
                  <a16:creationId xmlns:a16="http://schemas.microsoft.com/office/drawing/2014/main" id="{C515452A-514A-4763-9932-37302A8D6D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AU"/>
            </a:p>
          </p:txBody>
        </p:sp>
        <p:pic>
          <p:nvPicPr>
            <p:cNvPr id="108" name="Picture 107">
              <a:extLst>
                <a:ext uri="{FF2B5EF4-FFF2-40B4-BE49-F238E27FC236}">
                  <a16:creationId xmlns:a16="http://schemas.microsoft.com/office/drawing/2014/main" id="{D0EC146D-CF08-4B34-ADEB-2F0296F98A14}"/>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09" name="Picture 108">
              <a:extLst>
                <a:ext uri="{FF2B5EF4-FFF2-40B4-BE49-F238E27FC236}">
                  <a16:creationId xmlns:a16="http://schemas.microsoft.com/office/drawing/2014/main" id="{E1FBA240-87AB-400A-9292-7DC6F3E5521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useBgFill="1">
        <p:nvSpPr>
          <p:cNvPr id="111" name="Rectangle 110">
            <a:extLst>
              <a:ext uri="{FF2B5EF4-FFF2-40B4-BE49-F238E27FC236}">
                <a16:creationId xmlns:a16="http://schemas.microsoft.com/office/drawing/2014/main" id="{7193F1A9-EED8-46C5-A64D-C219BE030B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ECE6865D-C104-4F99-86B8-B6E914940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4611" y="350556"/>
            <a:ext cx="11542779" cy="6156888"/>
          </a:xfrm>
          <a:prstGeom prst="rect">
            <a:avLst/>
          </a:prstGeom>
          <a:noFill/>
          <a:ln w="25400" cap="flat">
            <a:solidFill>
              <a:srgbClr val="F5C077"/>
            </a:solidFill>
            <a:miter lim="800000"/>
          </a:ln>
        </p:spPr>
        <p:style>
          <a:lnRef idx="1">
            <a:schemeClr val="accent1"/>
          </a:lnRef>
          <a:fillRef idx="3">
            <a:schemeClr val="accent1"/>
          </a:fillRef>
          <a:effectRef idx="2">
            <a:schemeClr val="accent1"/>
          </a:effectRef>
          <a:fontRef idx="minor">
            <a:schemeClr val="lt1"/>
          </a:fontRef>
        </p:style>
        <p:txBody>
          <a:bodyPr/>
          <a:lstStyle/>
          <a:p>
            <a:endParaRPr lang="en-AU"/>
          </a:p>
        </p:txBody>
      </p:sp>
      <p:pic>
        <p:nvPicPr>
          <p:cNvPr id="3" name="Picture 2">
            <a:extLst>
              <a:ext uri="{FF2B5EF4-FFF2-40B4-BE49-F238E27FC236}">
                <a16:creationId xmlns:a16="http://schemas.microsoft.com/office/drawing/2014/main" id="{577B3EEC-7B5A-F950-E8D7-B9FE48F07B09}"/>
              </a:ext>
            </a:extLst>
          </p:cNvPr>
          <p:cNvPicPr>
            <a:picLocks noChangeAspect="1"/>
          </p:cNvPicPr>
          <p:nvPr/>
        </p:nvPicPr>
        <p:blipFill>
          <a:blip r:embed="rId4"/>
          <a:srcRect/>
          <a:stretch/>
        </p:blipFill>
        <p:spPr>
          <a:xfrm>
            <a:off x="2356581" y="595582"/>
            <a:ext cx="7478837" cy="5666834"/>
          </a:xfrm>
          <a:prstGeom prst="rect">
            <a:avLst/>
          </a:prstGeom>
        </p:spPr>
      </p:pic>
    </p:spTree>
    <p:extLst>
      <p:ext uri="{BB962C8B-B14F-4D97-AF65-F5344CB8AC3E}">
        <p14:creationId xmlns:p14="http://schemas.microsoft.com/office/powerpoint/2010/main" val="1306887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FA19B-887F-8609-8F59-9319ED5EA629}"/>
              </a:ext>
            </a:extLst>
          </p:cNvPr>
          <p:cNvSpPr>
            <a:spLocks noGrp="1"/>
          </p:cNvSpPr>
          <p:nvPr>
            <p:ph type="title"/>
          </p:nvPr>
        </p:nvSpPr>
        <p:spPr/>
        <p:txBody>
          <a:bodyPr>
            <a:normAutofit/>
          </a:bodyPr>
          <a:lstStyle/>
          <a:p>
            <a:r>
              <a:rPr lang="en-US" sz="3500" dirty="0"/>
              <a:t>Shawm House - Model Making</a:t>
            </a:r>
            <a:endParaRPr lang="en-AU" sz="3500" dirty="0"/>
          </a:p>
        </p:txBody>
      </p:sp>
      <p:sp>
        <p:nvSpPr>
          <p:cNvPr id="3" name="Text Placeholder 2">
            <a:extLst>
              <a:ext uri="{FF2B5EF4-FFF2-40B4-BE49-F238E27FC236}">
                <a16:creationId xmlns:a16="http://schemas.microsoft.com/office/drawing/2014/main" id="{60E879C6-0C17-5757-C190-8903A5D2022C}"/>
              </a:ext>
            </a:extLst>
          </p:cNvPr>
          <p:cNvSpPr>
            <a:spLocks noGrp="1"/>
          </p:cNvSpPr>
          <p:nvPr>
            <p:ph type="body" idx="1"/>
          </p:nvPr>
        </p:nvSpPr>
        <p:spPr>
          <a:xfrm>
            <a:off x="1295400" y="2490306"/>
            <a:ext cx="4718304" cy="576262"/>
          </a:xfrm>
        </p:spPr>
        <p:txBody>
          <a:bodyPr/>
          <a:lstStyle/>
          <a:p>
            <a:r>
              <a:rPr lang="en-US" dirty="0"/>
              <a:t>Materials purchased</a:t>
            </a:r>
            <a:endParaRPr lang="en-AU" dirty="0"/>
          </a:p>
        </p:txBody>
      </p:sp>
      <p:sp>
        <p:nvSpPr>
          <p:cNvPr id="4" name="Content Placeholder 3">
            <a:extLst>
              <a:ext uri="{FF2B5EF4-FFF2-40B4-BE49-F238E27FC236}">
                <a16:creationId xmlns:a16="http://schemas.microsoft.com/office/drawing/2014/main" id="{EF3842B4-5F74-44EF-1AA2-57145A3248D3}"/>
              </a:ext>
            </a:extLst>
          </p:cNvPr>
          <p:cNvSpPr>
            <a:spLocks noGrp="1"/>
          </p:cNvSpPr>
          <p:nvPr>
            <p:ph sz="half" idx="2"/>
          </p:nvPr>
        </p:nvSpPr>
        <p:spPr>
          <a:xfrm>
            <a:off x="1295400" y="3088329"/>
            <a:ext cx="4718304" cy="2632605"/>
          </a:xfrm>
        </p:spPr>
        <p:txBody>
          <a:bodyPr>
            <a:normAutofit fontScale="62500" lnSpcReduction="20000"/>
          </a:bodyPr>
          <a:lstStyle/>
          <a:p>
            <a:r>
              <a:rPr lang="en-US" dirty="0"/>
              <a:t>Balsa wood, 50 x 300 x 3mm</a:t>
            </a:r>
          </a:p>
          <a:p>
            <a:r>
              <a:rPr lang="en-US" dirty="0"/>
              <a:t>Balsa wood, 100 x 915 x 3mm</a:t>
            </a:r>
          </a:p>
          <a:p>
            <a:r>
              <a:rPr lang="en-US" dirty="0"/>
              <a:t>Balsa wood, 100 x 915 x 1mm</a:t>
            </a:r>
          </a:p>
          <a:p>
            <a:r>
              <a:rPr lang="en-US" dirty="0"/>
              <a:t>Match sticks</a:t>
            </a:r>
          </a:p>
          <a:p>
            <a:r>
              <a:rPr lang="en-US" dirty="0"/>
              <a:t>Cork, 300 x 400 x 3mm</a:t>
            </a:r>
          </a:p>
          <a:p>
            <a:r>
              <a:rPr lang="en-US" dirty="0"/>
              <a:t>Timber base</a:t>
            </a:r>
          </a:p>
          <a:p>
            <a:r>
              <a:rPr lang="en-US" dirty="0"/>
              <a:t>Opaque paper</a:t>
            </a:r>
          </a:p>
          <a:p>
            <a:endParaRPr lang="en-AU" dirty="0"/>
          </a:p>
        </p:txBody>
      </p:sp>
      <p:sp>
        <p:nvSpPr>
          <p:cNvPr id="5" name="Text Placeholder 4">
            <a:extLst>
              <a:ext uri="{FF2B5EF4-FFF2-40B4-BE49-F238E27FC236}">
                <a16:creationId xmlns:a16="http://schemas.microsoft.com/office/drawing/2014/main" id="{FD97BBF0-4AB0-8152-B1B0-D8A19CBA413A}"/>
              </a:ext>
            </a:extLst>
          </p:cNvPr>
          <p:cNvSpPr>
            <a:spLocks noGrp="1"/>
          </p:cNvSpPr>
          <p:nvPr>
            <p:ph type="body" sz="quarter" idx="3"/>
          </p:nvPr>
        </p:nvSpPr>
        <p:spPr>
          <a:xfrm>
            <a:off x="5570806" y="2490306"/>
            <a:ext cx="5328168" cy="576262"/>
          </a:xfrm>
        </p:spPr>
        <p:txBody>
          <a:bodyPr/>
          <a:lstStyle/>
          <a:p>
            <a:r>
              <a:rPr lang="en-US" dirty="0"/>
              <a:t>Tools</a:t>
            </a:r>
            <a:endParaRPr lang="en-AU" dirty="0"/>
          </a:p>
        </p:txBody>
      </p:sp>
      <p:sp>
        <p:nvSpPr>
          <p:cNvPr id="6" name="Content Placeholder 5">
            <a:extLst>
              <a:ext uri="{FF2B5EF4-FFF2-40B4-BE49-F238E27FC236}">
                <a16:creationId xmlns:a16="http://schemas.microsoft.com/office/drawing/2014/main" id="{A4AB45FB-1164-D994-0BDA-AC15384BB65B}"/>
              </a:ext>
            </a:extLst>
          </p:cNvPr>
          <p:cNvSpPr>
            <a:spLocks noGrp="1"/>
          </p:cNvSpPr>
          <p:nvPr>
            <p:ph sz="quarter" idx="4"/>
          </p:nvPr>
        </p:nvSpPr>
        <p:spPr>
          <a:xfrm>
            <a:off x="5570806" y="3110620"/>
            <a:ext cx="5767754" cy="3121368"/>
          </a:xfrm>
        </p:spPr>
        <p:txBody>
          <a:bodyPr>
            <a:normAutofit fontScale="62500" lnSpcReduction="20000"/>
          </a:bodyPr>
          <a:lstStyle/>
          <a:p>
            <a:r>
              <a:rPr lang="en-US" dirty="0"/>
              <a:t>Cutting mat, rulers, pencils, tweezers</a:t>
            </a:r>
          </a:p>
          <a:p>
            <a:r>
              <a:rPr lang="en-US" dirty="0"/>
              <a:t>Scalpel, </a:t>
            </a:r>
            <a:r>
              <a:rPr lang="en-US" dirty="0" err="1"/>
              <a:t>stanley</a:t>
            </a:r>
            <a:r>
              <a:rPr lang="en-US" dirty="0"/>
              <a:t> knife</a:t>
            </a:r>
          </a:p>
          <a:p>
            <a:r>
              <a:rPr lang="en-US" dirty="0"/>
              <a:t>uPVC glue, super glue, hot glue gun</a:t>
            </a:r>
          </a:p>
          <a:p>
            <a:endParaRPr lang="en-AU" dirty="0"/>
          </a:p>
          <a:p>
            <a:r>
              <a:rPr lang="en-AU" dirty="0"/>
              <a:t>Step 1 – prepare scaled floor plans and elevations (completed 5/4)</a:t>
            </a:r>
          </a:p>
          <a:p>
            <a:r>
              <a:rPr lang="en-AU" dirty="0"/>
              <a:t>Step 2 – create wall, window and detail components from paper templates (completed 7/4)  </a:t>
            </a:r>
          </a:p>
          <a:p>
            <a:r>
              <a:rPr lang="en-AU" dirty="0"/>
              <a:t>Step 3 – getting parts and roof ready for assembly (due 11/4)</a:t>
            </a:r>
          </a:p>
          <a:p>
            <a:r>
              <a:rPr lang="en-AU" dirty="0"/>
              <a:t>Step 4 – cut and assemble internal components (due 14/4)</a:t>
            </a:r>
          </a:p>
          <a:p>
            <a:r>
              <a:rPr lang="en-AU" dirty="0"/>
              <a:t>Step 5 – prepare model for final presentation (due 16/4)</a:t>
            </a:r>
          </a:p>
        </p:txBody>
      </p:sp>
    </p:spTree>
    <p:extLst>
      <p:ext uri="{BB962C8B-B14F-4D97-AF65-F5344CB8AC3E}">
        <p14:creationId xmlns:p14="http://schemas.microsoft.com/office/powerpoint/2010/main" val="948314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7AF45-FF9B-5C42-2B7F-2354B04DA880}"/>
              </a:ext>
            </a:extLst>
          </p:cNvPr>
          <p:cNvSpPr>
            <a:spLocks noGrp="1"/>
          </p:cNvSpPr>
          <p:nvPr>
            <p:ph type="title"/>
          </p:nvPr>
        </p:nvSpPr>
        <p:spPr/>
        <p:txBody>
          <a:bodyPr>
            <a:normAutofit/>
          </a:bodyPr>
          <a:lstStyle/>
          <a:p>
            <a:r>
              <a:rPr lang="en-US" sz="3500" dirty="0"/>
              <a:t>Shawm House – Model Making Progress</a:t>
            </a:r>
            <a:endParaRPr lang="en-AU" sz="3500" dirty="0"/>
          </a:p>
        </p:txBody>
      </p:sp>
      <p:pic>
        <p:nvPicPr>
          <p:cNvPr id="7" name="Content Placeholder 5">
            <a:extLst>
              <a:ext uri="{FF2B5EF4-FFF2-40B4-BE49-F238E27FC236}">
                <a16:creationId xmlns:a16="http://schemas.microsoft.com/office/drawing/2014/main" id="{04D4C64F-41EE-4509-2428-C5A730C0CFF1}"/>
              </a:ext>
            </a:extLst>
          </p:cNvPr>
          <p:cNvPicPr>
            <a:picLocks noChangeAspect="1"/>
          </p:cNvPicPr>
          <p:nvPr/>
        </p:nvPicPr>
        <p:blipFill>
          <a:blip r:embed="rId2"/>
          <a:srcRect/>
          <a:stretch/>
        </p:blipFill>
        <p:spPr>
          <a:xfrm rot="16200000">
            <a:off x="4137692" y="2282259"/>
            <a:ext cx="1534493" cy="2045990"/>
          </a:xfrm>
          <a:prstGeom prst="rect">
            <a:avLst/>
          </a:prstGeom>
        </p:spPr>
      </p:pic>
      <p:sp>
        <p:nvSpPr>
          <p:cNvPr id="8" name="TextBox 7">
            <a:extLst>
              <a:ext uri="{FF2B5EF4-FFF2-40B4-BE49-F238E27FC236}">
                <a16:creationId xmlns:a16="http://schemas.microsoft.com/office/drawing/2014/main" id="{D1F2CF53-6A50-D444-7187-FC5629BDCFC8}"/>
              </a:ext>
            </a:extLst>
          </p:cNvPr>
          <p:cNvSpPr txBox="1"/>
          <p:nvPr/>
        </p:nvSpPr>
        <p:spPr>
          <a:xfrm>
            <a:off x="1227672" y="4059871"/>
            <a:ext cx="2398515" cy="276999"/>
          </a:xfrm>
          <a:prstGeom prst="rect">
            <a:avLst/>
          </a:prstGeom>
          <a:noFill/>
        </p:spPr>
        <p:txBody>
          <a:bodyPr wrap="square" rtlCol="0">
            <a:spAutoFit/>
          </a:bodyPr>
          <a:lstStyle/>
          <a:p>
            <a:r>
              <a:rPr lang="en-US" sz="1200" dirty="0"/>
              <a:t>Materials and floor plans</a:t>
            </a:r>
            <a:endParaRPr lang="en-AU" sz="1200" dirty="0"/>
          </a:p>
        </p:txBody>
      </p:sp>
      <p:sp>
        <p:nvSpPr>
          <p:cNvPr id="9" name="TextBox 8">
            <a:extLst>
              <a:ext uri="{FF2B5EF4-FFF2-40B4-BE49-F238E27FC236}">
                <a16:creationId xmlns:a16="http://schemas.microsoft.com/office/drawing/2014/main" id="{06E03270-4827-F285-F5C5-DEBAA6DF4C2E}"/>
              </a:ext>
            </a:extLst>
          </p:cNvPr>
          <p:cNvSpPr txBox="1"/>
          <p:nvPr/>
        </p:nvSpPr>
        <p:spPr>
          <a:xfrm>
            <a:off x="3789713" y="4072502"/>
            <a:ext cx="2393971" cy="276999"/>
          </a:xfrm>
          <a:prstGeom prst="rect">
            <a:avLst/>
          </a:prstGeom>
          <a:noFill/>
        </p:spPr>
        <p:txBody>
          <a:bodyPr wrap="square" rtlCol="0">
            <a:spAutoFit/>
          </a:bodyPr>
          <a:lstStyle/>
          <a:p>
            <a:r>
              <a:rPr lang="en-US" sz="1200" dirty="0"/>
              <a:t>Materials and elevation drawings</a:t>
            </a:r>
            <a:endParaRPr lang="en-AU" sz="1200" dirty="0"/>
          </a:p>
        </p:txBody>
      </p:sp>
      <p:pic>
        <p:nvPicPr>
          <p:cNvPr id="3" name="Content Placeholder 5">
            <a:extLst>
              <a:ext uri="{FF2B5EF4-FFF2-40B4-BE49-F238E27FC236}">
                <a16:creationId xmlns:a16="http://schemas.microsoft.com/office/drawing/2014/main" id="{B6D8FB2B-90D0-326D-1CBF-9935C6161E24}"/>
              </a:ext>
            </a:extLst>
          </p:cNvPr>
          <p:cNvPicPr>
            <a:picLocks noChangeAspect="1"/>
          </p:cNvPicPr>
          <p:nvPr/>
        </p:nvPicPr>
        <p:blipFill>
          <a:blip r:embed="rId3"/>
          <a:srcRect/>
          <a:stretch/>
        </p:blipFill>
        <p:spPr>
          <a:xfrm rot="16200000">
            <a:off x="6602960" y="2282259"/>
            <a:ext cx="1534493" cy="2045990"/>
          </a:xfrm>
          <a:prstGeom prst="rect">
            <a:avLst/>
          </a:prstGeom>
        </p:spPr>
      </p:pic>
      <p:pic>
        <p:nvPicPr>
          <p:cNvPr id="5" name="Content Placeholder 5">
            <a:extLst>
              <a:ext uri="{FF2B5EF4-FFF2-40B4-BE49-F238E27FC236}">
                <a16:creationId xmlns:a16="http://schemas.microsoft.com/office/drawing/2014/main" id="{266DDEA5-A9A3-959D-6872-780D5CBB2E8D}"/>
              </a:ext>
            </a:extLst>
          </p:cNvPr>
          <p:cNvPicPr>
            <a:picLocks noChangeAspect="1"/>
          </p:cNvPicPr>
          <p:nvPr/>
        </p:nvPicPr>
        <p:blipFill>
          <a:blip r:embed="rId4"/>
          <a:srcRect/>
          <a:stretch/>
        </p:blipFill>
        <p:spPr>
          <a:xfrm rot="16200000">
            <a:off x="9068226" y="2269629"/>
            <a:ext cx="1534493" cy="2045990"/>
          </a:xfrm>
          <a:prstGeom prst="rect">
            <a:avLst/>
          </a:prstGeom>
        </p:spPr>
      </p:pic>
      <p:sp>
        <p:nvSpPr>
          <p:cNvPr id="12" name="TextBox 11">
            <a:extLst>
              <a:ext uri="{FF2B5EF4-FFF2-40B4-BE49-F238E27FC236}">
                <a16:creationId xmlns:a16="http://schemas.microsoft.com/office/drawing/2014/main" id="{F6A23189-68DA-5DF7-9B08-6F254FCBBF7A}"/>
              </a:ext>
            </a:extLst>
          </p:cNvPr>
          <p:cNvSpPr txBox="1"/>
          <p:nvPr/>
        </p:nvSpPr>
        <p:spPr>
          <a:xfrm>
            <a:off x="6245895" y="4072502"/>
            <a:ext cx="2398514" cy="276999"/>
          </a:xfrm>
          <a:prstGeom prst="rect">
            <a:avLst/>
          </a:prstGeom>
          <a:noFill/>
        </p:spPr>
        <p:txBody>
          <a:bodyPr wrap="square" rtlCol="0">
            <a:spAutoFit/>
          </a:bodyPr>
          <a:lstStyle/>
          <a:p>
            <a:r>
              <a:rPr lang="en-US" sz="1200" dirty="0"/>
              <a:t>Cutting templates from drawings</a:t>
            </a:r>
            <a:endParaRPr lang="en-AU" sz="1200" dirty="0"/>
          </a:p>
        </p:txBody>
      </p:sp>
      <p:sp>
        <p:nvSpPr>
          <p:cNvPr id="13" name="TextBox 12">
            <a:extLst>
              <a:ext uri="{FF2B5EF4-FFF2-40B4-BE49-F238E27FC236}">
                <a16:creationId xmlns:a16="http://schemas.microsoft.com/office/drawing/2014/main" id="{F6C5F5FC-47DD-EB3D-B734-4E174D777D72}"/>
              </a:ext>
            </a:extLst>
          </p:cNvPr>
          <p:cNvSpPr txBox="1"/>
          <p:nvPr/>
        </p:nvSpPr>
        <p:spPr>
          <a:xfrm>
            <a:off x="8745725" y="4059871"/>
            <a:ext cx="2359407" cy="276999"/>
          </a:xfrm>
          <a:prstGeom prst="rect">
            <a:avLst/>
          </a:prstGeom>
          <a:noFill/>
        </p:spPr>
        <p:txBody>
          <a:bodyPr wrap="square" rtlCol="0">
            <a:spAutoFit/>
          </a:bodyPr>
          <a:lstStyle/>
          <a:p>
            <a:r>
              <a:rPr lang="en-US" sz="1200" dirty="0"/>
              <a:t>Preparing templates</a:t>
            </a:r>
            <a:endParaRPr lang="en-AU" sz="1200" dirty="0"/>
          </a:p>
        </p:txBody>
      </p:sp>
      <p:pic>
        <p:nvPicPr>
          <p:cNvPr id="18" name="Content Placeholder 5">
            <a:extLst>
              <a:ext uri="{FF2B5EF4-FFF2-40B4-BE49-F238E27FC236}">
                <a16:creationId xmlns:a16="http://schemas.microsoft.com/office/drawing/2014/main" id="{49ED7F31-F3B6-C6D0-F5CA-FA96D73C2210}"/>
              </a:ext>
            </a:extLst>
          </p:cNvPr>
          <p:cNvPicPr>
            <a:picLocks noChangeAspect="1"/>
          </p:cNvPicPr>
          <p:nvPr/>
        </p:nvPicPr>
        <p:blipFill>
          <a:blip r:embed="rId5"/>
          <a:srcRect/>
          <a:stretch/>
        </p:blipFill>
        <p:spPr>
          <a:xfrm rot="16200000">
            <a:off x="1580196" y="2282260"/>
            <a:ext cx="1534492" cy="2045990"/>
          </a:xfrm>
          <a:prstGeom prst="rect">
            <a:avLst/>
          </a:prstGeom>
        </p:spPr>
      </p:pic>
      <p:sp>
        <p:nvSpPr>
          <p:cNvPr id="20" name="TextBox 19">
            <a:extLst>
              <a:ext uri="{FF2B5EF4-FFF2-40B4-BE49-F238E27FC236}">
                <a16:creationId xmlns:a16="http://schemas.microsoft.com/office/drawing/2014/main" id="{F982E4F1-8625-796F-5367-2641C85FE9A7}"/>
              </a:ext>
            </a:extLst>
          </p:cNvPr>
          <p:cNvSpPr txBox="1"/>
          <p:nvPr/>
        </p:nvSpPr>
        <p:spPr>
          <a:xfrm>
            <a:off x="1232216" y="5976055"/>
            <a:ext cx="2398515" cy="276999"/>
          </a:xfrm>
          <a:prstGeom prst="rect">
            <a:avLst/>
          </a:prstGeom>
          <a:noFill/>
        </p:spPr>
        <p:txBody>
          <a:bodyPr wrap="square" rtlCol="0">
            <a:spAutoFit/>
          </a:bodyPr>
          <a:lstStyle/>
          <a:p>
            <a:r>
              <a:rPr lang="en-US" sz="1200" dirty="0"/>
              <a:t>Preparing base and ground floor</a:t>
            </a:r>
            <a:endParaRPr lang="en-AU" sz="1200" dirty="0"/>
          </a:p>
        </p:txBody>
      </p:sp>
      <p:sp>
        <p:nvSpPr>
          <p:cNvPr id="21" name="TextBox 20">
            <a:extLst>
              <a:ext uri="{FF2B5EF4-FFF2-40B4-BE49-F238E27FC236}">
                <a16:creationId xmlns:a16="http://schemas.microsoft.com/office/drawing/2014/main" id="{56130F79-4119-8459-C4D9-06842A5E5859}"/>
              </a:ext>
            </a:extLst>
          </p:cNvPr>
          <p:cNvSpPr txBox="1"/>
          <p:nvPr/>
        </p:nvSpPr>
        <p:spPr>
          <a:xfrm>
            <a:off x="3789713" y="5988686"/>
            <a:ext cx="2398515" cy="276999"/>
          </a:xfrm>
          <a:prstGeom prst="rect">
            <a:avLst/>
          </a:prstGeom>
          <a:noFill/>
        </p:spPr>
        <p:txBody>
          <a:bodyPr wrap="square" rtlCol="0">
            <a:spAutoFit/>
          </a:bodyPr>
          <a:lstStyle/>
          <a:p>
            <a:r>
              <a:rPr lang="en-US" sz="1200" dirty="0"/>
              <a:t>Cutting out elevation pieces</a:t>
            </a:r>
            <a:endParaRPr lang="en-AU" sz="1200" dirty="0"/>
          </a:p>
        </p:txBody>
      </p:sp>
      <p:sp>
        <p:nvSpPr>
          <p:cNvPr id="24" name="TextBox 23">
            <a:extLst>
              <a:ext uri="{FF2B5EF4-FFF2-40B4-BE49-F238E27FC236}">
                <a16:creationId xmlns:a16="http://schemas.microsoft.com/office/drawing/2014/main" id="{D5375F03-9C77-60C9-127F-57430FA61F87}"/>
              </a:ext>
            </a:extLst>
          </p:cNvPr>
          <p:cNvSpPr txBox="1"/>
          <p:nvPr/>
        </p:nvSpPr>
        <p:spPr>
          <a:xfrm>
            <a:off x="6250439" y="5988686"/>
            <a:ext cx="2398514" cy="276999"/>
          </a:xfrm>
          <a:prstGeom prst="rect">
            <a:avLst/>
          </a:prstGeom>
          <a:noFill/>
        </p:spPr>
        <p:txBody>
          <a:bodyPr wrap="square" rtlCol="0">
            <a:spAutoFit/>
          </a:bodyPr>
          <a:lstStyle/>
          <a:p>
            <a:r>
              <a:rPr lang="en-US" sz="1200" dirty="0"/>
              <a:t>Cutting out external walls and details</a:t>
            </a:r>
            <a:endParaRPr lang="en-AU" sz="1200" dirty="0"/>
          </a:p>
        </p:txBody>
      </p:sp>
      <p:sp>
        <p:nvSpPr>
          <p:cNvPr id="25" name="TextBox 24">
            <a:extLst>
              <a:ext uri="{FF2B5EF4-FFF2-40B4-BE49-F238E27FC236}">
                <a16:creationId xmlns:a16="http://schemas.microsoft.com/office/drawing/2014/main" id="{2EFCD298-50BB-289C-4FAC-D10F71E65737}"/>
              </a:ext>
            </a:extLst>
          </p:cNvPr>
          <p:cNvSpPr txBox="1"/>
          <p:nvPr/>
        </p:nvSpPr>
        <p:spPr>
          <a:xfrm>
            <a:off x="8711161" y="5976055"/>
            <a:ext cx="2398515" cy="276999"/>
          </a:xfrm>
          <a:prstGeom prst="rect">
            <a:avLst/>
          </a:prstGeom>
          <a:noFill/>
        </p:spPr>
        <p:txBody>
          <a:bodyPr wrap="square" rtlCol="0">
            <a:spAutoFit/>
          </a:bodyPr>
          <a:lstStyle/>
          <a:p>
            <a:r>
              <a:rPr lang="en-US" sz="1200" dirty="0"/>
              <a:t>Getting parts ready for gluing</a:t>
            </a:r>
            <a:endParaRPr lang="en-AU" sz="1200" dirty="0"/>
          </a:p>
        </p:txBody>
      </p:sp>
      <p:pic>
        <p:nvPicPr>
          <p:cNvPr id="6" name="Picture 5" descr="A model of a house on a cork board&#10;&#10;Description automatically generated">
            <a:extLst>
              <a:ext uri="{FF2B5EF4-FFF2-40B4-BE49-F238E27FC236}">
                <a16:creationId xmlns:a16="http://schemas.microsoft.com/office/drawing/2014/main" id="{226E83DB-082D-A3A0-C93F-552BFEBF6299}"/>
              </a:ext>
            </a:extLst>
          </p:cNvPr>
          <p:cNvPicPr>
            <a:picLocks noChangeAspect="1"/>
          </p:cNvPicPr>
          <p:nvPr/>
        </p:nvPicPr>
        <p:blipFill>
          <a:blip r:embed="rId6"/>
          <a:stretch>
            <a:fillRect/>
          </a:stretch>
        </p:blipFill>
        <p:spPr>
          <a:xfrm>
            <a:off x="8812476" y="4441561"/>
            <a:ext cx="2045991" cy="1534493"/>
          </a:xfrm>
          <a:prstGeom prst="rect">
            <a:avLst/>
          </a:prstGeom>
        </p:spPr>
      </p:pic>
      <p:pic>
        <p:nvPicPr>
          <p:cNvPr id="11" name="Picture 10" descr="A cork board with paper and pieces of wood&#10;&#10;Description automatically generated">
            <a:extLst>
              <a:ext uri="{FF2B5EF4-FFF2-40B4-BE49-F238E27FC236}">
                <a16:creationId xmlns:a16="http://schemas.microsoft.com/office/drawing/2014/main" id="{13F41AF7-E55F-C283-B1D2-7BAF55DC8A89}"/>
              </a:ext>
            </a:extLst>
          </p:cNvPr>
          <p:cNvPicPr>
            <a:picLocks noChangeAspect="1"/>
          </p:cNvPicPr>
          <p:nvPr/>
        </p:nvPicPr>
        <p:blipFill>
          <a:blip r:embed="rId7"/>
          <a:stretch>
            <a:fillRect/>
          </a:stretch>
        </p:blipFill>
        <p:spPr>
          <a:xfrm>
            <a:off x="3881943" y="4456592"/>
            <a:ext cx="2042790" cy="1532093"/>
          </a:xfrm>
          <a:prstGeom prst="rect">
            <a:avLst/>
          </a:prstGeom>
        </p:spPr>
      </p:pic>
      <p:pic>
        <p:nvPicPr>
          <p:cNvPr id="15" name="Picture 14" descr="A cork board with pieces of wood and papers&#10;&#10;Description automatically generated">
            <a:extLst>
              <a:ext uri="{FF2B5EF4-FFF2-40B4-BE49-F238E27FC236}">
                <a16:creationId xmlns:a16="http://schemas.microsoft.com/office/drawing/2014/main" id="{A1A79F3A-2B96-EB56-CF16-C97378D247ED}"/>
              </a:ext>
            </a:extLst>
          </p:cNvPr>
          <p:cNvPicPr>
            <a:picLocks noChangeAspect="1"/>
          </p:cNvPicPr>
          <p:nvPr/>
        </p:nvPicPr>
        <p:blipFill>
          <a:blip r:embed="rId8"/>
          <a:stretch>
            <a:fillRect/>
          </a:stretch>
        </p:blipFill>
        <p:spPr>
          <a:xfrm>
            <a:off x="6342667" y="4441561"/>
            <a:ext cx="2042790" cy="1532092"/>
          </a:xfrm>
          <a:prstGeom prst="rect">
            <a:avLst/>
          </a:prstGeom>
        </p:spPr>
      </p:pic>
      <p:pic>
        <p:nvPicPr>
          <p:cNvPr id="17" name="Picture 16" descr="A cork board with drawings and papers&#10;&#10;Description automatically generated">
            <a:extLst>
              <a:ext uri="{FF2B5EF4-FFF2-40B4-BE49-F238E27FC236}">
                <a16:creationId xmlns:a16="http://schemas.microsoft.com/office/drawing/2014/main" id="{28DAF2FC-CDF8-F76F-AED1-C345B5BD2869}"/>
              </a:ext>
            </a:extLst>
          </p:cNvPr>
          <p:cNvPicPr>
            <a:picLocks noChangeAspect="1"/>
          </p:cNvPicPr>
          <p:nvPr/>
        </p:nvPicPr>
        <p:blipFill>
          <a:blip r:embed="rId9"/>
          <a:stretch>
            <a:fillRect/>
          </a:stretch>
        </p:blipFill>
        <p:spPr>
          <a:xfrm>
            <a:off x="1324447" y="4441561"/>
            <a:ext cx="2042790" cy="1532093"/>
          </a:xfrm>
          <a:prstGeom prst="rect">
            <a:avLst/>
          </a:prstGeom>
        </p:spPr>
      </p:pic>
    </p:spTree>
    <p:extLst>
      <p:ext uri="{BB962C8B-B14F-4D97-AF65-F5344CB8AC3E}">
        <p14:creationId xmlns:p14="http://schemas.microsoft.com/office/powerpoint/2010/main" val="5672231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FA19B-887F-8609-8F59-9319ED5EA629}"/>
              </a:ext>
            </a:extLst>
          </p:cNvPr>
          <p:cNvSpPr>
            <a:spLocks noGrp="1"/>
          </p:cNvSpPr>
          <p:nvPr>
            <p:ph type="title"/>
          </p:nvPr>
        </p:nvSpPr>
        <p:spPr/>
        <p:txBody>
          <a:bodyPr>
            <a:normAutofit/>
          </a:bodyPr>
          <a:lstStyle/>
          <a:p>
            <a:r>
              <a:rPr lang="en-US" sz="3500" dirty="0"/>
              <a:t>Group Poster Theme Style</a:t>
            </a:r>
            <a:endParaRPr lang="en-AU" sz="3500" dirty="0"/>
          </a:p>
        </p:txBody>
      </p:sp>
      <p:sp>
        <p:nvSpPr>
          <p:cNvPr id="4" name="Content Placeholder 3">
            <a:extLst>
              <a:ext uri="{FF2B5EF4-FFF2-40B4-BE49-F238E27FC236}">
                <a16:creationId xmlns:a16="http://schemas.microsoft.com/office/drawing/2014/main" id="{EF3842B4-5F74-44EF-1AA2-57145A3248D3}"/>
              </a:ext>
            </a:extLst>
          </p:cNvPr>
          <p:cNvSpPr>
            <a:spLocks noGrp="1"/>
          </p:cNvSpPr>
          <p:nvPr>
            <p:ph sz="half" idx="2"/>
          </p:nvPr>
        </p:nvSpPr>
        <p:spPr>
          <a:xfrm>
            <a:off x="1295402" y="2610026"/>
            <a:ext cx="6371492" cy="3523487"/>
          </a:xfrm>
        </p:spPr>
        <p:txBody>
          <a:bodyPr>
            <a:normAutofit fontScale="55000" lnSpcReduction="20000"/>
          </a:bodyPr>
          <a:lstStyle/>
          <a:p>
            <a:r>
              <a:rPr lang="en-US" sz="3500" dirty="0"/>
              <a:t>Size – A1</a:t>
            </a:r>
          </a:p>
          <a:p>
            <a:r>
              <a:rPr lang="en-US" sz="3500" dirty="0"/>
              <a:t>Layout – portrait</a:t>
            </a:r>
          </a:p>
          <a:p>
            <a:r>
              <a:rPr lang="en-US" sz="3500" dirty="0"/>
              <a:t>Font – Garamond</a:t>
            </a:r>
          </a:p>
          <a:p>
            <a:r>
              <a:rPr lang="en-US" sz="3500" dirty="0"/>
              <a:t>Background – white with timber and nature images integrated</a:t>
            </a:r>
          </a:p>
          <a:p>
            <a:r>
              <a:rPr lang="en-US" sz="3500" dirty="0"/>
              <a:t>Order -	</a:t>
            </a:r>
          </a:p>
          <a:p>
            <a:pPr lvl="2"/>
            <a:r>
              <a:rPr lang="en-US" sz="3500" dirty="0"/>
              <a:t>Introduction, photo &amp; reflection</a:t>
            </a:r>
          </a:p>
          <a:p>
            <a:pPr lvl="2"/>
            <a:r>
              <a:rPr lang="en-US" sz="3500" dirty="0"/>
              <a:t>Perspective drawings</a:t>
            </a:r>
          </a:p>
          <a:p>
            <a:pPr lvl="2"/>
            <a:r>
              <a:rPr lang="en-US" sz="3500" dirty="0"/>
              <a:t>Analysis diagrams &amp; detailed information</a:t>
            </a:r>
          </a:p>
          <a:p>
            <a:pPr lvl="2"/>
            <a:r>
              <a:rPr lang="en-US" sz="3500" dirty="0"/>
              <a:t>Progress and final images of model</a:t>
            </a:r>
          </a:p>
          <a:p>
            <a:pPr lvl="2"/>
            <a:endParaRPr lang="en-US" dirty="0"/>
          </a:p>
          <a:p>
            <a:pPr lvl="2"/>
            <a:endParaRPr lang="en-US" dirty="0"/>
          </a:p>
          <a:p>
            <a:pPr lvl="2"/>
            <a:endParaRPr lang="en-US" dirty="0"/>
          </a:p>
          <a:p>
            <a:endParaRPr lang="en-US" dirty="0"/>
          </a:p>
          <a:p>
            <a:endParaRPr lang="en-US" dirty="0"/>
          </a:p>
          <a:p>
            <a:endParaRPr lang="en-US" dirty="0"/>
          </a:p>
          <a:p>
            <a:endParaRPr lang="en-AU" dirty="0"/>
          </a:p>
        </p:txBody>
      </p:sp>
    </p:spTree>
    <p:extLst>
      <p:ext uri="{BB962C8B-B14F-4D97-AF65-F5344CB8AC3E}">
        <p14:creationId xmlns:p14="http://schemas.microsoft.com/office/powerpoint/2010/main" val="388978400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1496</TotalTime>
  <Words>1021</Words>
  <Application>Microsoft Office PowerPoint</Application>
  <PresentationFormat>Widescreen</PresentationFormat>
  <Paragraphs>75</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Garamond</vt:lpstr>
      <vt:lpstr>Organic</vt:lpstr>
      <vt:lpstr>Sustainable Housing</vt:lpstr>
      <vt:lpstr>Theme Selection</vt:lpstr>
      <vt:lpstr>Sustainable Housing - UK</vt:lpstr>
      <vt:lpstr>Shawm House - Reflection</vt:lpstr>
      <vt:lpstr>Shawm House – Hand Drawn External Perspective</vt:lpstr>
      <vt:lpstr>Shawm House – Hand Drawn Internal Perspective</vt:lpstr>
      <vt:lpstr>Shawm House                                      Site Analysis Diagram</vt:lpstr>
      <vt:lpstr>PowerPoint Presentation</vt:lpstr>
      <vt:lpstr>Shawm House                                          Floor Plan Analysis Diagram</vt:lpstr>
      <vt:lpstr>PowerPoint Presentation</vt:lpstr>
      <vt:lpstr>PowerPoint Presentation</vt:lpstr>
      <vt:lpstr>Shawm House - Model Making</vt:lpstr>
      <vt:lpstr>Shawm House – Model Making Progress</vt:lpstr>
      <vt:lpstr>Group Poster Theme Style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Sustainable Housing</dc:title>
  <dc:creator>Debbie Martini</dc:creator>
  <cp:lastModifiedBy>Debbie Martini</cp:lastModifiedBy>
  <cp:revision>69</cp:revision>
  <dcterms:created xsi:type="dcterms:W3CDTF">2024-03-26T00:34:42Z</dcterms:created>
  <dcterms:modified xsi:type="dcterms:W3CDTF">2024-04-10T07:57:23Z</dcterms:modified>
</cp:coreProperties>
</file>