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1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9565" y="417829"/>
            <a:ext cx="848486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78C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78C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29565" y="1993201"/>
            <a:ext cx="4013200" cy="418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65119" y="1993248"/>
            <a:ext cx="3963670" cy="3780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78C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9565" y="402590"/>
            <a:ext cx="8484869" cy="1040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78C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7075" y="1647451"/>
            <a:ext cx="8149849" cy="378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4943" y="6404542"/>
            <a:ext cx="201295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proquest.com/artarchitecture/index?accountid=14844" TargetMode="External"/><Relationship Id="rId2" Type="http://schemas.openxmlformats.org/officeDocument/2006/relationships/hyperlink" Target="https://search.proquest.com/avery/arts/fromDatabasesLayer?accountid=1484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ibrary.vu.edu.au/search/a?searchtype=f&amp;searcharg=taylor%2Band%2Bfranci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rk-architecturefiction.blogspot.com.au/2012/08/mind-mapping-exploration.html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YlghuxGjHok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adlet.com/dana_kuljanin/8git8v7mkol2" TargetMode="External"/><Relationship Id="rId2" Type="http://schemas.openxmlformats.org/officeDocument/2006/relationships/hyperlink" Target="http://libraryguides.vu.edu.au/NBD1100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0-eds.b.ebscohost.com.library.vu.edu.au/eds/results?sid=5b9ebab2-279c-4477-a241-8152315792fb%40sessionmgr112&amp;vid=0&amp;hid=110&amp;bquery=Safe%2Bmanual%2Bhandling%2Bsafetycare&amp;bdata=JnR5cGU9MCZzaXRlPWVkcy1saXZ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u.edu.au/library/find-resources/databases-a-to-z" TargetMode="External"/><Relationship Id="rId2" Type="http://schemas.openxmlformats.org/officeDocument/2006/relationships/hyperlink" Target="https://www.vu.edu.au/librar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holar.google.com.au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www.youtube.com/watch?v=Dc7G-ds725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library.vu.edu.au/search/a?searchtype=f&amp;searcharg=Taylor%2Band%2BFrancis" TargetMode="External"/><Relationship Id="rId2" Type="http://schemas.openxmlformats.org/officeDocument/2006/relationships/hyperlink" Target="http://library.vu.edu.au/search/a?searchtype=f&amp;searcharg=engineering%2Bcollection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www.vu.edu.au/library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eGvCeeXoC8" TargetMode="External"/><Relationship Id="rId2" Type="http://schemas.openxmlformats.org/officeDocument/2006/relationships/hyperlink" Target="https://youtu.be/hgtrQijlrYk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hyperlink" Target="http://library.vu.edu.au/search/a?searchtype=f&amp;searcharg=business%2Bsource%2Bcomplete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0-web.b.ebscohost.com.library.vu.edu.au/bsi/search/advanced?sid=7d740ae6-3296-4c05-88bf-01579447d74e%40sessionmgr103&amp;vid=0&amp;hid=128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libraryguides.vu.edu.au/NBD1100" TargetMode="External"/><Relationship Id="rId2" Type="http://schemas.openxmlformats.org/officeDocument/2006/relationships/hyperlink" Target="http://askalibrarian.vu.edu.au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895223"/>
            <a:ext cx="4762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Library</a:t>
            </a:r>
            <a:r>
              <a:rPr sz="4000" spc="-75" dirty="0"/>
              <a:t> </a:t>
            </a:r>
            <a:r>
              <a:rPr sz="4000" spc="-5" dirty="0"/>
              <a:t>Research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02267" y="2965964"/>
            <a:ext cx="825055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10304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Library Databases for the </a:t>
            </a:r>
            <a:r>
              <a:rPr sz="3600" b="1" spc="-810" dirty="0">
                <a:latin typeface="Arial Narrow"/>
                <a:cs typeface="Arial Narrow"/>
              </a:rPr>
              <a:t> </a:t>
            </a:r>
            <a:r>
              <a:rPr sz="3600" b="1" spc="-5" dirty="0">
                <a:solidFill>
                  <a:srgbClr val="0070C0"/>
                </a:solidFill>
                <a:latin typeface="Arial Narrow"/>
                <a:cs typeface="Arial Narrow"/>
              </a:rPr>
              <a:t>NBD1100:</a:t>
            </a:r>
            <a:endParaRPr sz="36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3600" b="1" spc="-5" dirty="0">
                <a:solidFill>
                  <a:srgbClr val="0070C0"/>
                </a:solidFill>
                <a:latin typeface="Arial Narrow"/>
                <a:cs typeface="Arial Narrow"/>
              </a:rPr>
              <a:t>Built</a:t>
            </a:r>
            <a:r>
              <a:rPr sz="3600" b="1" spc="15" dirty="0">
                <a:solidFill>
                  <a:srgbClr val="0070C0"/>
                </a:solidFill>
                <a:latin typeface="Arial Narrow"/>
                <a:cs typeface="Arial Narrow"/>
              </a:rPr>
              <a:t> </a:t>
            </a:r>
            <a:r>
              <a:rPr sz="3600" b="1" spc="-5" dirty="0">
                <a:solidFill>
                  <a:srgbClr val="0070C0"/>
                </a:solidFill>
                <a:latin typeface="Arial Narrow"/>
                <a:cs typeface="Arial Narrow"/>
              </a:rPr>
              <a:t>Environment</a:t>
            </a:r>
            <a:r>
              <a:rPr sz="3600" b="1" spc="5" dirty="0">
                <a:solidFill>
                  <a:srgbClr val="0070C0"/>
                </a:solidFill>
                <a:latin typeface="Arial Narrow"/>
                <a:cs typeface="Arial Narrow"/>
              </a:rPr>
              <a:t> </a:t>
            </a:r>
            <a:r>
              <a:rPr sz="3600" b="1" spc="-5" dirty="0">
                <a:solidFill>
                  <a:srgbClr val="0070C0"/>
                </a:solidFill>
                <a:latin typeface="Arial Narrow"/>
                <a:cs typeface="Arial Narrow"/>
              </a:rPr>
              <a:t>Communications</a:t>
            </a:r>
            <a:r>
              <a:rPr sz="3600" b="1" spc="-20" dirty="0">
                <a:solidFill>
                  <a:srgbClr val="0070C0"/>
                </a:solidFill>
                <a:latin typeface="Arial Narrow"/>
                <a:cs typeface="Arial Narrow"/>
              </a:rPr>
              <a:t> </a:t>
            </a:r>
            <a:r>
              <a:rPr sz="3600" b="1" spc="-5" dirty="0">
                <a:solidFill>
                  <a:srgbClr val="0070C0"/>
                </a:solidFill>
                <a:latin typeface="Arial Narrow"/>
                <a:cs typeface="Arial Narrow"/>
              </a:rPr>
              <a:t>and</a:t>
            </a:r>
            <a:r>
              <a:rPr sz="3600" b="1" spc="-15" dirty="0">
                <a:solidFill>
                  <a:srgbClr val="0070C0"/>
                </a:solidFill>
                <a:latin typeface="Arial Narrow"/>
                <a:cs typeface="Arial Narrow"/>
              </a:rPr>
              <a:t> </a:t>
            </a:r>
            <a:r>
              <a:rPr sz="3600" b="1" spc="-5" dirty="0">
                <a:solidFill>
                  <a:srgbClr val="0070C0"/>
                </a:solidFill>
                <a:latin typeface="Arial Narrow"/>
                <a:cs typeface="Arial Narrow"/>
              </a:rPr>
              <a:t>Skills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1</a:t>
            </a:fld>
            <a:endParaRPr spc="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2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17831"/>
            <a:ext cx="3654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Structure</a:t>
            </a:r>
            <a:r>
              <a:rPr sz="3600" b="1" spc="-15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of</a:t>
            </a:r>
            <a:r>
              <a:rPr sz="3600" b="1" spc="-15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session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259" y="1416839"/>
            <a:ext cx="7578725" cy="25641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39370" indent="-342900">
              <a:lnSpc>
                <a:spcPts val="3190"/>
              </a:lnSpc>
              <a:spcBef>
                <a:spcPts val="34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 Narrow"/>
                <a:cs typeface="Arial Narrow"/>
              </a:rPr>
              <a:t>Short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sessions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of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theory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interspersed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with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searching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for </a:t>
            </a:r>
            <a:r>
              <a:rPr sz="2800" spc="-62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resources</a:t>
            </a:r>
            <a:endParaRPr sz="2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Narrow"/>
              <a:buChar char="•"/>
            </a:pPr>
            <a:endParaRPr sz="3350">
              <a:latin typeface="Arial Narrow"/>
              <a:cs typeface="Arial Narrow"/>
            </a:endParaRPr>
          </a:p>
          <a:p>
            <a:pPr marL="355600" marR="5080" indent="-343535">
              <a:lnSpc>
                <a:spcPts val="319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AIM:</a:t>
            </a:r>
            <a:r>
              <a:rPr sz="2800" spc="2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To</a:t>
            </a:r>
            <a:r>
              <a:rPr sz="2800" spc="-10" dirty="0">
                <a:latin typeface="Arial Narrow"/>
                <a:cs typeface="Arial Narrow"/>
              </a:rPr>
              <a:t> find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1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journal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article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that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you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will</a:t>
            </a:r>
            <a:r>
              <a:rPr sz="2800" spc="3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use</a:t>
            </a:r>
            <a:r>
              <a:rPr sz="2800" spc="-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in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your 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literature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review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assignment.</a:t>
            </a:r>
            <a:r>
              <a:rPr sz="2800" spc="2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Also,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to</a:t>
            </a:r>
            <a:r>
              <a:rPr sz="2800" spc="-1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email</a:t>
            </a:r>
            <a:r>
              <a:rPr sz="2800" spc="2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the article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to </a:t>
            </a:r>
            <a:r>
              <a:rPr sz="2800" spc="-62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yourself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in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the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Harvard</a:t>
            </a:r>
            <a:r>
              <a:rPr sz="2800" spc="-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referencing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format.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3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59" y="407585"/>
            <a:ext cx="2131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Arial Narrow"/>
                <a:cs typeface="Arial Narrow"/>
              </a:rPr>
              <a:t>Objectives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259" y="1407695"/>
            <a:ext cx="7742555" cy="4991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4135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spc="-5" dirty="0">
                <a:latin typeface="Arial Narrow"/>
                <a:cs typeface="Arial Narrow"/>
              </a:rPr>
              <a:t>Find information</a:t>
            </a:r>
            <a:r>
              <a:rPr sz="3600" spc="-15" dirty="0">
                <a:latin typeface="Arial Narrow"/>
                <a:cs typeface="Arial Narrow"/>
              </a:rPr>
              <a:t> </a:t>
            </a:r>
            <a:r>
              <a:rPr sz="3600" spc="-5" dirty="0">
                <a:latin typeface="Arial Narrow"/>
                <a:cs typeface="Arial Narrow"/>
              </a:rPr>
              <a:t>resources</a:t>
            </a:r>
            <a:r>
              <a:rPr sz="3600" spc="-10" dirty="0">
                <a:latin typeface="Arial Narrow"/>
                <a:cs typeface="Arial Narrow"/>
              </a:rPr>
              <a:t> </a:t>
            </a:r>
            <a:r>
              <a:rPr sz="3600" spc="-5" dirty="0">
                <a:latin typeface="Arial Narrow"/>
                <a:cs typeface="Arial Narrow"/>
              </a:rPr>
              <a:t>for</a:t>
            </a:r>
            <a:r>
              <a:rPr sz="3600" spc="20" dirty="0">
                <a:latin typeface="Arial Narrow"/>
                <a:cs typeface="Arial Narrow"/>
              </a:rPr>
              <a:t> </a:t>
            </a:r>
            <a:r>
              <a:rPr sz="3600" spc="-5" dirty="0">
                <a:latin typeface="Arial Narrow"/>
                <a:cs typeface="Arial Narrow"/>
              </a:rPr>
              <a:t>your</a:t>
            </a:r>
            <a:r>
              <a:rPr sz="3600" spc="10" dirty="0">
                <a:latin typeface="Arial Narrow"/>
                <a:cs typeface="Arial Narrow"/>
              </a:rPr>
              <a:t> </a:t>
            </a:r>
            <a:r>
              <a:rPr sz="3600" spc="-5" dirty="0">
                <a:latin typeface="Arial Narrow"/>
                <a:cs typeface="Arial Narrow"/>
              </a:rPr>
              <a:t>research</a:t>
            </a:r>
            <a:endParaRPr sz="3600" dirty="0">
              <a:latin typeface="Arial Narrow"/>
              <a:cs typeface="Arial Narrow"/>
            </a:endParaRPr>
          </a:p>
          <a:p>
            <a:pPr marL="793750" lvl="1" indent="-324485">
              <a:lnSpc>
                <a:spcPts val="3465"/>
              </a:lnSpc>
              <a:buSzPct val="96875"/>
              <a:buFont typeface="Wingdings"/>
              <a:buChar char=""/>
              <a:tabLst>
                <a:tab pos="794385" algn="l"/>
              </a:tabLst>
            </a:pPr>
            <a:r>
              <a:rPr sz="3200" dirty="0">
                <a:latin typeface="Arial Narrow"/>
                <a:cs typeface="Arial Narrow"/>
              </a:rPr>
              <a:t>journal</a:t>
            </a:r>
            <a:r>
              <a:rPr sz="3200" spc="-2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articles</a:t>
            </a:r>
          </a:p>
          <a:p>
            <a:pPr marL="793750" lvl="1" indent="-324485">
              <a:lnSpc>
                <a:spcPts val="3479"/>
              </a:lnSpc>
              <a:buSzPct val="96875"/>
              <a:buFont typeface="Wingdings"/>
              <a:buChar char=""/>
              <a:tabLst>
                <a:tab pos="794385" algn="l"/>
              </a:tabLst>
            </a:pPr>
            <a:r>
              <a:rPr sz="3200" dirty="0">
                <a:latin typeface="Arial Narrow"/>
                <a:cs typeface="Arial Narrow"/>
              </a:rPr>
              <a:t>database</a:t>
            </a:r>
            <a:r>
              <a:rPr sz="3200" spc="-5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search</a:t>
            </a:r>
          </a:p>
          <a:p>
            <a:pPr marL="1155700" lvl="2" indent="-229235">
              <a:lnSpc>
                <a:spcPts val="3025"/>
              </a:lnSpc>
              <a:buChar char="•"/>
              <a:tabLst>
                <a:tab pos="1156335" algn="l"/>
              </a:tabLst>
            </a:pPr>
            <a:r>
              <a:rPr sz="2800" spc="-10" dirty="0">
                <a:latin typeface="Arial Narrow"/>
                <a:cs typeface="Arial Narrow"/>
              </a:rPr>
              <a:t>Specific</a:t>
            </a:r>
            <a:r>
              <a:rPr sz="2800" spc="2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databases:</a:t>
            </a:r>
            <a:endParaRPr sz="2800" dirty="0">
              <a:latin typeface="Arial Narrow"/>
              <a:cs typeface="Arial Narrow"/>
            </a:endParaRPr>
          </a:p>
          <a:p>
            <a:pPr marL="1155700" lvl="2" indent="-229235">
              <a:lnSpc>
                <a:spcPts val="3025"/>
              </a:lnSpc>
              <a:buChar char="•"/>
              <a:tabLst>
                <a:tab pos="1156335" algn="l"/>
              </a:tabLst>
            </a:pPr>
            <a:r>
              <a:rPr lang="en-US"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Avery Index to Architectural Periodicals</a:t>
            </a:r>
            <a:r>
              <a:rPr lang="en-US"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, </a:t>
            </a:r>
            <a:r>
              <a:rPr lang="en-AU"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Art and Architecture Archive</a:t>
            </a:r>
            <a:r>
              <a:rPr lang="en-AU"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, </a:t>
            </a:r>
            <a:endParaRPr lang="en-US" sz="2800" u="heavy" spc="-5" dirty="0">
              <a:uFill>
                <a:solidFill>
                  <a:srgbClr val="000000"/>
                </a:solidFill>
              </a:uFill>
              <a:latin typeface="Arial Narrow"/>
              <a:cs typeface="Arial Narrow"/>
            </a:endParaRPr>
          </a:p>
          <a:p>
            <a:pPr marL="1155700" lvl="2" indent="-229235">
              <a:lnSpc>
                <a:spcPts val="3025"/>
              </a:lnSpc>
              <a:buChar char="•"/>
              <a:tabLst>
                <a:tab pos="1156335" algn="l"/>
              </a:tabLst>
            </a:pPr>
            <a:r>
              <a:rPr sz="2800" spc="-10" dirty="0">
                <a:latin typeface="Arial Narrow"/>
                <a:cs typeface="Arial Narrow"/>
              </a:rPr>
              <a:t>and</a:t>
            </a:r>
            <a:endParaRPr sz="2800" dirty="0">
              <a:latin typeface="Arial Narrow"/>
              <a:cs typeface="Arial Narrow"/>
            </a:endParaRPr>
          </a:p>
          <a:p>
            <a:pPr marL="1155700" lvl="2" indent="-229235">
              <a:lnSpc>
                <a:spcPts val="3190"/>
              </a:lnSpc>
              <a:buChar char="•"/>
              <a:tabLst>
                <a:tab pos="115633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4"/>
              </a:rPr>
              <a:t>Taylor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4"/>
              </a:rPr>
              <a:t> and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4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4"/>
              </a:rPr>
              <a:t>Francis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4"/>
              </a:rPr>
              <a:t>Online</a:t>
            </a:r>
            <a:endParaRPr sz="2800" dirty="0">
              <a:latin typeface="Arial Narrow"/>
              <a:cs typeface="Arial Narrow"/>
            </a:endParaRPr>
          </a:p>
          <a:p>
            <a:pPr marL="355600" indent="-342900">
              <a:lnSpc>
                <a:spcPct val="100000"/>
              </a:lnSpc>
              <a:spcBef>
                <a:spcPts val="195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spc="-5" dirty="0">
                <a:latin typeface="Arial Narrow"/>
                <a:cs typeface="Arial Narrow"/>
              </a:rPr>
              <a:t>Evaluate</a:t>
            </a:r>
            <a:r>
              <a:rPr sz="3600" spc="-25" dirty="0">
                <a:latin typeface="Arial Narrow"/>
                <a:cs typeface="Arial Narrow"/>
              </a:rPr>
              <a:t> </a:t>
            </a:r>
            <a:r>
              <a:rPr sz="3600" spc="-5" dirty="0">
                <a:latin typeface="Arial Narrow"/>
                <a:cs typeface="Arial Narrow"/>
              </a:rPr>
              <a:t>resources</a:t>
            </a:r>
            <a:endParaRPr sz="3600" dirty="0">
              <a:latin typeface="Arial Narrow"/>
              <a:cs typeface="Arial Narrow"/>
            </a:endParaRPr>
          </a:p>
          <a:p>
            <a:pPr marL="342265" marR="3109595" indent="-342265" algn="r">
              <a:lnSpc>
                <a:spcPts val="4135"/>
              </a:lnSpc>
              <a:spcBef>
                <a:spcPts val="215"/>
              </a:spcBef>
              <a:buChar char="•"/>
              <a:tabLst>
                <a:tab pos="342265" algn="l"/>
                <a:tab pos="355600" algn="l"/>
              </a:tabLst>
            </a:pPr>
            <a:r>
              <a:rPr sz="3600" spc="-5" dirty="0">
                <a:latin typeface="Arial Narrow"/>
                <a:cs typeface="Arial Narrow"/>
              </a:rPr>
              <a:t>Develop</a:t>
            </a:r>
            <a:r>
              <a:rPr sz="3600" spc="-25" dirty="0">
                <a:latin typeface="Arial Narrow"/>
                <a:cs typeface="Arial Narrow"/>
              </a:rPr>
              <a:t> </a:t>
            </a:r>
            <a:r>
              <a:rPr sz="3600" spc="-5" dirty="0">
                <a:latin typeface="Arial Narrow"/>
                <a:cs typeface="Arial Narrow"/>
              </a:rPr>
              <a:t>referencing</a:t>
            </a:r>
            <a:r>
              <a:rPr sz="3600" spc="-35" dirty="0">
                <a:latin typeface="Arial Narrow"/>
                <a:cs typeface="Arial Narrow"/>
              </a:rPr>
              <a:t> </a:t>
            </a:r>
            <a:r>
              <a:rPr sz="3600" spc="-5" dirty="0">
                <a:latin typeface="Arial Narrow"/>
                <a:cs typeface="Arial Narrow"/>
              </a:rPr>
              <a:t>skills</a:t>
            </a:r>
            <a:endParaRPr sz="3600" dirty="0">
              <a:latin typeface="Arial Narrow"/>
              <a:cs typeface="Arial Narrow"/>
            </a:endParaRPr>
          </a:p>
          <a:p>
            <a:pPr marL="324485" marR="3213100" lvl="1" indent="-324485" algn="r">
              <a:lnSpc>
                <a:spcPts val="3654"/>
              </a:lnSpc>
              <a:buSzPct val="96875"/>
              <a:buFont typeface="Wingdings"/>
              <a:buChar char=""/>
              <a:tabLst>
                <a:tab pos="324485" algn="l"/>
              </a:tabLst>
            </a:pPr>
            <a:r>
              <a:rPr sz="3200" dirty="0">
                <a:latin typeface="Arial Narrow"/>
                <a:cs typeface="Arial Narrow"/>
              </a:rPr>
              <a:t>Harvard</a:t>
            </a:r>
            <a:r>
              <a:rPr sz="3200" spc="-4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referencing</a:t>
            </a:r>
            <a:r>
              <a:rPr sz="3200" spc="-6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style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4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02590"/>
            <a:ext cx="6578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70C0"/>
                </a:solidFill>
              </a:rPr>
              <a:t>Literature</a:t>
            </a:r>
            <a:r>
              <a:rPr sz="3600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Search</a:t>
            </a:r>
            <a:r>
              <a:rPr sz="3600" spc="-15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Process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698932"/>
            <a:ext cx="7578090" cy="27146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800" b="1" spc="-5" dirty="0">
                <a:solidFill>
                  <a:srgbClr val="00B050"/>
                </a:solidFill>
                <a:latin typeface="Arial Narrow"/>
                <a:cs typeface="Arial Narrow"/>
              </a:rPr>
              <a:t>An</a:t>
            </a:r>
            <a:r>
              <a:rPr sz="2800" b="1" spc="5" dirty="0">
                <a:solidFill>
                  <a:srgbClr val="00B05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00B050"/>
                </a:solidFill>
                <a:latin typeface="Arial Narrow"/>
                <a:cs typeface="Arial Narrow"/>
              </a:rPr>
              <a:t>idealised</a:t>
            </a:r>
            <a:r>
              <a:rPr sz="2800" b="1" spc="15" dirty="0">
                <a:solidFill>
                  <a:srgbClr val="00B050"/>
                </a:solidFill>
                <a:latin typeface="Arial Narrow"/>
                <a:cs typeface="Arial Narrow"/>
              </a:rPr>
              <a:t> </a:t>
            </a:r>
            <a:r>
              <a:rPr sz="2800" b="1" spc="-5" dirty="0">
                <a:solidFill>
                  <a:srgbClr val="00B050"/>
                </a:solidFill>
                <a:latin typeface="Arial Narrow"/>
                <a:cs typeface="Arial Narrow"/>
              </a:rPr>
              <a:t>process</a:t>
            </a:r>
            <a:r>
              <a:rPr sz="2800" b="1" spc="10" dirty="0">
                <a:solidFill>
                  <a:srgbClr val="00B050"/>
                </a:solidFill>
                <a:latin typeface="Arial Narrow"/>
                <a:cs typeface="Arial Narrow"/>
              </a:rPr>
              <a:t> </a:t>
            </a:r>
            <a:r>
              <a:rPr sz="2800" b="1" spc="-5" dirty="0">
                <a:solidFill>
                  <a:srgbClr val="00B050"/>
                </a:solidFill>
                <a:latin typeface="Arial Narrow"/>
                <a:cs typeface="Arial Narrow"/>
              </a:rPr>
              <a:t>for</a:t>
            </a:r>
            <a:r>
              <a:rPr sz="2800" b="1" spc="-10" dirty="0">
                <a:solidFill>
                  <a:srgbClr val="00B050"/>
                </a:solidFill>
                <a:latin typeface="Arial Narrow"/>
                <a:cs typeface="Arial Narrow"/>
              </a:rPr>
              <a:t> </a:t>
            </a:r>
            <a:r>
              <a:rPr sz="2800" b="1" u="heavy" spc="-10" dirty="0">
                <a:solidFill>
                  <a:srgbClr val="00B050"/>
                </a:solidFill>
                <a:uFill>
                  <a:solidFill>
                    <a:srgbClr val="00B050"/>
                  </a:solidFill>
                </a:uFill>
                <a:latin typeface="Arial Narrow"/>
                <a:cs typeface="Arial Narrow"/>
              </a:rPr>
              <a:t>searching</a:t>
            </a:r>
            <a:r>
              <a:rPr sz="2800" b="1" spc="5" dirty="0">
                <a:solidFill>
                  <a:srgbClr val="00B050"/>
                </a:solidFill>
                <a:latin typeface="Arial Narrow"/>
                <a:cs typeface="Arial Narrow"/>
              </a:rPr>
              <a:t> </a:t>
            </a:r>
            <a:r>
              <a:rPr sz="2800" b="1" spc="-5" dirty="0">
                <a:solidFill>
                  <a:srgbClr val="00B050"/>
                </a:solidFill>
                <a:latin typeface="Arial Narrow"/>
                <a:cs typeface="Arial Narrow"/>
              </a:rPr>
              <a:t>the </a:t>
            </a:r>
            <a:r>
              <a:rPr sz="2800" b="1" spc="-10" dirty="0">
                <a:solidFill>
                  <a:srgbClr val="00B050"/>
                </a:solidFill>
                <a:latin typeface="Arial Narrow"/>
                <a:cs typeface="Arial Narrow"/>
              </a:rPr>
              <a:t>literature: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 Narrow"/>
                <a:cs typeface="Arial Narrow"/>
              </a:rPr>
              <a:t>Create</a:t>
            </a:r>
            <a:r>
              <a:rPr sz="2800" spc="-10" dirty="0">
                <a:latin typeface="Arial Narrow"/>
                <a:cs typeface="Arial Narrow"/>
              </a:rPr>
              <a:t> </a:t>
            </a:r>
            <a:r>
              <a:rPr sz="2800" dirty="0">
                <a:latin typeface="Arial Narrow"/>
                <a:cs typeface="Arial Narrow"/>
              </a:rPr>
              <a:t>“mind</a:t>
            </a:r>
            <a:r>
              <a:rPr sz="2800" spc="-3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map”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 Narrow"/>
                <a:cs typeface="Arial Narrow"/>
              </a:rPr>
              <a:t>Scope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your search</a:t>
            </a:r>
            <a:r>
              <a:rPr sz="2800" spc="-2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terms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6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Arial Narrow"/>
                <a:cs typeface="Arial Narrow"/>
              </a:rPr>
              <a:t>Identify</a:t>
            </a:r>
            <a:r>
              <a:rPr sz="2800" spc="2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and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select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relevant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information</a:t>
            </a:r>
            <a:r>
              <a:rPr sz="2800" spc="3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sources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Arial Narrow"/>
                <a:cs typeface="Arial Narrow"/>
              </a:rPr>
              <a:t>Manage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references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Arial Narrow"/>
                <a:cs typeface="Arial Narrow"/>
              </a:rPr>
              <a:t>Ongoing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search</a:t>
            </a:r>
            <a:r>
              <a:rPr sz="2800" spc="-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–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iterative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process.</a:t>
            </a:r>
            <a:r>
              <a:rPr sz="2800" spc="-10" dirty="0">
                <a:latin typeface="Arial Narrow"/>
                <a:cs typeface="Arial Narrow"/>
              </a:rPr>
              <a:t> Know</a:t>
            </a:r>
            <a:r>
              <a:rPr sz="2800" spc="3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when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to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stop.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5</a:t>
            </a:fld>
            <a:endParaRPr spc="5" dirty="0"/>
          </a:p>
        </p:txBody>
      </p:sp>
      <p:sp>
        <p:nvSpPr>
          <p:cNvPr id="2" name="object 2"/>
          <p:cNvSpPr txBox="1"/>
          <p:nvPr/>
        </p:nvSpPr>
        <p:spPr>
          <a:xfrm>
            <a:off x="329565" y="402590"/>
            <a:ext cx="2413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78C1"/>
                </a:solidFill>
                <a:latin typeface="Arial Black"/>
                <a:cs typeface="Arial Black"/>
              </a:rPr>
              <a:t>Mind</a:t>
            </a:r>
            <a:r>
              <a:rPr sz="3600" spc="-105" dirty="0">
                <a:solidFill>
                  <a:srgbClr val="0078C1"/>
                </a:solidFill>
                <a:latin typeface="Arial Black"/>
                <a:cs typeface="Arial Black"/>
              </a:rPr>
              <a:t> </a:t>
            </a:r>
            <a:r>
              <a:rPr sz="3600" dirty="0">
                <a:solidFill>
                  <a:srgbClr val="0078C1"/>
                </a:solidFill>
                <a:latin typeface="Arial Black"/>
                <a:cs typeface="Arial Black"/>
              </a:rPr>
              <a:t>Map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3677" y="1820265"/>
            <a:ext cx="63766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Narrow"/>
                <a:cs typeface="Arial Narrow"/>
              </a:rPr>
              <a:t>Example:</a:t>
            </a:r>
            <a:r>
              <a:rPr sz="1600" spc="1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Source:</a:t>
            </a:r>
            <a:r>
              <a:rPr sz="1600" spc="-15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‘Urban</a:t>
            </a:r>
            <a:r>
              <a:rPr sz="1600" spc="-3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Theme’</a:t>
            </a:r>
            <a:r>
              <a:rPr sz="1600" spc="-7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by</a:t>
            </a:r>
            <a:r>
              <a:rPr sz="1600" spc="10" dirty="0">
                <a:latin typeface="Arial Narrow"/>
                <a:cs typeface="Arial Narrow"/>
              </a:rPr>
              <a:t> </a:t>
            </a:r>
            <a:r>
              <a:rPr sz="1600" dirty="0">
                <a:latin typeface="Arial Narrow"/>
                <a:cs typeface="Arial Narrow"/>
              </a:rPr>
              <a:t>Rochelle</a:t>
            </a:r>
            <a:r>
              <a:rPr sz="1600" spc="-1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Karla</a:t>
            </a:r>
            <a:r>
              <a:rPr sz="1600" spc="5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in</a:t>
            </a:r>
            <a:r>
              <a:rPr sz="1600" spc="-85" dirty="0">
                <a:latin typeface="Arial Narrow"/>
                <a:cs typeface="Arial Narrow"/>
              </a:rPr>
              <a:t> </a:t>
            </a: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Architecture</a:t>
            </a:r>
            <a:r>
              <a:rPr sz="1600" u="heavy" spc="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Fiction Blog</a:t>
            </a:r>
            <a:r>
              <a:rPr sz="1600" dirty="0">
                <a:latin typeface="Arial Narrow"/>
                <a:cs typeface="Arial Narrow"/>
                <a:hlinkClick r:id="rId2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(2012)</a:t>
            </a:r>
            <a:endParaRPr sz="1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6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02590"/>
            <a:ext cx="4725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Assessment</a:t>
            </a:r>
            <a:r>
              <a:rPr sz="3600" spc="-35" dirty="0"/>
              <a:t> </a:t>
            </a:r>
            <a:r>
              <a:rPr sz="3600" spc="-5" dirty="0"/>
              <a:t>Tasks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653415" indent="-343535">
              <a:lnSpc>
                <a:spcPts val="3190"/>
              </a:lnSpc>
              <a:spcBef>
                <a:spcPts val="340"/>
              </a:spcBef>
              <a:buFont typeface="Arial Narrow"/>
              <a:buChar char="•"/>
              <a:tabLst>
                <a:tab pos="436245" algn="l"/>
                <a:tab pos="436880" algn="l"/>
              </a:tabLst>
            </a:pPr>
            <a:r>
              <a:rPr dirty="0"/>
              <a:t>	</a:t>
            </a:r>
            <a:r>
              <a:rPr spc="-5" dirty="0"/>
              <a:t>Task</a:t>
            </a:r>
            <a:r>
              <a:rPr spc="-10" dirty="0"/>
              <a:t> </a:t>
            </a:r>
            <a:r>
              <a:rPr spc="-5" dirty="0"/>
              <a:t>1:</a:t>
            </a:r>
            <a:r>
              <a:rPr spc="-20" dirty="0"/>
              <a:t> </a:t>
            </a:r>
            <a:r>
              <a:rPr spc="-10" dirty="0"/>
              <a:t>Writing</a:t>
            </a:r>
            <a:r>
              <a:rPr spc="10" dirty="0"/>
              <a:t> </a:t>
            </a:r>
            <a:r>
              <a:rPr spc="-5" dirty="0"/>
              <a:t>a short </a:t>
            </a:r>
            <a:r>
              <a:rPr spc="-625" dirty="0"/>
              <a:t> </a:t>
            </a:r>
            <a:r>
              <a:rPr spc="-5" dirty="0"/>
              <a:t>proposal</a:t>
            </a:r>
            <a:r>
              <a:rPr dirty="0"/>
              <a:t> </a:t>
            </a:r>
            <a:r>
              <a:rPr spc="-5" dirty="0"/>
              <a:t>in</a:t>
            </a:r>
            <a:r>
              <a:rPr spc="5" dirty="0"/>
              <a:t> </a:t>
            </a:r>
            <a:r>
              <a:rPr spc="-10" dirty="0"/>
              <a:t>built </a:t>
            </a:r>
            <a:r>
              <a:rPr spc="-5" dirty="0"/>
              <a:t> environment </a:t>
            </a:r>
            <a:r>
              <a:rPr spc="-10" dirty="0"/>
              <a:t>discipline </a:t>
            </a:r>
            <a:r>
              <a:rPr spc="-5" dirty="0"/>
              <a:t> (outline, abstract, short </a:t>
            </a:r>
            <a:r>
              <a:rPr spc="-625" dirty="0"/>
              <a:t> </a:t>
            </a:r>
            <a:r>
              <a:rPr spc="-10" dirty="0"/>
              <a:t>literature</a:t>
            </a:r>
            <a:r>
              <a:rPr spc="10" dirty="0"/>
              <a:t> </a:t>
            </a:r>
            <a:r>
              <a:rPr spc="-5" dirty="0"/>
              <a:t>review)</a:t>
            </a:r>
          </a:p>
          <a:p>
            <a:pPr>
              <a:lnSpc>
                <a:spcPct val="100000"/>
              </a:lnSpc>
              <a:spcBef>
                <a:spcPts val="30"/>
              </a:spcBef>
              <a:buFont typeface="Arial Narrow"/>
              <a:buChar char="•"/>
            </a:pPr>
            <a:endParaRPr sz="3350"/>
          </a:p>
          <a:p>
            <a:pPr marL="354965" marR="5080" indent="-342900">
              <a:lnSpc>
                <a:spcPts val="3190"/>
              </a:lnSpc>
              <a:buChar char="•"/>
              <a:tabLst>
                <a:tab pos="355600" algn="l"/>
                <a:tab pos="356235" algn="l"/>
              </a:tabLst>
            </a:pPr>
            <a:r>
              <a:rPr spc="-5" dirty="0"/>
              <a:t>Task 2. Case study (present </a:t>
            </a:r>
            <a:r>
              <a:rPr spc="-625" dirty="0"/>
              <a:t> </a:t>
            </a:r>
            <a:r>
              <a:rPr spc="-5" dirty="0"/>
              <a:t>a</a:t>
            </a:r>
            <a:r>
              <a:rPr spc="-25" dirty="0"/>
              <a:t> </a:t>
            </a:r>
            <a:r>
              <a:rPr spc="-10" dirty="0"/>
              <a:t>built</a:t>
            </a:r>
            <a:r>
              <a:rPr spc="20" dirty="0"/>
              <a:t> </a:t>
            </a:r>
            <a:r>
              <a:rPr spc="-5" dirty="0"/>
              <a:t>environment</a:t>
            </a:r>
            <a:r>
              <a:rPr dirty="0"/>
              <a:t> </a:t>
            </a:r>
            <a:r>
              <a:rPr spc="-5" dirty="0"/>
              <a:t>project </a:t>
            </a:r>
            <a:r>
              <a:rPr dirty="0"/>
              <a:t> </a:t>
            </a:r>
            <a:r>
              <a:rPr spc="-5" dirty="0"/>
              <a:t>for a client/stakeholder </a:t>
            </a:r>
            <a:r>
              <a:rPr dirty="0"/>
              <a:t> </a:t>
            </a:r>
            <a:r>
              <a:rPr spc="-5" dirty="0"/>
              <a:t>(descriptive</a:t>
            </a:r>
            <a:r>
              <a:rPr dirty="0"/>
              <a:t> </a:t>
            </a:r>
            <a:r>
              <a:rPr spc="-5" dirty="0"/>
              <a:t>+</a:t>
            </a:r>
            <a:r>
              <a:rPr dirty="0"/>
              <a:t> </a:t>
            </a:r>
            <a:r>
              <a:rPr spc="-10" dirty="0"/>
              <a:t>illustration)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pc="-5" dirty="0"/>
              <a:t>Task</a:t>
            </a:r>
            <a:r>
              <a:rPr spc="-10" dirty="0"/>
              <a:t> </a:t>
            </a:r>
            <a:r>
              <a:rPr spc="-5" dirty="0"/>
              <a:t>3:</a:t>
            </a:r>
            <a:r>
              <a:rPr spc="-15" dirty="0"/>
              <a:t> </a:t>
            </a:r>
            <a:r>
              <a:rPr spc="-10" dirty="0"/>
              <a:t>Presentation</a:t>
            </a:r>
          </a:p>
          <a:p>
            <a:pPr>
              <a:lnSpc>
                <a:spcPct val="100000"/>
              </a:lnSpc>
              <a:spcBef>
                <a:spcPts val="20"/>
              </a:spcBef>
              <a:buFont typeface="Arial Narrow"/>
              <a:buChar char="•"/>
            </a:pPr>
            <a:endParaRPr sz="3350"/>
          </a:p>
          <a:p>
            <a:pPr marL="354965" marR="5080" indent="-342900">
              <a:lnSpc>
                <a:spcPct val="95000"/>
              </a:lnSpc>
              <a:buChar char="•"/>
              <a:tabLst>
                <a:tab pos="355600" algn="l"/>
                <a:tab pos="356235" algn="l"/>
                <a:tab pos="3206115" algn="l"/>
              </a:tabLst>
            </a:pPr>
            <a:r>
              <a:rPr spc="-5" dirty="0"/>
              <a:t>Task 4: project </a:t>
            </a:r>
            <a:r>
              <a:rPr spc="-10" dirty="0"/>
              <a:t>(Managing </a:t>
            </a:r>
            <a:r>
              <a:rPr spc="-5" dirty="0"/>
              <a:t> </a:t>
            </a:r>
            <a:r>
              <a:rPr spc="-10" dirty="0"/>
              <a:t>International</a:t>
            </a:r>
            <a:r>
              <a:rPr spc="25" dirty="0"/>
              <a:t> </a:t>
            </a:r>
            <a:r>
              <a:rPr spc="-5" dirty="0"/>
              <a:t>Design</a:t>
            </a:r>
            <a:r>
              <a:rPr spc="15" dirty="0"/>
              <a:t> </a:t>
            </a:r>
            <a:r>
              <a:rPr spc="-10" dirty="0"/>
              <a:t>Project </a:t>
            </a:r>
            <a:r>
              <a:rPr spc="-625" dirty="0"/>
              <a:t> </a:t>
            </a:r>
            <a:r>
              <a:rPr spc="-10" dirty="0"/>
              <a:t>th</a:t>
            </a:r>
            <a:r>
              <a:rPr dirty="0"/>
              <a:t>r</a:t>
            </a:r>
            <a:r>
              <a:rPr spc="-10" dirty="0"/>
              <a:t>oug</a:t>
            </a:r>
            <a:r>
              <a:rPr spc="-5" dirty="0"/>
              <a:t>h</a:t>
            </a:r>
            <a:r>
              <a:rPr spc="5" dirty="0"/>
              <a:t> </a:t>
            </a:r>
            <a:r>
              <a:rPr spc="-10" dirty="0"/>
              <a:t>in</a:t>
            </a:r>
            <a:r>
              <a:rPr dirty="0"/>
              <a:t>v</a:t>
            </a:r>
            <a:r>
              <a:rPr spc="-10" dirty="0"/>
              <a:t>e</a:t>
            </a:r>
            <a:r>
              <a:rPr dirty="0"/>
              <a:t>s</a:t>
            </a:r>
            <a:r>
              <a:rPr spc="-10" dirty="0"/>
              <a:t>tigatin</a:t>
            </a:r>
            <a:r>
              <a:rPr spc="-5" dirty="0"/>
              <a:t>g</a:t>
            </a:r>
            <a:r>
              <a:rPr dirty="0"/>
              <a:t>	s</a:t>
            </a:r>
            <a:r>
              <a:rPr spc="-10" dirty="0"/>
              <a:t>o</a:t>
            </a:r>
            <a:r>
              <a:rPr dirty="0"/>
              <a:t>c</a:t>
            </a:r>
            <a:r>
              <a:rPr spc="-10" dirty="0"/>
              <a:t>ial  and</a:t>
            </a:r>
            <a:r>
              <a:rPr dirty="0"/>
              <a:t> </a:t>
            </a:r>
            <a:r>
              <a:rPr spc="-5" dirty="0"/>
              <a:t>cultural</a:t>
            </a:r>
            <a:r>
              <a:rPr spc="10" dirty="0"/>
              <a:t> </a:t>
            </a:r>
            <a:r>
              <a:rPr spc="-10" dirty="0"/>
              <a:t>capital; </a:t>
            </a:r>
            <a:r>
              <a:rPr spc="-5" dirty="0"/>
              <a:t> </a:t>
            </a:r>
            <a:r>
              <a:rPr spc="-10" dirty="0"/>
              <a:t>leadership</a:t>
            </a:r>
            <a:r>
              <a:rPr dirty="0"/>
              <a:t> </a:t>
            </a:r>
            <a:r>
              <a:rPr spc="-5" dirty="0"/>
              <a:t>for</a:t>
            </a:r>
            <a:r>
              <a:rPr spc="-10" dirty="0"/>
              <a:t> </a:t>
            </a:r>
            <a:r>
              <a:rPr spc="-5" dirty="0"/>
              <a:t>collaborative </a:t>
            </a:r>
            <a:r>
              <a:rPr dirty="0"/>
              <a:t> </a:t>
            </a:r>
            <a:r>
              <a:rPr spc="-5" dirty="0"/>
              <a:t>practice</a:t>
            </a:r>
            <a:r>
              <a:rPr dirty="0"/>
              <a:t> </a:t>
            </a:r>
            <a:r>
              <a:rPr spc="-5" dirty="0"/>
              <a:t>on</a:t>
            </a:r>
            <a:r>
              <a:rPr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project</a:t>
            </a:r>
            <a:r>
              <a:rPr dirty="0"/>
              <a:t> </a:t>
            </a:r>
            <a:r>
              <a:rPr spc="-10" dirty="0"/>
              <a:t>in </a:t>
            </a:r>
            <a:r>
              <a:rPr spc="-5" dirty="0"/>
              <a:t> </a:t>
            </a:r>
            <a:r>
              <a:rPr spc="-10" dirty="0"/>
              <a:t>Brazil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7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02590"/>
            <a:ext cx="72396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70C0"/>
                </a:solidFill>
              </a:rPr>
              <a:t>Sample</a:t>
            </a:r>
            <a:r>
              <a:rPr sz="3600" spc="-10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assignment</a:t>
            </a:r>
            <a:r>
              <a:rPr sz="3600" spc="5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question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74737"/>
            <a:ext cx="7884159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Narrow"/>
                <a:cs typeface="Arial Narrow"/>
              </a:rPr>
              <a:t>e.g.</a:t>
            </a:r>
            <a:r>
              <a:rPr sz="2400" b="1" i="1" spc="-5" dirty="0">
                <a:latin typeface="Arial Narrow"/>
                <a:cs typeface="Arial Narrow"/>
              </a:rPr>
              <a:t>:</a:t>
            </a:r>
            <a:endParaRPr sz="24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2950">
              <a:latin typeface="Arial Narrow"/>
              <a:cs typeface="Arial Narrow"/>
            </a:endParaRPr>
          </a:p>
          <a:p>
            <a:pPr marL="355600" marR="5080" indent="5715">
              <a:lnSpc>
                <a:spcPts val="2740"/>
              </a:lnSpc>
            </a:pPr>
            <a:r>
              <a:rPr sz="2400" b="1" i="1" spc="-5" dirty="0">
                <a:latin typeface="Arial Narrow"/>
                <a:cs typeface="Arial Narrow"/>
              </a:rPr>
              <a:t>Assess</a:t>
            </a:r>
            <a:r>
              <a:rPr sz="2400" b="1" i="1" spc="50" dirty="0">
                <a:latin typeface="Arial Narrow"/>
                <a:cs typeface="Arial Narrow"/>
              </a:rPr>
              <a:t> </a:t>
            </a:r>
            <a:r>
              <a:rPr sz="2400" b="1" i="1" spc="-5" dirty="0">
                <a:latin typeface="Arial Narrow"/>
                <a:cs typeface="Arial Narrow"/>
              </a:rPr>
              <a:t>the</a:t>
            </a:r>
            <a:r>
              <a:rPr sz="2400" b="1" i="1" dirty="0">
                <a:latin typeface="Arial Narrow"/>
                <a:cs typeface="Arial Narrow"/>
              </a:rPr>
              <a:t> </a:t>
            </a:r>
            <a:r>
              <a:rPr sz="2400" b="1" i="1" spc="-5" dirty="0">
                <a:latin typeface="Arial Narrow"/>
                <a:cs typeface="Arial Narrow"/>
              </a:rPr>
              <a:t>impacts</a:t>
            </a:r>
            <a:r>
              <a:rPr sz="2400" b="1" i="1" dirty="0">
                <a:latin typeface="Arial Narrow"/>
                <a:cs typeface="Arial Narrow"/>
              </a:rPr>
              <a:t> </a:t>
            </a:r>
            <a:r>
              <a:rPr sz="2400" b="1" i="1" spc="-5" dirty="0">
                <a:latin typeface="Arial Narrow"/>
                <a:cs typeface="Arial Narrow"/>
              </a:rPr>
              <a:t>of</a:t>
            </a:r>
            <a:r>
              <a:rPr sz="2400" b="1" i="1" dirty="0">
                <a:latin typeface="Arial Narrow"/>
                <a:cs typeface="Arial Narrow"/>
              </a:rPr>
              <a:t> </a:t>
            </a:r>
            <a:r>
              <a:rPr sz="2400" b="1" i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climate</a:t>
            </a:r>
            <a:r>
              <a:rPr sz="2400" b="1" i="1" u="heavy" spc="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2400" b="1" i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change</a:t>
            </a:r>
            <a:r>
              <a:rPr sz="2400" b="1" i="1" u="heavy" spc="2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2400" b="1" i="1" spc="-5" dirty="0">
                <a:latin typeface="Arial Narrow"/>
                <a:cs typeface="Arial Narrow"/>
              </a:rPr>
              <a:t>on</a:t>
            </a:r>
            <a:r>
              <a:rPr sz="2400" b="1" i="1" spc="5" dirty="0">
                <a:latin typeface="Arial Narrow"/>
                <a:cs typeface="Arial Narrow"/>
              </a:rPr>
              <a:t> </a:t>
            </a:r>
            <a:r>
              <a:rPr sz="2400" b="1" i="1" spc="-5" dirty="0">
                <a:latin typeface="Arial Narrow"/>
                <a:cs typeface="Arial Narrow"/>
              </a:rPr>
              <a:t>the</a:t>
            </a:r>
            <a:r>
              <a:rPr sz="2400" b="1" i="1" spc="-10" dirty="0">
                <a:latin typeface="Arial Narrow"/>
                <a:cs typeface="Arial Narrow"/>
              </a:rPr>
              <a:t> </a:t>
            </a:r>
            <a:r>
              <a:rPr sz="2400" b="1" i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built environment </a:t>
            </a:r>
            <a:r>
              <a:rPr sz="2400" b="1" i="1" spc="-530" dirty="0">
                <a:latin typeface="Arial Narrow"/>
                <a:cs typeface="Arial Narrow"/>
              </a:rPr>
              <a:t> </a:t>
            </a:r>
            <a:r>
              <a:rPr sz="2400" b="1" i="1" dirty="0">
                <a:latin typeface="Arial Narrow"/>
                <a:cs typeface="Arial Narrow"/>
              </a:rPr>
              <a:t>in</a:t>
            </a:r>
            <a:r>
              <a:rPr sz="2400" b="1" i="1" spc="-5" dirty="0">
                <a:latin typeface="Arial Narrow"/>
                <a:cs typeface="Arial Narrow"/>
              </a:rPr>
              <a:t> </a:t>
            </a:r>
            <a:r>
              <a:rPr sz="2400" b="1" i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Australia</a:t>
            </a:r>
            <a:endParaRPr sz="2400">
              <a:latin typeface="Arial Narrow"/>
              <a:cs typeface="Arial Narrow"/>
            </a:endParaRPr>
          </a:p>
          <a:p>
            <a:pPr marL="12700" marR="475615">
              <a:lnSpc>
                <a:spcPts val="6050"/>
              </a:lnSpc>
              <a:spcBef>
                <a:spcPts val="445"/>
              </a:spcBef>
            </a:pPr>
            <a:r>
              <a:rPr sz="2400" spc="-5" dirty="0">
                <a:latin typeface="Arial Narrow"/>
                <a:cs typeface="Arial Narrow"/>
              </a:rPr>
              <a:t>Main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keywords</a:t>
            </a:r>
            <a:r>
              <a:rPr sz="2400" spc="4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to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enter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in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library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or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database</a:t>
            </a:r>
            <a:r>
              <a:rPr sz="2400" spc="5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search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would</a:t>
            </a:r>
            <a:r>
              <a:rPr sz="2400" spc="40" dirty="0">
                <a:latin typeface="Arial Narrow"/>
                <a:cs typeface="Arial Narrow"/>
              </a:rPr>
              <a:t> </a:t>
            </a:r>
            <a:r>
              <a:rPr sz="2400" spc="-10" dirty="0">
                <a:latin typeface="Arial Narrow"/>
                <a:cs typeface="Arial Narrow"/>
              </a:rPr>
              <a:t>be: </a:t>
            </a:r>
            <a:r>
              <a:rPr sz="2400" spc="-53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climate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change</a:t>
            </a:r>
            <a:r>
              <a:rPr sz="2400" spc="3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AND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built</a:t>
            </a:r>
            <a:r>
              <a:rPr sz="2400" spc="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environment</a:t>
            </a:r>
            <a:r>
              <a:rPr sz="2400" spc="4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AND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Australia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8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02590"/>
            <a:ext cx="6731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70C0"/>
                </a:solidFill>
              </a:rPr>
              <a:t>Scoping</a:t>
            </a:r>
            <a:r>
              <a:rPr sz="3600" spc="-15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your</a:t>
            </a:r>
            <a:r>
              <a:rPr sz="3600" spc="-10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search</a:t>
            </a:r>
            <a:r>
              <a:rPr sz="3600" spc="5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terms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809433"/>
            <a:ext cx="8249284" cy="3966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Narrow"/>
                <a:cs typeface="Arial Narrow"/>
              </a:rPr>
              <a:t>List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all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possible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b="1" spc="-10" dirty="0">
                <a:latin typeface="Arial Narrow"/>
                <a:cs typeface="Arial Narrow"/>
              </a:rPr>
              <a:t>search</a:t>
            </a:r>
            <a:r>
              <a:rPr sz="2800" b="1" spc="10" dirty="0">
                <a:latin typeface="Arial Narrow"/>
                <a:cs typeface="Arial Narrow"/>
              </a:rPr>
              <a:t> </a:t>
            </a:r>
            <a:r>
              <a:rPr sz="2800" b="1" spc="-5" dirty="0">
                <a:latin typeface="Arial Narrow"/>
                <a:cs typeface="Arial Narrow"/>
              </a:rPr>
              <a:t>terms</a:t>
            </a:r>
            <a:r>
              <a:rPr sz="2800" b="1" spc="-10" dirty="0">
                <a:latin typeface="Arial Narrow"/>
                <a:cs typeface="Arial Narrow"/>
              </a:rPr>
              <a:t> </a:t>
            </a:r>
            <a:r>
              <a:rPr sz="2800" b="1" spc="-5" dirty="0">
                <a:latin typeface="Arial Narrow"/>
                <a:cs typeface="Arial Narrow"/>
              </a:rPr>
              <a:t>/</a:t>
            </a:r>
            <a:r>
              <a:rPr sz="2800" b="1" spc="-15" dirty="0">
                <a:latin typeface="Arial Narrow"/>
                <a:cs typeface="Arial Narrow"/>
              </a:rPr>
              <a:t> </a:t>
            </a:r>
            <a:r>
              <a:rPr sz="2800" b="1" spc="-10" dirty="0">
                <a:latin typeface="Arial Narrow"/>
                <a:cs typeface="Arial Narrow"/>
              </a:rPr>
              <a:t>key</a:t>
            </a:r>
            <a:r>
              <a:rPr sz="2800" b="1" spc="5" dirty="0">
                <a:latin typeface="Arial Narrow"/>
                <a:cs typeface="Arial Narrow"/>
              </a:rPr>
              <a:t> </a:t>
            </a:r>
            <a:r>
              <a:rPr sz="2800" b="1" spc="-5" dirty="0">
                <a:latin typeface="Arial Narrow"/>
                <a:cs typeface="Arial Narrow"/>
              </a:rPr>
              <a:t>concepts</a:t>
            </a:r>
            <a:endParaRPr sz="2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Narrow"/>
              <a:buChar char="•"/>
            </a:pPr>
            <a:endParaRPr sz="3200">
              <a:latin typeface="Arial Narrow"/>
              <a:cs typeface="Arial Narrow"/>
            </a:endParaRPr>
          </a:p>
          <a:p>
            <a:pPr marL="355600" indent="-342900">
              <a:lnSpc>
                <a:spcPts val="322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 Narrow"/>
                <a:cs typeface="Arial Narrow"/>
              </a:rPr>
              <a:t>Broader/narrower</a:t>
            </a:r>
            <a:r>
              <a:rPr sz="2800" spc="2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terms</a:t>
            </a:r>
            <a:endParaRPr sz="2800">
              <a:latin typeface="Arial Narrow"/>
              <a:cs typeface="Arial Narrow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185"/>
              </a:spcBef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Fine-tune</a:t>
            </a:r>
            <a:r>
              <a:rPr sz="2400" spc="4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search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strategy.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Use</a:t>
            </a:r>
            <a:r>
              <a:rPr sz="2400" spc="3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narrower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terms if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there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are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quite </a:t>
            </a:r>
            <a:r>
              <a:rPr sz="2400" spc="-53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few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retrieved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results.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If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not,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stick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to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using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broader</a:t>
            </a:r>
            <a:r>
              <a:rPr sz="2400" spc="3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terms.</a:t>
            </a:r>
            <a:endParaRPr sz="2400">
              <a:latin typeface="Arial Narrow"/>
              <a:cs typeface="Arial Narrow"/>
            </a:endParaRPr>
          </a:p>
          <a:p>
            <a:pPr marL="355600" indent="-342900">
              <a:lnSpc>
                <a:spcPts val="3220"/>
              </a:lnSpc>
              <a:spcBef>
                <a:spcPts val="13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 Narrow"/>
                <a:cs typeface="Arial Narrow"/>
              </a:rPr>
              <a:t>Core/peripheral</a:t>
            </a:r>
            <a:endParaRPr sz="2800">
              <a:latin typeface="Arial Narrow"/>
              <a:cs typeface="Arial Narrow"/>
            </a:endParaRPr>
          </a:p>
          <a:p>
            <a:pPr marL="756285" lvl="1" indent="-287020">
              <a:lnSpc>
                <a:spcPts val="2740"/>
              </a:lnSpc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What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terms</a:t>
            </a:r>
            <a:r>
              <a:rPr sz="2400" spc="-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must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be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in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all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your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searches,</a:t>
            </a:r>
            <a:r>
              <a:rPr sz="2400" spc="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and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what</a:t>
            </a:r>
            <a:r>
              <a:rPr sz="2400" spc="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not?</a:t>
            </a:r>
            <a:endParaRPr sz="2400">
              <a:latin typeface="Arial Narrow"/>
              <a:cs typeface="Arial Narrow"/>
            </a:endParaRPr>
          </a:p>
          <a:p>
            <a:pPr marL="354965" marR="887730" indent="-342900">
              <a:lnSpc>
                <a:spcPts val="3190"/>
              </a:lnSpc>
              <a:spcBef>
                <a:spcPts val="40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 Narrow"/>
                <a:cs typeface="Arial Narrow"/>
              </a:rPr>
              <a:t>Ambiguous</a:t>
            </a:r>
            <a:r>
              <a:rPr sz="2800" spc="3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words/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generic</a:t>
            </a:r>
            <a:r>
              <a:rPr sz="2800" spc="2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words/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irrelevant</a:t>
            </a:r>
            <a:r>
              <a:rPr sz="2800" spc="2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words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not </a:t>
            </a:r>
            <a:r>
              <a:rPr sz="2800" spc="-62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needed:</a:t>
            </a:r>
            <a:endParaRPr sz="2800">
              <a:latin typeface="Arial Narrow"/>
              <a:cs typeface="Arial Narrow"/>
            </a:endParaRPr>
          </a:p>
          <a:p>
            <a:pPr marL="756285" lvl="1" indent="-287020">
              <a:lnSpc>
                <a:spcPts val="2520"/>
              </a:lnSpc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‘determine’,</a:t>
            </a:r>
            <a:r>
              <a:rPr sz="2400" spc="4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‘assess,’</a:t>
            </a:r>
            <a:r>
              <a:rPr sz="2400" spc="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‘on’,</a:t>
            </a:r>
            <a:r>
              <a:rPr sz="2400" spc="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‘the’,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‘in’,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etc.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9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02590"/>
            <a:ext cx="7012305" cy="10407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760"/>
              </a:spcBef>
            </a:pPr>
            <a:r>
              <a:rPr sz="3600" spc="-5" dirty="0">
                <a:solidFill>
                  <a:srgbClr val="0070C0"/>
                </a:solidFill>
              </a:rPr>
              <a:t>Mechanics of</a:t>
            </a:r>
            <a:r>
              <a:rPr sz="3600" spc="-15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searching</a:t>
            </a:r>
            <a:r>
              <a:rPr sz="3600" spc="5" dirty="0">
                <a:solidFill>
                  <a:srgbClr val="0070C0"/>
                </a:solidFill>
              </a:rPr>
              <a:t> </a:t>
            </a:r>
            <a:r>
              <a:rPr sz="3600" dirty="0">
                <a:solidFill>
                  <a:srgbClr val="0070C0"/>
                </a:solidFill>
              </a:rPr>
              <a:t>key </a:t>
            </a:r>
            <a:r>
              <a:rPr sz="3600" spc="-1185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terms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0245" indent="-390525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690245" algn="l"/>
                <a:tab pos="690880" algn="l"/>
              </a:tabLst>
            </a:pPr>
            <a:r>
              <a:rPr spc="-5" dirty="0"/>
              <a:t>Synonyms:</a:t>
            </a:r>
            <a:r>
              <a:rPr spc="20" dirty="0"/>
              <a:t> </a:t>
            </a:r>
            <a:r>
              <a:rPr spc="-5" dirty="0"/>
              <a:t>proposal</a:t>
            </a:r>
            <a:r>
              <a:rPr spc="20" dirty="0"/>
              <a:t> </a:t>
            </a:r>
            <a:r>
              <a:rPr spc="-5" dirty="0"/>
              <a:t>OR</a:t>
            </a:r>
            <a:r>
              <a:rPr dirty="0"/>
              <a:t> </a:t>
            </a:r>
            <a:r>
              <a:rPr spc="-5" dirty="0"/>
              <a:t>plan</a:t>
            </a:r>
            <a:r>
              <a:rPr spc="10" dirty="0"/>
              <a:t> </a:t>
            </a:r>
            <a:r>
              <a:rPr spc="-5" dirty="0"/>
              <a:t>OR</a:t>
            </a:r>
            <a:r>
              <a:rPr spc="10" dirty="0"/>
              <a:t> </a:t>
            </a:r>
            <a:r>
              <a:rPr spc="-5" dirty="0"/>
              <a:t>project OR</a:t>
            </a:r>
            <a:r>
              <a:rPr spc="10" dirty="0"/>
              <a:t> </a:t>
            </a:r>
            <a:r>
              <a:rPr spc="-5" dirty="0"/>
              <a:t>planning</a:t>
            </a:r>
            <a:r>
              <a:rPr dirty="0"/>
              <a:t> </a:t>
            </a:r>
            <a:r>
              <a:rPr spc="-5" dirty="0"/>
              <a:t>report</a:t>
            </a:r>
          </a:p>
          <a:p>
            <a:pPr marL="690245" indent="-390525">
              <a:lnSpc>
                <a:spcPts val="2590"/>
              </a:lnSpc>
              <a:buFont typeface="Arial"/>
              <a:buChar char="•"/>
              <a:tabLst>
                <a:tab pos="690245" algn="l"/>
                <a:tab pos="690880" algn="l"/>
              </a:tabLst>
            </a:pPr>
            <a:r>
              <a:rPr spc="-5" dirty="0">
                <a:solidFill>
                  <a:srgbClr val="00B050"/>
                </a:solidFill>
              </a:rPr>
              <a:t>Truncation: plan*=</a:t>
            </a:r>
            <a:r>
              <a:rPr spc="5" dirty="0">
                <a:solidFill>
                  <a:srgbClr val="00B050"/>
                </a:solidFill>
              </a:rPr>
              <a:t> </a:t>
            </a:r>
            <a:r>
              <a:rPr spc="-5" dirty="0">
                <a:solidFill>
                  <a:srgbClr val="00B050"/>
                </a:solidFill>
              </a:rPr>
              <a:t>plan,</a:t>
            </a:r>
            <a:r>
              <a:rPr spc="10" dirty="0">
                <a:solidFill>
                  <a:srgbClr val="00B050"/>
                </a:solidFill>
              </a:rPr>
              <a:t> </a:t>
            </a:r>
            <a:r>
              <a:rPr spc="-5" dirty="0">
                <a:solidFill>
                  <a:srgbClr val="00B050"/>
                </a:solidFill>
              </a:rPr>
              <a:t>plans,</a:t>
            </a:r>
            <a:r>
              <a:rPr spc="20" dirty="0">
                <a:solidFill>
                  <a:srgbClr val="00B050"/>
                </a:solidFill>
              </a:rPr>
              <a:t> </a:t>
            </a:r>
            <a:r>
              <a:rPr spc="-5" dirty="0">
                <a:solidFill>
                  <a:srgbClr val="00B050"/>
                </a:solidFill>
              </a:rPr>
              <a:t>planning,</a:t>
            </a:r>
            <a:r>
              <a:rPr spc="5" dirty="0">
                <a:solidFill>
                  <a:srgbClr val="00B050"/>
                </a:solidFill>
              </a:rPr>
              <a:t> </a:t>
            </a:r>
            <a:r>
              <a:rPr spc="-5" dirty="0">
                <a:solidFill>
                  <a:srgbClr val="00B050"/>
                </a:solidFill>
              </a:rPr>
              <a:t>planners,</a:t>
            </a:r>
            <a:r>
              <a:rPr spc="25" dirty="0">
                <a:solidFill>
                  <a:srgbClr val="00B050"/>
                </a:solidFill>
              </a:rPr>
              <a:t> </a:t>
            </a:r>
            <a:r>
              <a:rPr strike="sngStrike" spc="-5" dirty="0">
                <a:solidFill>
                  <a:srgbClr val="00B050"/>
                </a:solidFill>
              </a:rPr>
              <a:t>planes</a:t>
            </a:r>
            <a:r>
              <a:rPr strike="noStrike" spc="-5" dirty="0">
                <a:solidFill>
                  <a:srgbClr val="00B050"/>
                </a:solidFill>
              </a:rPr>
              <a:t>,</a:t>
            </a:r>
            <a:r>
              <a:rPr strike="noStrike" spc="20" dirty="0">
                <a:solidFill>
                  <a:srgbClr val="00B050"/>
                </a:solidFill>
              </a:rPr>
              <a:t> </a:t>
            </a:r>
            <a:r>
              <a:rPr strike="noStrike" spc="-5" dirty="0">
                <a:solidFill>
                  <a:srgbClr val="00B050"/>
                </a:solidFill>
              </a:rPr>
              <a:t>etc.</a:t>
            </a:r>
          </a:p>
          <a:p>
            <a:pPr marL="690245" indent="-390525">
              <a:lnSpc>
                <a:spcPts val="2735"/>
              </a:lnSpc>
              <a:buFont typeface="Arial"/>
              <a:buChar char="•"/>
              <a:tabLst>
                <a:tab pos="690245" algn="l"/>
                <a:tab pos="690880" algn="l"/>
              </a:tabLst>
            </a:pPr>
            <a:r>
              <a:rPr spc="-5" dirty="0">
                <a:solidFill>
                  <a:srgbClr val="0033CC"/>
                </a:solidFill>
              </a:rPr>
              <a:t>Phrase</a:t>
            </a:r>
            <a:r>
              <a:rPr spc="25" dirty="0">
                <a:solidFill>
                  <a:srgbClr val="0033CC"/>
                </a:solidFill>
              </a:rPr>
              <a:t> </a:t>
            </a:r>
            <a:r>
              <a:rPr spc="-5" dirty="0">
                <a:solidFill>
                  <a:srgbClr val="0033CC"/>
                </a:solidFill>
              </a:rPr>
              <a:t>searching</a:t>
            </a:r>
            <a:r>
              <a:rPr spc="25" dirty="0">
                <a:solidFill>
                  <a:srgbClr val="0033CC"/>
                </a:solidFill>
              </a:rPr>
              <a:t> </a:t>
            </a:r>
            <a:r>
              <a:rPr dirty="0">
                <a:solidFill>
                  <a:srgbClr val="0033CC"/>
                </a:solidFill>
              </a:rPr>
              <a:t>=</a:t>
            </a:r>
            <a:r>
              <a:rPr spc="-5" dirty="0">
                <a:solidFill>
                  <a:srgbClr val="0033CC"/>
                </a:solidFill>
              </a:rPr>
              <a:t> “built environment”</a:t>
            </a:r>
            <a:r>
              <a:rPr spc="15" dirty="0">
                <a:solidFill>
                  <a:srgbClr val="0033CC"/>
                </a:solidFill>
              </a:rPr>
              <a:t> </a:t>
            </a:r>
            <a:r>
              <a:rPr spc="-5" dirty="0">
                <a:solidFill>
                  <a:srgbClr val="0033CC"/>
                </a:solidFill>
              </a:rPr>
              <a:t>OR</a:t>
            </a:r>
            <a:r>
              <a:rPr dirty="0">
                <a:solidFill>
                  <a:srgbClr val="0033CC"/>
                </a:solidFill>
              </a:rPr>
              <a:t> </a:t>
            </a:r>
            <a:r>
              <a:rPr spc="-5" dirty="0">
                <a:solidFill>
                  <a:srgbClr val="0033CC"/>
                </a:solidFill>
              </a:rPr>
              <a:t>“urban</a:t>
            </a:r>
            <a:r>
              <a:rPr spc="10" dirty="0">
                <a:solidFill>
                  <a:srgbClr val="0033CC"/>
                </a:solidFill>
              </a:rPr>
              <a:t> </a:t>
            </a:r>
            <a:r>
              <a:rPr spc="-5" dirty="0">
                <a:solidFill>
                  <a:srgbClr val="0033CC"/>
                </a:solidFill>
              </a:rPr>
              <a:t>design”</a:t>
            </a:r>
          </a:p>
          <a:p>
            <a:pPr marL="690245" lvl="1" indent="-287020">
              <a:lnSpc>
                <a:spcPct val="100000"/>
              </a:lnSpc>
              <a:spcBef>
                <a:spcPts val="2300"/>
              </a:spcBef>
              <a:buFont typeface="Arial"/>
              <a:buChar char="•"/>
              <a:tabLst>
                <a:tab pos="690245" algn="l"/>
                <a:tab pos="690880" algn="l"/>
                <a:tab pos="2472055" algn="l"/>
              </a:tabLst>
            </a:pPr>
            <a:r>
              <a:rPr sz="2400" b="1" spc="-5" dirty="0">
                <a:solidFill>
                  <a:srgbClr val="FF3300"/>
                </a:solidFill>
                <a:latin typeface="Arial Narrow"/>
                <a:cs typeface="Arial Narrow"/>
              </a:rPr>
              <a:t>Boolean</a:t>
            </a:r>
            <a:r>
              <a:rPr sz="2400" b="1" spc="30" dirty="0">
                <a:solidFill>
                  <a:srgbClr val="FF3300"/>
                </a:solidFill>
                <a:latin typeface="Arial Narrow"/>
                <a:cs typeface="Arial Narrow"/>
              </a:rPr>
              <a:t> </a:t>
            </a:r>
            <a:r>
              <a:rPr sz="2400" b="1" spc="-5" dirty="0">
                <a:solidFill>
                  <a:srgbClr val="FF3300"/>
                </a:solidFill>
                <a:latin typeface="Arial Narrow"/>
                <a:cs typeface="Arial Narrow"/>
              </a:rPr>
              <a:t>logic	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video</a:t>
            </a:r>
            <a:r>
              <a:rPr sz="2400" b="1" u="heavy" spc="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explaining</a:t>
            </a:r>
            <a:r>
              <a:rPr sz="2400" b="1" u="heavy" spc="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Boolean</a:t>
            </a:r>
            <a:r>
              <a:rPr sz="2400" b="1" u="heavy" spc="1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logic</a:t>
            </a:r>
            <a:endParaRPr sz="2400">
              <a:latin typeface="Arial Narrow"/>
              <a:cs typeface="Arial Narrow"/>
            </a:endParaRPr>
          </a:p>
          <a:p>
            <a:pPr marL="289560" marR="230504" indent="-100965">
              <a:lnSpc>
                <a:spcPts val="3190"/>
              </a:lnSpc>
              <a:spcBef>
                <a:spcPts val="1700"/>
              </a:spcBef>
            </a:pPr>
            <a:r>
              <a:rPr sz="2800" spc="-5" dirty="0"/>
              <a:t>“built environment” </a:t>
            </a:r>
            <a:r>
              <a:rPr sz="2800" spc="-5" dirty="0">
                <a:solidFill>
                  <a:srgbClr val="FF3300"/>
                </a:solidFill>
              </a:rPr>
              <a:t>AND </a:t>
            </a:r>
            <a:r>
              <a:rPr sz="2800" spc="-5" dirty="0"/>
              <a:t>(plan* </a:t>
            </a:r>
            <a:r>
              <a:rPr sz="2800" spc="-5" dirty="0">
                <a:solidFill>
                  <a:srgbClr val="FF3300"/>
                </a:solidFill>
              </a:rPr>
              <a:t>OR </a:t>
            </a:r>
            <a:r>
              <a:rPr sz="2800" spc="-5" dirty="0"/>
              <a:t>propos* </a:t>
            </a:r>
            <a:r>
              <a:rPr sz="2800" spc="-5" dirty="0">
                <a:solidFill>
                  <a:srgbClr val="FF3300"/>
                </a:solidFill>
              </a:rPr>
              <a:t>OR </a:t>
            </a:r>
            <a:r>
              <a:rPr sz="2800" spc="-5" dirty="0"/>
              <a:t>project* </a:t>
            </a:r>
            <a:r>
              <a:rPr sz="2800" spc="-625" dirty="0"/>
              <a:t> </a:t>
            </a:r>
            <a:r>
              <a:rPr sz="2800" spc="-5" dirty="0">
                <a:solidFill>
                  <a:srgbClr val="FF0000"/>
                </a:solidFill>
              </a:rPr>
              <a:t>OR</a:t>
            </a:r>
            <a:r>
              <a:rPr sz="2800" spc="5" dirty="0">
                <a:solidFill>
                  <a:srgbClr val="FF0000"/>
                </a:solidFill>
              </a:rPr>
              <a:t> </a:t>
            </a:r>
            <a:r>
              <a:rPr sz="2800" spc="-5" dirty="0"/>
              <a:t>planning</a:t>
            </a:r>
            <a:r>
              <a:rPr sz="2800" spc="-15" dirty="0"/>
              <a:t> </a:t>
            </a:r>
            <a:r>
              <a:rPr sz="2800" spc="-5" dirty="0"/>
              <a:t>report)</a:t>
            </a:r>
            <a:endParaRPr sz="2800"/>
          </a:p>
          <a:p>
            <a:pPr marL="176530">
              <a:lnSpc>
                <a:spcPct val="100000"/>
              </a:lnSpc>
              <a:spcBef>
                <a:spcPts val="35"/>
              </a:spcBef>
            </a:pPr>
            <a:endParaRPr sz="3250"/>
          </a:p>
          <a:p>
            <a:pPr marL="289560" marR="598170" indent="-58419">
              <a:lnSpc>
                <a:spcPts val="2280"/>
              </a:lnSpc>
            </a:pPr>
            <a:r>
              <a:rPr sz="2000" b="0" spc="-5" dirty="0">
                <a:latin typeface="Arial Narrow"/>
                <a:cs typeface="Arial Narrow"/>
              </a:rPr>
              <a:t>*Databases</a:t>
            </a:r>
            <a:r>
              <a:rPr sz="2000" b="0" spc="5" dirty="0">
                <a:latin typeface="Arial Narrow"/>
                <a:cs typeface="Arial Narrow"/>
              </a:rPr>
              <a:t> </a:t>
            </a:r>
            <a:r>
              <a:rPr sz="2000" b="0" spc="-5" dirty="0">
                <a:latin typeface="Arial Narrow"/>
                <a:cs typeface="Arial Narrow"/>
              </a:rPr>
              <a:t>may look</a:t>
            </a:r>
            <a:r>
              <a:rPr sz="2000" b="0" spc="10" dirty="0">
                <a:latin typeface="Arial Narrow"/>
                <a:cs typeface="Arial Narrow"/>
              </a:rPr>
              <a:t> </a:t>
            </a:r>
            <a:r>
              <a:rPr sz="2000" b="0" spc="-5" dirty="0">
                <a:latin typeface="Arial Narrow"/>
                <a:cs typeface="Arial Narrow"/>
              </a:rPr>
              <a:t>differently</a:t>
            </a:r>
            <a:r>
              <a:rPr sz="2000" b="0" spc="-15" dirty="0">
                <a:latin typeface="Arial Narrow"/>
                <a:cs typeface="Arial Narrow"/>
              </a:rPr>
              <a:t> </a:t>
            </a:r>
            <a:r>
              <a:rPr sz="2000" b="0" spc="-5" dirty="0">
                <a:latin typeface="Arial Narrow"/>
                <a:cs typeface="Arial Narrow"/>
              </a:rPr>
              <a:t>but</a:t>
            </a:r>
            <a:r>
              <a:rPr sz="2000" b="0" spc="-15" dirty="0">
                <a:latin typeface="Arial Narrow"/>
                <a:cs typeface="Arial Narrow"/>
              </a:rPr>
              <a:t> </a:t>
            </a:r>
            <a:r>
              <a:rPr sz="2000" b="0" spc="-5" dirty="0">
                <a:latin typeface="Arial Narrow"/>
                <a:cs typeface="Arial Narrow"/>
              </a:rPr>
              <a:t>fundamentally</a:t>
            </a:r>
            <a:r>
              <a:rPr sz="2000" b="0" spc="-15" dirty="0">
                <a:latin typeface="Arial Narrow"/>
                <a:cs typeface="Arial Narrow"/>
              </a:rPr>
              <a:t> </a:t>
            </a:r>
            <a:r>
              <a:rPr sz="2000" b="0" spc="-5" dirty="0">
                <a:latin typeface="Arial Narrow"/>
                <a:cs typeface="Arial Narrow"/>
              </a:rPr>
              <a:t>similar</a:t>
            </a:r>
            <a:r>
              <a:rPr sz="2000" b="0" spc="25" dirty="0">
                <a:latin typeface="Arial Narrow"/>
                <a:cs typeface="Arial Narrow"/>
              </a:rPr>
              <a:t> </a:t>
            </a:r>
            <a:r>
              <a:rPr sz="2000" b="0" spc="-5" dirty="0">
                <a:latin typeface="Arial Narrow"/>
                <a:cs typeface="Arial Narrow"/>
              </a:rPr>
              <a:t>searching</a:t>
            </a:r>
            <a:r>
              <a:rPr sz="2000" b="0" spc="10" dirty="0">
                <a:latin typeface="Arial Narrow"/>
                <a:cs typeface="Arial Narrow"/>
              </a:rPr>
              <a:t> </a:t>
            </a:r>
            <a:r>
              <a:rPr sz="2000" b="0" spc="-5" dirty="0">
                <a:latin typeface="Arial Narrow"/>
                <a:cs typeface="Arial Narrow"/>
              </a:rPr>
              <a:t>techniques </a:t>
            </a:r>
            <a:r>
              <a:rPr sz="2000" b="0" spc="-445" dirty="0">
                <a:latin typeface="Arial Narrow"/>
                <a:cs typeface="Arial Narrow"/>
              </a:rPr>
              <a:t> </a:t>
            </a:r>
            <a:r>
              <a:rPr sz="2000" b="0" spc="-5" dirty="0">
                <a:latin typeface="Arial Narrow"/>
                <a:cs typeface="Arial Narrow"/>
              </a:rPr>
              <a:t>operate</a:t>
            </a:r>
            <a:r>
              <a:rPr sz="2000" b="0" spc="-20" dirty="0">
                <a:latin typeface="Arial Narrow"/>
                <a:cs typeface="Arial Narrow"/>
              </a:rPr>
              <a:t> </a:t>
            </a:r>
            <a:r>
              <a:rPr sz="2000" b="0" spc="-5" dirty="0">
                <a:latin typeface="Arial Narrow"/>
                <a:cs typeface="Arial Narrow"/>
              </a:rPr>
              <a:t>across</a:t>
            </a:r>
            <a:r>
              <a:rPr sz="2000" b="0" spc="15" dirty="0">
                <a:latin typeface="Arial Narrow"/>
                <a:cs typeface="Arial Narrow"/>
              </a:rPr>
              <a:t> </a:t>
            </a:r>
            <a:r>
              <a:rPr sz="2000" b="0" spc="-5" dirty="0">
                <a:latin typeface="Arial Narrow"/>
                <a:cs typeface="Arial Narrow"/>
              </a:rPr>
              <a:t>them*</a:t>
            </a:r>
            <a:endParaRPr sz="2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17829"/>
            <a:ext cx="38150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Combining</a:t>
            </a:r>
            <a:r>
              <a:rPr sz="3600" b="1" spc="-7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keywords</a:t>
            </a:r>
            <a:endParaRPr sz="36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78052" y="1115567"/>
            <a:ext cx="6628130" cy="5274945"/>
            <a:chOff x="1178052" y="1115567"/>
            <a:chExt cx="6628130" cy="52749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7196" y="1124712"/>
              <a:ext cx="6613715" cy="52570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82624" y="1120139"/>
              <a:ext cx="6619240" cy="5265420"/>
            </a:xfrm>
            <a:custGeom>
              <a:avLst/>
              <a:gdLst/>
              <a:ahLst/>
              <a:cxnLst/>
              <a:rect l="l" t="t" r="r" b="b"/>
              <a:pathLst>
                <a:path w="6619240" h="5265420">
                  <a:moveTo>
                    <a:pt x="0" y="0"/>
                  </a:moveTo>
                  <a:lnTo>
                    <a:pt x="6618732" y="0"/>
                  </a:lnTo>
                  <a:lnTo>
                    <a:pt x="6618732" y="5265420"/>
                  </a:lnTo>
                  <a:lnTo>
                    <a:pt x="0" y="526542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10</a:t>
            </a:fld>
            <a:endParaRPr spc="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11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17829"/>
            <a:ext cx="1380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Activity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327" y="1340260"/>
            <a:ext cx="7990840" cy="450659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55600" marR="153035" indent="-342900">
              <a:lnSpc>
                <a:spcPts val="3650"/>
              </a:lnSpc>
              <a:spcBef>
                <a:spcPts val="384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Arial Narrow"/>
                <a:cs typeface="Arial Narrow"/>
              </a:rPr>
              <a:t>Go </a:t>
            </a:r>
            <a:r>
              <a:rPr sz="3200" dirty="0">
                <a:latin typeface="Arial Narrow"/>
                <a:cs typeface="Arial Narrow"/>
              </a:rPr>
              <a:t>to </a:t>
            </a:r>
            <a:r>
              <a:rPr sz="3200" spc="-5" dirty="0">
                <a:latin typeface="Arial Narrow"/>
                <a:cs typeface="Arial Narrow"/>
              </a:rPr>
              <a:t>NBD1100 </a:t>
            </a:r>
            <a:r>
              <a:rPr sz="3200" dirty="0">
                <a:latin typeface="Arial Narrow"/>
                <a:cs typeface="Arial Narrow"/>
              </a:rPr>
              <a:t>Built Environment Communication </a:t>
            </a:r>
            <a:r>
              <a:rPr sz="3200" spc="-7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and</a:t>
            </a:r>
            <a:r>
              <a:rPr sz="3200" spc="-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Skills</a:t>
            </a:r>
            <a:r>
              <a:rPr sz="3200" spc="-2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library</a:t>
            </a:r>
            <a:r>
              <a:rPr sz="3200" spc="-2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guide</a:t>
            </a:r>
            <a:endParaRPr sz="32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Narrow"/>
              <a:buChar char="•"/>
            </a:pPr>
            <a:endParaRPr sz="2850">
              <a:latin typeface="Arial Narrow"/>
              <a:cs typeface="Arial Narrow"/>
            </a:endParaRPr>
          </a:p>
          <a:p>
            <a:pPr marL="413384">
              <a:lnSpc>
                <a:spcPct val="100000"/>
              </a:lnSpc>
              <a:spcBef>
                <a:spcPts val="5"/>
              </a:spcBef>
            </a:pPr>
            <a:r>
              <a:rPr sz="40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http://libraryguides.vu.edu.au/NBD1100</a:t>
            </a:r>
            <a:endParaRPr sz="40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366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Arial Narrow"/>
                <a:cs typeface="Arial Narrow"/>
              </a:rPr>
              <a:t>Click</a:t>
            </a:r>
            <a:r>
              <a:rPr sz="3200" spc="-2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on</a:t>
            </a:r>
            <a:r>
              <a:rPr sz="3200" spc="-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Getting</a:t>
            </a:r>
            <a:r>
              <a:rPr sz="3200" spc="-3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started</a:t>
            </a:r>
            <a:r>
              <a:rPr sz="3200" spc="-3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with</a:t>
            </a:r>
            <a:r>
              <a:rPr sz="3200" spc="-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your</a:t>
            </a:r>
            <a:r>
              <a:rPr sz="3200" spc="-1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assignments</a:t>
            </a:r>
            <a:r>
              <a:rPr sz="3200" spc="-4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tab</a:t>
            </a:r>
            <a:endParaRPr sz="32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Narrow"/>
              <a:buChar char="•"/>
            </a:pPr>
            <a:endParaRPr sz="3500">
              <a:latin typeface="Arial Narrow"/>
              <a:cs typeface="Arial Narrow"/>
            </a:endParaRPr>
          </a:p>
          <a:p>
            <a:pPr marL="12700" marR="5080" indent="-635">
              <a:lnSpc>
                <a:spcPct val="105000"/>
              </a:lnSpc>
              <a:spcBef>
                <a:spcPts val="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Arial Narrow"/>
                <a:cs typeface="Arial Narrow"/>
              </a:rPr>
              <a:t>Scroll</a:t>
            </a:r>
            <a:r>
              <a:rPr sz="3200" spc="-3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down to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Learning</a:t>
            </a:r>
            <a:r>
              <a:rPr sz="3200" spc="-2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Activity:</a:t>
            </a:r>
            <a:r>
              <a:rPr sz="3200" spc="-5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Entering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Keywords </a:t>
            </a:r>
            <a:r>
              <a:rPr sz="3200" spc="-715" dirty="0">
                <a:latin typeface="Arial Narrow"/>
                <a:cs typeface="Arial Narrow"/>
              </a:rPr>
              <a:t>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https://padlet.com/dana_kuljanin/8git8v7mkol2</a:t>
            </a:r>
            <a:endParaRPr sz="3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12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760"/>
              </a:spcBef>
            </a:pPr>
            <a:r>
              <a:rPr sz="3600" dirty="0">
                <a:solidFill>
                  <a:srgbClr val="0070C0"/>
                </a:solidFill>
              </a:rPr>
              <a:t>Which </a:t>
            </a:r>
            <a:r>
              <a:rPr sz="3600" spc="-5" dirty="0">
                <a:solidFill>
                  <a:srgbClr val="0070C0"/>
                </a:solidFill>
              </a:rPr>
              <a:t>sources? References </a:t>
            </a:r>
            <a:r>
              <a:rPr sz="3600" dirty="0">
                <a:solidFill>
                  <a:srgbClr val="0070C0"/>
                </a:solidFill>
              </a:rPr>
              <a:t>can </a:t>
            </a:r>
            <a:r>
              <a:rPr sz="3600" spc="-1195" dirty="0">
                <a:solidFill>
                  <a:srgbClr val="0070C0"/>
                </a:solidFill>
              </a:rPr>
              <a:t> </a:t>
            </a:r>
            <a:r>
              <a:rPr sz="3600" dirty="0">
                <a:solidFill>
                  <a:srgbClr val="0070C0"/>
                </a:solidFill>
              </a:rPr>
              <a:t>be</a:t>
            </a:r>
            <a:r>
              <a:rPr sz="3600" spc="-10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drawn</a:t>
            </a:r>
            <a:r>
              <a:rPr sz="3600" spc="10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from: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82318"/>
            <a:ext cx="5532755" cy="316230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26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Journal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articles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Texbooks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Book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chapters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6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Reports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Conference</a:t>
            </a:r>
            <a:r>
              <a:rPr sz="2800" u="heavy" spc="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papers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in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conf.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proceedings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6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Newspapers</a:t>
            </a:r>
            <a:r>
              <a:rPr sz="2800" u="heavy" spc="1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or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magazines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Theses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13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02590"/>
            <a:ext cx="71856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70C0"/>
                </a:solidFill>
              </a:rPr>
              <a:t>Places</a:t>
            </a:r>
            <a:r>
              <a:rPr sz="3600" spc="-15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to</a:t>
            </a:r>
            <a:r>
              <a:rPr sz="3600" spc="-10" dirty="0">
                <a:solidFill>
                  <a:srgbClr val="0070C0"/>
                </a:solidFill>
              </a:rPr>
              <a:t> </a:t>
            </a:r>
            <a:r>
              <a:rPr sz="3600" dirty="0">
                <a:solidFill>
                  <a:srgbClr val="0070C0"/>
                </a:solidFill>
              </a:rPr>
              <a:t>look</a:t>
            </a:r>
            <a:r>
              <a:rPr sz="3600" spc="-10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for</a:t>
            </a:r>
            <a:r>
              <a:rPr sz="3600" spc="-10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literature?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29565" y="1993201"/>
            <a:ext cx="6525895" cy="3140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19065" algn="l"/>
              </a:tabLst>
            </a:pPr>
            <a:r>
              <a:rPr sz="2800" b="1" spc="-5" dirty="0">
                <a:solidFill>
                  <a:srgbClr val="0070C0"/>
                </a:solidFill>
                <a:latin typeface="Arial Narrow"/>
                <a:cs typeface="Arial Narrow"/>
              </a:rPr>
              <a:t>What</a:t>
            </a:r>
            <a:r>
              <a:rPr sz="2800" b="1" dirty="0">
                <a:solidFill>
                  <a:srgbClr val="0070C0"/>
                </a:solidFill>
                <a:latin typeface="Arial Narrow"/>
                <a:cs typeface="Arial Narrow"/>
              </a:rPr>
              <a:t> </a:t>
            </a:r>
            <a:r>
              <a:rPr sz="2800" b="1" spc="-5" dirty="0">
                <a:solidFill>
                  <a:srgbClr val="0070C0"/>
                </a:solidFill>
                <a:latin typeface="Arial Narrow"/>
                <a:cs typeface="Arial Narrow"/>
              </a:rPr>
              <a:t>literature will you</a:t>
            </a:r>
            <a:r>
              <a:rPr sz="2800" b="1" dirty="0">
                <a:solidFill>
                  <a:srgbClr val="0070C0"/>
                </a:solidFill>
                <a:latin typeface="Arial Narrow"/>
                <a:cs typeface="Arial Narrow"/>
              </a:rPr>
              <a:t> </a:t>
            </a:r>
            <a:r>
              <a:rPr sz="2800" b="1" spc="-5" dirty="0">
                <a:solidFill>
                  <a:srgbClr val="0070C0"/>
                </a:solidFill>
                <a:latin typeface="Arial Narrow"/>
                <a:cs typeface="Arial Narrow"/>
              </a:rPr>
              <a:t>find</a:t>
            </a:r>
            <a:r>
              <a:rPr sz="2800" b="1" spc="-15" dirty="0">
                <a:solidFill>
                  <a:srgbClr val="0070C0"/>
                </a:solidFill>
                <a:latin typeface="Arial Narrow"/>
                <a:cs typeface="Arial Narrow"/>
              </a:rPr>
              <a:t> </a:t>
            </a:r>
            <a:r>
              <a:rPr sz="2800" b="1" spc="-5" dirty="0">
                <a:solidFill>
                  <a:srgbClr val="0070C0"/>
                </a:solidFill>
                <a:latin typeface="Arial Narrow"/>
                <a:cs typeface="Arial Narrow"/>
              </a:rPr>
              <a:t>in</a:t>
            </a:r>
            <a:r>
              <a:rPr sz="2800" b="1" dirty="0">
                <a:solidFill>
                  <a:srgbClr val="0070C0"/>
                </a:solidFill>
                <a:latin typeface="Arial Narrow"/>
                <a:cs typeface="Arial Narrow"/>
              </a:rPr>
              <a:t> </a:t>
            </a:r>
            <a:r>
              <a:rPr sz="2800" b="1" spc="-5" dirty="0">
                <a:solidFill>
                  <a:srgbClr val="0070C0"/>
                </a:solidFill>
                <a:latin typeface="Arial Narrow"/>
                <a:cs typeface="Arial Narrow"/>
              </a:rPr>
              <a:t>which	</a:t>
            </a:r>
            <a:r>
              <a:rPr sz="2800" b="1" spc="-10" dirty="0">
                <a:solidFill>
                  <a:srgbClr val="0070C0"/>
                </a:solidFill>
                <a:latin typeface="Arial Narrow"/>
                <a:cs typeface="Arial Narrow"/>
              </a:rPr>
              <a:t>sources?</a:t>
            </a:r>
            <a:endParaRPr sz="2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2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Library</a:t>
            </a:r>
            <a:r>
              <a:rPr sz="2800" u="heavy" spc="-2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Search</a:t>
            </a:r>
            <a:endParaRPr sz="2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Narrow"/>
              <a:buChar char="•"/>
            </a:pPr>
            <a:endParaRPr sz="3200">
              <a:latin typeface="Arial Narrow"/>
              <a:cs typeface="Arial Narrow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Databases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A-Z</a:t>
            </a:r>
            <a:endParaRPr sz="2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Narrow"/>
              <a:buChar char="•"/>
            </a:pPr>
            <a:endParaRPr sz="3200">
              <a:latin typeface="Arial Narrow"/>
              <a:cs typeface="Arial Narrow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 Narrow"/>
                <a:cs typeface="Arial Narrow"/>
              </a:rPr>
              <a:t>Internet: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4"/>
              </a:rPr>
              <a:t>Google</a:t>
            </a:r>
            <a:r>
              <a:rPr sz="2800" u="heavy" spc="2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4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4"/>
              </a:rPr>
              <a:t>Scholar</a:t>
            </a:r>
            <a:r>
              <a:rPr sz="2800" spc="-10" dirty="0">
                <a:latin typeface="Arial Narrow"/>
                <a:cs typeface="Arial Narrow"/>
              </a:rPr>
              <a:t>/Google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90343" y="6395402"/>
            <a:ext cx="15049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10" dirty="0">
                <a:latin typeface="Arial Narrow"/>
                <a:cs typeface="Arial Narrow"/>
              </a:rPr>
              <a:t>14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251" y="200977"/>
            <a:ext cx="3684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70C0"/>
                </a:solidFill>
              </a:rPr>
              <a:t>Library</a:t>
            </a:r>
            <a:r>
              <a:rPr sz="3600" spc="-45" dirty="0">
                <a:solidFill>
                  <a:srgbClr val="0070C0"/>
                </a:solidFill>
              </a:rPr>
              <a:t> </a:t>
            </a:r>
            <a:r>
              <a:rPr sz="3600" spc="-5" dirty="0">
                <a:solidFill>
                  <a:srgbClr val="0070C0"/>
                </a:solidFill>
              </a:rPr>
              <a:t>Search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02267" y="3619422"/>
            <a:ext cx="2343785" cy="20764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000" b="1" spc="-5" dirty="0">
                <a:solidFill>
                  <a:srgbClr val="FF9900"/>
                </a:solidFill>
                <a:latin typeface="Arial Narrow"/>
                <a:cs typeface="Arial Narrow"/>
              </a:rPr>
              <a:t>Limit</a:t>
            </a:r>
            <a:r>
              <a:rPr sz="2000" b="1" spc="-30" dirty="0">
                <a:solidFill>
                  <a:srgbClr val="FF9900"/>
                </a:solidFill>
                <a:latin typeface="Arial Narrow"/>
                <a:cs typeface="Arial Narrow"/>
              </a:rPr>
              <a:t> </a:t>
            </a:r>
            <a:r>
              <a:rPr sz="2000" b="1" spc="-5" dirty="0">
                <a:solidFill>
                  <a:srgbClr val="FF9900"/>
                </a:solidFill>
                <a:latin typeface="Arial Narrow"/>
                <a:cs typeface="Arial Narrow"/>
              </a:rPr>
              <a:t>search</a:t>
            </a:r>
            <a:r>
              <a:rPr sz="2000" b="1" spc="-20" dirty="0">
                <a:solidFill>
                  <a:srgbClr val="FF9900"/>
                </a:solidFill>
                <a:latin typeface="Arial Narrow"/>
                <a:cs typeface="Arial Narrow"/>
              </a:rPr>
              <a:t> </a:t>
            </a:r>
            <a:r>
              <a:rPr sz="2000" b="1" dirty="0">
                <a:solidFill>
                  <a:srgbClr val="FF9900"/>
                </a:solidFill>
                <a:latin typeface="Arial Narrow"/>
                <a:cs typeface="Arial Narrow"/>
              </a:rPr>
              <a:t>to</a:t>
            </a:r>
            <a:endParaRPr sz="2000">
              <a:latin typeface="Arial Narrow"/>
              <a:cs typeface="Arial Narrow"/>
            </a:endParaRPr>
          </a:p>
          <a:p>
            <a:pPr marL="299085" indent="-28702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FF9900"/>
                </a:solidFill>
                <a:latin typeface="Arial Narrow"/>
                <a:cs typeface="Arial Narrow"/>
              </a:rPr>
              <a:t>Full-text</a:t>
            </a:r>
            <a:r>
              <a:rPr sz="1800" dirty="0">
                <a:solidFill>
                  <a:srgbClr val="FF9900"/>
                </a:solidFill>
                <a:latin typeface="Arial Narrow"/>
                <a:cs typeface="Arial Narrow"/>
              </a:rPr>
              <a:t> </a:t>
            </a:r>
            <a:r>
              <a:rPr sz="1800" spc="-10" dirty="0">
                <a:solidFill>
                  <a:srgbClr val="FF9900"/>
                </a:solidFill>
                <a:latin typeface="Arial Narrow"/>
                <a:cs typeface="Arial Narrow"/>
              </a:rPr>
              <a:t>(Online)</a:t>
            </a:r>
            <a:endParaRPr sz="1800">
              <a:latin typeface="Arial Narrow"/>
              <a:cs typeface="Arial Narrow"/>
            </a:endParaRPr>
          </a:p>
          <a:p>
            <a:pPr marL="299085" indent="-28702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solidFill>
                  <a:srgbClr val="FF9900"/>
                </a:solidFill>
                <a:latin typeface="Arial Narrow"/>
                <a:cs typeface="Arial Narrow"/>
              </a:rPr>
              <a:t>Peer</a:t>
            </a:r>
            <a:r>
              <a:rPr sz="1800" dirty="0">
                <a:solidFill>
                  <a:srgbClr val="FF9900"/>
                </a:solidFill>
                <a:latin typeface="Arial Narrow"/>
                <a:cs typeface="Arial Narrow"/>
              </a:rPr>
              <a:t> </a:t>
            </a:r>
            <a:r>
              <a:rPr sz="1800" spc="-5" dirty="0">
                <a:solidFill>
                  <a:srgbClr val="FF9900"/>
                </a:solidFill>
                <a:latin typeface="Arial Narrow"/>
                <a:cs typeface="Arial Narrow"/>
              </a:rPr>
              <a:t>Reviewed</a:t>
            </a:r>
            <a:r>
              <a:rPr sz="1800" dirty="0">
                <a:solidFill>
                  <a:srgbClr val="FF9900"/>
                </a:solidFill>
                <a:latin typeface="Arial Narrow"/>
                <a:cs typeface="Arial Narrow"/>
              </a:rPr>
              <a:t> </a:t>
            </a:r>
            <a:r>
              <a:rPr sz="1800" spc="-10" dirty="0">
                <a:solidFill>
                  <a:srgbClr val="FF9900"/>
                </a:solidFill>
                <a:latin typeface="Arial Narrow"/>
                <a:cs typeface="Arial Narrow"/>
              </a:rPr>
              <a:t>Journals</a:t>
            </a:r>
            <a:endParaRPr sz="1800">
              <a:latin typeface="Arial Narrow"/>
              <a:cs typeface="Arial Narrow"/>
            </a:endParaRPr>
          </a:p>
          <a:p>
            <a:pPr marL="299085" indent="-28702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FF9900"/>
                </a:solidFill>
                <a:latin typeface="Arial Narrow"/>
                <a:cs typeface="Arial Narrow"/>
              </a:rPr>
              <a:t>VU</a:t>
            </a:r>
            <a:r>
              <a:rPr sz="1800" spc="-15" dirty="0">
                <a:solidFill>
                  <a:srgbClr val="FF9900"/>
                </a:solidFill>
                <a:latin typeface="Arial Narrow"/>
                <a:cs typeface="Arial Narrow"/>
              </a:rPr>
              <a:t> </a:t>
            </a:r>
            <a:r>
              <a:rPr sz="1800" spc="-10" dirty="0">
                <a:solidFill>
                  <a:srgbClr val="FF9900"/>
                </a:solidFill>
                <a:latin typeface="Arial Narrow"/>
                <a:cs typeface="Arial Narrow"/>
              </a:rPr>
              <a:t>Catalogue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B050"/>
                </a:solidFill>
                <a:latin typeface="Arial Narrow"/>
                <a:cs typeface="Arial Narrow"/>
              </a:rPr>
              <a:t>Date</a:t>
            </a:r>
            <a:r>
              <a:rPr sz="1800" b="1" spc="-10" dirty="0">
                <a:solidFill>
                  <a:srgbClr val="00B050"/>
                </a:solidFill>
                <a:latin typeface="Arial Narrow"/>
                <a:cs typeface="Arial Narrow"/>
              </a:rPr>
              <a:t> </a:t>
            </a:r>
            <a:r>
              <a:rPr sz="1800" b="1" spc="-5" dirty="0">
                <a:solidFill>
                  <a:srgbClr val="00B050"/>
                </a:solidFill>
                <a:latin typeface="Arial Narrow"/>
                <a:cs typeface="Arial Narrow"/>
              </a:rPr>
              <a:t>Slider</a:t>
            </a:r>
            <a:r>
              <a:rPr sz="1800" b="1" spc="20" dirty="0">
                <a:solidFill>
                  <a:srgbClr val="00B050"/>
                </a:solidFill>
                <a:latin typeface="Arial Narrow"/>
                <a:cs typeface="Arial Narrow"/>
              </a:rPr>
              <a:t> </a:t>
            </a:r>
            <a:r>
              <a:rPr sz="1800" spc="-5" dirty="0">
                <a:solidFill>
                  <a:srgbClr val="00B050"/>
                </a:solidFill>
                <a:latin typeface="Arial Narrow"/>
                <a:cs typeface="Arial Narrow"/>
              </a:rPr>
              <a:t>–</a:t>
            </a:r>
            <a:r>
              <a:rPr sz="1800" dirty="0">
                <a:solidFill>
                  <a:srgbClr val="00B050"/>
                </a:solidFill>
                <a:latin typeface="Arial Narrow"/>
                <a:cs typeface="Arial Narrow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 Narrow"/>
                <a:cs typeface="Arial Narrow"/>
              </a:rPr>
              <a:t>Limits</a:t>
            </a:r>
            <a:r>
              <a:rPr sz="1800" spc="5" dirty="0">
                <a:solidFill>
                  <a:srgbClr val="00B050"/>
                </a:solidFill>
                <a:latin typeface="Arial Narrow"/>
                <a:cs typeface="Arial Narrow"/>
              </a:rPr>
              <a:t> </a:t>
            </a:r>
            <a:r>
              <a:rPr sz="1800" spc="-15" dirty="0">
                <a:solidFill>
                  <a:srgbClr val="00B050"/>
                </a:solidFill>
                <a:latin typeface="Arial Narrow"/>
                <a:cs typeface="Arial Narrow"/>
              </a:rPr>
              <a:t>by</a:t>
            </a:r>
            <a:endParaRPr sz="1800">
              <a:latin typeface="Arial Narrow"/>
              <a:cs typeface="Arial Narrow"/>
            </a:endParaRPr>
          </a:p>
          <a:p>
            <a:pPr marL="9271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solidFill>
                  <a:srgbClr val="00B050"/>
                </a:solidFill>
                <a:latin typeface="Arial Narrow"/>
                <a:cs typeface="Arial Narrow"/>
              </a:rPr>
              <a:t>Publication</a:t>
            </a:r>
            <a:r>
              <a:rPr sz="1800" spc="20" dirty="0">
                <a:solidFill>
                  <a:srgbClr val="00B050"/>
                </a:solidFill>
                <a:latin typeface="Arial Narrow"/>
                <a:cs typeface="Arial Narrow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 Narrow"/>
                <a:cs typeface="Arial Narrow"/>
              </a:rPr>
              <a:t>year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343" y="6260039"/>
            <a:ext cx="537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Narrow"/>
                <a:cs typeface="Arial Narrow"/>
              </a:rPr>
              <a:t>*Video</a:t>
            </a:r>
            <a:r>
              <a:rPr sz="1800" spc="30" dirty="0">
                <a:latin typeface="Arial Narrow"/>
                <a:cs typeface="Arial Narrow"/>
              </a:rPr>
              <a:t>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How</a:t>
            </a:r>
            <a:r>
              <a:rPr sz="1800" u="heavy" spc="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to</a:t>
            </a:r>
            <a:r>
              <a:rPr sz="1800" u="heavy" spc="2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access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and</a:t>
            </a:r>
            <a:r>
              <a:rPr sz="1800" u="heavy" spc="3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use</a:t>
            </a:r>
            <a:r>
              <a:rPr sz="1800" u="heavy" spc="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e-books</a:t>
            </a:r>
            <a:r>
              <a:rPr sz="1800" u="heavy" spc="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from</a:t>
            </a:r>
            <a:r>
              <a:rPr sz="1800" spc="5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the</a:t>
            </a:r>
            <a:r>
              <a:rPr sz="1800" spc="35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Library</a:t>
            </a:r>
            <a:r>
              <a:rPr sz="1800" spc="25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Search*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6539" y="1862918"/>
            <a:ext cx="4723765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Narrow"/>
                <a:cs typeface="Arial Narrow"/>
              </a:rPr>
              <a:t>Library</a:t>
            </a:r>
            <a:r>
              <a:rPr sz="1800" spc="1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Search</a:t>
            </a:r>
            <a:r>
              <a:rPr sz="1800" spc="20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Box</a:t>
            </a:r>
            <a:r>
              <a:rPr sz="1800" spc="15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defaults</a:t>
            </a:r>
            <a:r>
              <a:rPr sz="1800" spc="60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to</a:t>
            </a:r>
            <a:r>
              <a:rPr sz="1800" spc="5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finding</a:t>
            </a:r>
            <a:r>
              <a:rPr sz="1800" spc="45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ALL</a:t>
            </a:r>
            <a:r>
              <a:rPr sz="1800" spc="3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search</a:t>
            </a:r>
            <a:r>
              <a:rPr sz="1800" spc="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terms.</a:t>
            </a:r>
            <a:endParaRPr sz="1800">
              <a:latin typeface="Arial Narrow"/>
              <a:cs typeface="Arial Narrow"/>
            </a:endParaRPr>
          </a:p>
          <a:p>
            <a:pPr marL="12700" marR="278130" indent="-635">
              <a:lnSpc>
                <a:spcPts val="2100"/>
              </a:lnSpc>
              <a:spcBef>
                <a:spcPts val="430"/>
              </a:spcBef>
            </a:pPr>
            <a:r>
              <a:rPr sz="1800" spc="-5" dirty="0">
                <a:latin typeface="Arial Narrow"/>
                <a:cs typeface="Arial Narrow"/>
              </a:rPr>
              <a:t>Click </a:t>
            </a:r>
            <a:r>
              <a:rPr sz="2000" spc="-5" dirty="0">
                <a:solidFill>
                  <a:srgbClr val="FF0000"/>
                </a:solidFill>
                <a:latin typeface="Arial Narrow"/>
                <a:cs typeface="Arial Narrow"/>
              </a:rPr>
              <a:t>Advanced</a:t>
            </a:r>
            <a:r>
              <a:rPr sz="2000" spc="2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Arial Narrow"/>
                <a:cs typeface="Arial Narrow"/>
              </a:rPr>
              <a:t>Search</a:t>
            </a:r>
            <a:r>
              <a:rPr sz="2000" spc="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for</a:t>
            </a:r>
            <a:r>
              <a:rPr sz="1800" spc="10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Boolean</a:t>
            </a:r>
            <a:r>
              <a:rPr sz="1800" spc="45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logic</a:t>
            </a:r>
            <a:r>
              <a:rPr sz="1800" spc="35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searching </a:t>
            </a:r>
            <a:r>
              <a:rPr sz="1800" spc="-395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(combine</a:t>
            </a:r>
            <a:r>
              <a:rPr sz="1800" spc="2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search</a:t>
            </a:r>
            <a:r>
              <a:rPr sz="1800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terms</a:t>
            </a:r>
            <a:r>
              <a:rPr sz="1800" spc="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with</a:t>
            </a:r>
            <a:r>
              <a:rPr sz="1800" spc="1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AND,</a:t>
            </a:r>
            <a:r>
              <a:rPr sz="1800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OR</a:t>
            </a:r>
            <a:r>
              <a:rPr sz="1800" spc="-1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&amp;</a:t>
            </a:r>
            <a:r>
              <a:rPr sz="1800" spc="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NOT).</a:t>
            </a:r>
            <a:endParaRPr sz="1800">
              <a:latin typeface="Arial Narrow"/>
              <a:cs typeface="Arial Narrow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59" y="1269491"/>
            <a:ext cx="3168395" cy="187147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406140" y="2781300"/>
            <a:ext cx="4639945" cy="3123565"/>
            <a:chOff x="3406140" y="2781300"/>
            <a:chExt cx="4639945" cy="312356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9876" y="2781300"/>
              <a:ext cx="4465828" cy="31231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077206" y="3213355"/>
              <a:ext cx="736600" cy="288290"/>
            </a:xfrm>
            <a:custGeom>
              <a:avLst/>
              <a:gdLst/>
              <a:ahLst/>
              <a:cxnLst/>
              <a:rect l="l" t="t" r="r" b="b"/>
              <a:pathLst>
                <a:path w="736600" h="288289">
                  <a:moveTo>
                    <a:pt x="0" y="48005"/>
                  </a:moveTo>
                  <a:lnTo>
                    <a:pt x="3771" y="29317"/>
                  </a:lnTo>
                  <a:lnTo>
                    <a:pt x="14058" y="14058"/>
                  </a:lnTo>
                  <a:lnTo>
                    <a:pt x="29317" y="3771"/>
                  </a:lnTo>
                  <a:lnTo>
                    <a:pt x="48006" y="0"/>
                  </a:lnTo>
                  <a:lnTo>
                    <a:pt x="688086" y="0"/>
                  </a:lnTo>
                  <a:lnTo>
                    <a:pt x="706774" y="3771"/>
                  </a:lnTo>
                  <a:lnTo>
                    <a:pt x="722033" y="14058"/>
                  </a:lnTo>
                  <a:lnTo>
                    <a:pt x="732320" y="29317"/>
                  </a:lnTo>
                  <a:lnTo>
                    <a:pt x="736092" y="48005"/>
                  </a:lnTo>
                  <a:lnTo>
                    <a:pt x="736092" y="240029"/>
                  </a:lnTo>
                  <a:lnTo>
                    <a:pt x="732320" y="258718"/>
                  </a:lnTo>
                  <a:lnTo>
                    <a:pt x="722033" y="273977"/>
                  </a:lnTo>
                  <a:lnTo>
                    <a:pt x="706774" y="284264"/>
                  </a:lnTo>
                  <a:lnTo>
                    <a:pt x="688086" y="288035"/>
                  </a:lnTo>
                  <a:lnTo>
                    <a:pt x="48006" y="288035"/>
                  </a:lnTo>
                  <a:lnTo>
                    <a:pt x="29317" y="284264"/>
                  </a:lnTo>
                  <a:lnTo>
                    <a:pt x="14058" y="273977"/>
                  </a:lnTo>
                  <a:lnTo>
                    <a:pt x="3771" y="258718"/>
                  </a:lnTo>
                  <a:lnTo>
                    <a:pt x="0" y="240029"/>
                  </a:lnTo>
                  <a:lnTo>
                    <a:pt x="0" y="48005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20618" y="4510277"/>
              <a:ext cx="1295400" cy="719455"/>
            </a:xfrm>
            <a:custGeom>
              <a:avLst/>
              <a:gdLst/>
              <a:ahLst/>
              <a:cxnLst/>
              <a:rect l="l" t="t" r="r" b="b"/>
              <a:pathLst>
                <a:path w="1295400" h="719454">
                  <a:moveTo>
                    <a:pt x="0" y="0"/>
                  </a:moveTo>
                  <a:lnTo>
                    <a:pt x="1295400" y="0"/>
                  </a:lnTo>
                  <a:lnTo>
                    <a:pt x="1295400" y="719327"/>
                  </a:lnTo>
                  <a:lnTo>
                    <a:pt x="0" y="719327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80638" y="5229605"/>
              <a:ext cx="1135380" cy="360045"/>
            </a:xfrm>
            <a:custGeom>
              <a:avLst/>
              <a:gdLst/>
              <a:ahLst/>
              <a:cxnLst/>
              <a:rect l="l" t="t" r="r" b="b"/>
              <a:pathLst>
                <a:path w="1135379" h="360045">
                  <a:moveTo>
                    <a:pt x="0" y="0"/>
                  </a:moveTo>
                  <a:lnTo>
                    <a:pt x="1135380" y="0"/>
                  </a:lnTo>
                  <a:lnTo>
                    <a:pt x="1135380" y="359664"/>
                  </a:lnTo>
                  <a:lnTo>
                    <a:pt x="0" y="359664"/>
                  </a:lnTo>
                  <a:lnTo>
                    <a:pt x="0" y="0"/>
                  </a:lnTo>
                  <a:close/>
                </a:path>
              </a:pathLst>
            </a:custGeom>
            <a:ln w="28955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15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05066"/>
            <a:ext cx="72650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</a:rPr>
              <a:t>Library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resources </a:t>
            </a:r>
            <a:r>
              <a:rPr sz="3600" spc="-5" dirty="0"/>
              <a:t>beyond</a:t>
            </a:r>
            <a:r>
              <a:rPr sz="3600" spc="5" dirty="0"/>
              <a:t> </a:t>
            </a:r>
            <a:r>
              <a:rPr sz="3600" spc="-5" dirty="0"/>
              <a:t>VU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02590" y="1614512"/>
            <a:ext cx="7386320" cy="26162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40"/>
              </a:spcBef>
              <a:buFont typeface="Arial Narrow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Arial Narrow"/>
                <a:cs typeface="Arial Narrow"/>
              </a:rPr>
              <a:t>BONUS</a:t>
            </a:r>
            <a:r>
              <a:rPr sz="2800" b="1" spc="20" dirty="0">
                <a:latin typeface="Arial Narrow"/>
                <a:cs typeface="Arial Narrow"/>
              </a:rPr>
              <a:t> </a:t>
            </a:r>
            <a:r>
              <a:rPr sz="2800" b="1" spc="-5" dirty="0">
                <a:latin typeface="Arial Narrow"/>
                <a:cs typeface="Arial Narrow"/>
              </a:rPr>
              <a:t>-</a:t>
            </a:r>
            <a:r>
              <a:rPr sz="2800" b="1" spc="-20" dirty="0">
                <a:latin typeface="Arial Narrow"/>
                <a:cs typeface="Arial Narrow"/>
              </a:rPr>
              <a:t> </a:t>
            </a:r>
            <a:r>
              <a:rPr sz="2800" b="1" spc="-5" dirty="0">
                <a:latin typeface="Arial Narrow"/>
                <a:cs typeface="Arial Narrow"/>
              </a:rPr>
              <a:t>Requesting</a:t>
            </a:r>
            <a:r>
              <a:rPr sz="2800" b="1" spc="-15" dirty="0">
                <a:latin typeface="Arial Narrow"/>
                <a:cs typeface="Arial Narrow"/>
              </a:rPr>
              <a:t> </a:t>
            </a:r>
            <a:r>
              <a:rPr sz="2800" b="1" spc="-5" dirty="0">
                <a:latin typeface="Arial Narrow"/>
                <a:cs typeface="Arial Narrow"/>
              </a:rPr>
              <a:t>Books</a:t>
            </a:r>
            <a:endParaRPr sz="2800">
              <a:latin typeface="Arial Narrow"/>
              <a:cs typeface="Arial Narrow"/>
            </a:endParaRPr>
          </a:p>
          <a:p>
            <a:pPr marL="436245" indent="-42418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436245" algn="l"/>
                <a:tab pos="436880" algn="l"/>
              </a:tabLst>
            </a:pPr>
            <a:r>
              <a:rPr sz="2800" b="1" spc="-5" dirty="0">
                <a:latin typeface="Arial Narrow"/>
                <a:cs typeface="Arial Narrow"/>
              </a:rPr>
              <a:t>ArticleReach</a:t>
            </a:r>
            <a:r>
              <a:rPr sz="2800" b="1" spc="15" dirty="0">
                <a:latin typeface="Arial Narrow"/>
                <a:cs typeface="Arial Narrow"/>
              </a:rPr>
              <a:t> </a:t>
            </a:r>
            <a:r>
              <a:rPr sz="2800" b="1" spc="-5" dirty="0">
                <a:latin typeface="Arial Narrow"/>
                <a:cs typeface="Arial Narrow"/>
              </a:rPr>
              <a:t>-</a:t>
            </a:r>
            <a:r>
              <a:rPr sz="2800" b="1" spc="-10" dirty="0">
                <a:latin typeface="Arial Narrow"/>
                <a:cs typeface="Arial Narrow"/>
              </a:rPr>
              <a:t> </a:t>
            </a:r>
            <a:r>
              <a:rPr sz="2800" b="1" spc="-5" dirty="0">
                <a:latin typeface="Arial Narrow"/>
                <a:cs typeface="Arial Narrow"/>
              </a:rPr>
              <a:t>Requesting</a:t>
            </a:r>
            <a:r>
              <a:rPr sz="2800" b="1" spc="-20" dirty="0">
                <a:latin typeface="Arial Narrow"/>
                <a:cs typeface="Arial Narrow"/>
              </a:rPr>
              <a:t> </a:t>
            </a:r>
            <a:r>
              <a:rPr sz="2800" b="1" spc="-5" dirty="0">
                <a:latin typeface="Arial Narrow"/>
                <a:cs typeface="Arial Narrow"/>
              </a:rPr>
              <a:t>Journal</a:t>
            </a:r>
            <a:r>
              <a:rPr sz="2800" b="1" spc="-20" dirty="0">
                <a:latin typeface="Arial Narrow"/>
                <a:cs typeface="Arial Narrow"/>
              </a:rPr>
              <a:t> </a:t>
            </a:r>
            <a:r>
              <a:rPr sz="2800" b="1" spc="-5" dirty="0">
                <a:latin typeface="Arial Narrow"/>
                <a:cs typeface="Arial Narrow"/>
              </a:rPr>
              <a:t>Articles</a:t>
            </a:r>
            <a:endParaRPr sz="2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100">
              <a:latin typeface="Arial Narrow"/>
              <a:cs typeface="Arial Narrow"/>
            </a:endParaRPr>
          </a:p>
          <a:p>
            <a:pPr marL="355600" marR="5080" indent="-342900">
              <a:lnSpc>
                <a:spcPct val="125000"/>
              </a:lnSpc>
              <a:buClr>
                <a:srgbClr val="000000"/>
              </a:buClr>
              <a:buChar char="•"/>
              <a:tabLst>
                <a:tab pos="355600" algn="l"/>
              </a:tabLst>
            </a:pPr>
            <a:r>
              <a:rPr sz="2800" spc="-5" dirty="0">
                <a:solidFill>
                  <a:srgbClr val="0078C1"/>
                </a:solidFill>
                <a:latin typeface="Arial Black"/>
                <a:cs typeface="Arial Black"/>
              </a:rPr>
              <a:t>Visit</a:t>
            </a:r>
            <a:r>
              <a:rPr sz="2800" dirty="0">
                <a:solidFill>
                  <a:srgbClr val="0078C1"/>
                </a:solidFill>
                <a:latin typeface="Arial Black"/>
                <a:cs typeface="Arial Black"/>
              </a:rPr>
              <a:t> </a:t>
            </a:r>
            <a:r>
              <a:rPr sz="2800" spc="-5" dirty="0">
                <a:solidFill>
                  <a:srgbClr val="0078C1"/>
                </a:solidFill>
                <a:latin typeface="Arial Black"/>
                <a:cs typeface="Arial Black"/>
              </a:rPr>
              <a:t>&amp;</a:t>
            </a:r>
            <a:r>
              <a:rPr sz="2800" spc="5" dirty="0">
                <a:solidFill>
                  <a:srgbClr val="0078C1"/>
                </a:solidFill>
                <a:latin typeface="Arial Black"/>
                <a:cs typeface="Arial Black"/>
              </a:rPr>
              <a:t> </a:t>
            </a:r>
            <a:r>
              <a:rPr sz="2800" spc="-15" dirty="0">
                <a:solidFill>
                  <a:srgbClr val="0078C1"/>
                </a:solidFill>
                <a:latin typeface="Arial Black"/>
                <a:cs typeface="Arial Black"/>
              </a:rPr>
              <a:t>Borrow</a:t>
            </a:r>
            <a:r>
              <a:rPr sz="2800" spc="5" dirty="0">
                <a:solidFill>
                  <a:srgbClr val="0078C1"/>
                </a:solidFill>
                <a:latin typeface="Arial Black"/>
                <a:cs typeface="Arial Black"/>
              </a:rPr>
              <a:t> </a:t>
            </a:r>
            <a:r>
              <a:rPr sz="2800" spc="-10" dirty="0">
                <a:solidFill>
                  <a:srgbClr val="0078C1"/>
                </a:solidFill>
                <a:latin typeface="Arial Black"/>
                <a:cs typeface="Arial Black"/>
              </a:rPr>
              <a:t>from</a:t>
            </a:r>
            <a:r>
              <a:rPr sz="2800" dirty="0">
                <a:solidFill>
                  <a:srgbClr val="0078C1"/>
                </a:solidFill>
                <a:latin typeface="Arial Black"/>
                <a:cs typeface="Arial Black"/>
              </a:rPr>
              <a:t> </a:t>
            </a:r>
            <a:r>
              <a:rPr sz="2800" spc="-15" dirty="0">
                <a:solidFill>
                  <a:srgbClr val="0078C1"/>
                </a:solidFill>
                <a:latin typeface="Arial Black"/>
                <a:cs typeface="Arial Black"/>
              </a:rPr>
              <a:t>other</a:t>
            </a:r>
            <a:r>
              <a:rPr sz="2800" dirty="0">
                <a:solidFill>
                  <a:srgbClr val="0078C1"/>
                </a:solidFill>
                <a:latin typeface="Arial Black"/>
                <a:cs typeface="Arial Black"/>
              </a:rPr>
              <a:t> </a:t>
            </a:r>
            <a:r>
              <a:rPr sz="2800" spc="-10" dirty="0">
                <a:solidFill>
                  <a:srgbClr val="0078C1"/>
                </a:solidFill>
                <a:latin typeface="Arial Black"/>
                <a:cs typeface="Arial Black"/>
              </a:rPr>
              <a:t>university </a:t>
            </a:r>
            <a:r>
              <a:rPr sz="2800" spc="-919" dirty="0">
                <a:solidFill>
                  <a:srgbClr val="0078C1"/>
                </a:solidFill>
                <a:latin typeface="Arial Black"/>
                <a:cs typeface="Arial Black"/>
              </a:rPr>
              <a:t> </a:t>
            </a:r>
            <a:r>
              <a:rPr sz="2800" spc="-10" dirty="0">
                <a:solidFill>
                  <a:srgbClr val="0078C1"/>
                </a:solidFill>
                <a:latin typeface="Arial Black"/>
                <a:cs typeface="Arial Black"/>
              </a:rPr>
              <a:t>libraries:</a:t>
            </a:r>
            <a:r>
              <a:rPr sz="2800" spc="30" dirty="0">
                <a:solidFill>
                  <a:srgbClr val="0078C1"/>
                </a:solidFill>
                <a:latin typeface="Arial Black"/>
                <a:cs typeface="Arial Black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CAVAL</a:t>
            </a:r>
            <a:r>
              <a:rPr sz="2400" b="1" spc="3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reciprocal</a:t>
            </a:r>
            <a:r>
              <a:rPr sz="2400" b="1" spc="2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borrowing</a:t>
            </a:r>
            <a:r>
              <a:rPr sz="2400" b="1" spc="-1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scheme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16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065" marR="5080">
              <a:lnSpc>
                <a:spcPts val="3260"/>
              </a:lnSpc>
              <a:spcBef>
                <a:spcPts val="695"/>
              </a:spcBef>
            </a:pPr>
            <a:r>
              <a:rPr dirty="0"/>
              <a:t>Project</a:t>
            </a:r>
            <a:r>
              <a:rPr spc="-20" dirty="0"/>
              <a:t> </a:t>
            </a:r>
            <a:r>
              <a:rPr dirty="0"/>
              <a:t>Management Databases</a:t>
            </a:r>
            <a:r>
              <a:rPr spc="-4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via </a:t>
            </a:r>
            <a:r>
              <a:rPr spc="-1055" dirty="0"/>
              <a:t> </a:t>
            </a:r>
            <a:r>
              <a:rPr dirty="0"/>
              <a:t>databases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-Z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8835"/>
            <a:ext cx="493077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Business</a:t>
            </a:r>
            <a:r>
              <a:rPr sz="2400" b="1" u="heavy" spc="2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Source</a:t>
            </a:r>
            <a:r>
              <a:rPr sz="2400" b="1" u="heavy" spc="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Complete</a:t>
            </a:r>
            <a:r>
              <a:rPr sz="2400" b="1" u="heavy" spc="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(Ebsco)</a:t>
            </a:r>
            <a:endParaRPr sz="2400">
              <a:latin typeface="Arial Narrow"/>
              <a:cs typeface="Arial Narrow"/>
            </a:endParaRPr>
          </a:p>
          <a:p>
            <a:pPr marL="12700" marR="1016635">
              <a:lnSpc>
                <a:spcPct val="190000"/>
              </a:lnSpc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Engineering</a:t>
            </a:r>
            <a:r>
              <a:rPr sz="2400" b="1" u="heavy" spc="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Collection (Informit) </a:t>
            </a:r>
            <a:r>
              <a:rPr sz="2400" b="1" spc="-535" dirty="0">
                <a:latin typeface="Arial Narrow"/>
                <a:cs typeface="Arial Narrow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Taylor</a:t>
            </a:r>
            <a:r>
              <a:rPr sz="2400" b="1" u="heavy" spc="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&amp;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 Francis</a:t>
            </a:r>
            <a:r>
              <a:rPr sz="2400" b="1" u="heavy" spc="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Online</a:t>
            </a:r>
            <a:endParaRPr sz="2400">
              <a:latin typeface="Arial Narrow"/>
              <a:cs typeface="Arial Narrow"/>
            </a:endParaRPr>
          </a:p>
          <a:p>
            <a:pPr marL="12700" marR="5080">
              <a:lnSpc>
                <a:spcPct val="190000"/>
              </a:lnSpc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ARCH</a:t>
            </a:r>
            <a:r>
              <a:rPr sz="2400" b="1" u="heavy" spc="2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(Australian Architecture Database) </a:t>
            </a:r>
            <a:r>
              <a:rPr sz="2400" b="1" spc="-535" dirty="0">
                <a:latin typeface="Arial Narrow"/>
                <a:cs typeface="Arial Narrow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ASCE</a:t>
            </a:r>
            <a:r>
              <a:rPr sz="2400" b="1" u="heavy" spc="1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Journals</a:t>
            </a:r>
            <a:endParaRPr sz="24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ScienceDirect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17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59" y="418252"/>
            <a:ext cx="1003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Sk</a:t>
            </a:r>
            <a:r>
              <a:rPr sz="3600" b="1" spc="-10" dirty="0">
                <a:latin typeface="Arial Narrow"/>
                <a:cs typeface="Arial Narrow"/>
              </a:rPr>
              <a:t>ills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268" y="1556283"/>
            <a:ext cx="7360284" cy="2843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 Narrow"/>
                <a:cs typeface="Arial Narrow"/>
              </a:rPr>
              <a:t>Relevant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to</a:t>
            </a:r>
            <a:r>
              <a:rPr sz="3200" spc="-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all</a:t>
            </a:r>
            <a:r>
              <a:rPr sz="3200" spc="-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subjects</a:t>
            </a:r>
            <a:r>
              <a:rPr sz="3200" spc="-4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throughout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your</a:t>
            </a:r>
            <a:r>
              <a:rPr sz="3200" spc="-3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degree</a:t>
            </a:r>
            <a:endParaRPr sz="32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Narrow"/>
              <a:buChar char="•"/>
            </a:pPr>
            <a:endParaRPr sz="3900">
              <a:latin typeface="Arial Narrow"/>
              <a:cs typeface="Arial Narrow"/>
            </a:endParaRPr>
          </a:p>
          <a:p>
            <a:pPr marL="354965" marR="560070" indent="-342900">
              <a:lnSpc>
                <a:spcPts val="365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 Narrow"/>
                <a:cs typeface="Arial Narrow"/>
              </a:rPr>
              <a:t>Relevant</a:t>
            </a:r>
            <a:r>
              <a:rPr sz="3200" spc="-3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to</a:t>
            </a:r>
            <a:r>
              <a:rPr sz="3200" spc="-2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becoming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a</a:t>
            </a:r>
            <a:r>
              <a:rPr sz="3200" spc="-2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lifelong</a:t>
            </a:r>
            <a:r>
              <a:rPr sz="3200" spc="-2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learner</a:t>
            </a:r>
            <a:r>
              <a:rPr sz="3200" spc="-3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and </a:t>
            </a:r>
            <a:r>
              <a:rPr sz="3200" spc="-7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professional</a:t>
            </a:r>
            <a:r>
              <a:rPr sz="3200" spc="-4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in</a:t>
            </a:r>
            <a:r>
              <a:rPr sz="3200" spc="-1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the</a:t>
            </a:r>
            <a:r>
              <a:rPr sz="3200" spc="-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workforce</a:t>
            </a:r>
            <a:endParaRPr sz="32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Narrow"/>
              <a:buChar char="•"/>
            </a:pPr>
            <a:endParaRPr sz="3150">
              <a:latin typeface="Arial Narrow"/>
              <a:cs typeface="Arial Narrow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Accessing,</a:t>
            </a:r>
            <a:r>
              <a:rPr sz="2400" spc="5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evaluating</a:t>
            </a:r>
            <a:r>
              <a:rPr sz="2400" spc="5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and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analysing</a:t>
            </a:r>
            <a:r>
              <a:rPr sz="2400" spc="6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information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17831"/>
            <a:ext cx="3546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Online</a:t>
            </a:r>
            <a:r>
              <a:rPr sz="3600" b="1" spc="-2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library</a:t>
            </a:r>
            <a:r>
              <a:rPr sz="3600" b="1" spc="-35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guide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244" y="1272824"/>
            <a:ext cx="8321040" cy="8572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5080" indent="-342900">
              <a:lnSpc>
                <a:spcPts val="3190"/>
              </a:lnSpc>
              <a:spcBef>
                <a:spcPts val="34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Library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Homepage</a:t>
            </a:r>
            <a:r>
              <a:rPr sz="2800" u="heavy" spc="3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–</a:t>
            </a:r>
            <a:r>
              <a:rPr sz="2800" spc="-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Course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Resources–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Library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Unit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Guides: </a:t>
            </a:r>
            <a:r>
              <a:rPr sz="2800" spc="-62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NBD1100</a:t>
            </a:r>
            <a:r>
              <a:rPr sz="2800" spc="3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Built</a:t>
            </a:r>
            <a:r>
              <a:rPr sz="2800" spc="3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Environment</a:t>
            </a:r>
            <a:r>
              <a:rPr sz="2800" spc="3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Communication</a:t>
            </a:r>
            <a:r>
              <a:rPr sz="2800" spc="5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and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Skills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4672" y="2354579"/>
            <a:ext cx="7437120" cy="4121150"/>
            <a:chOff x="804672" y="2354579"/>
            <a:chExt cx="7437120" cy="41211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038" y="2377439"/>
              <a:ext cx="7264198" cy="40779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16102" y="2366009"/>
              <a:ext cx="7414259" cy="4098290"/>
            </a:xfrm>
            <a:custGeom>
              <a:avLst/>
              <a:gdLst/>
              <a:ahLst/>
              <a:cxnLst/>
              <a:rect l="l" t="t" r="r" b="b"/>
              <a:pathLst>
                <a:path w="7414259" h="4098290">
                  <a:moveTo>
                    <a:pt x="0" y="0"/>
                  </a:moveTo>
                  <a:lnTo>
                    <a:pt x="7414259" y="0"/>
                  </a:lnTo>
                  <a:lnTo>
                    <a:pt x="7414259" y="4098036"/>
                  </a:lnTo>
                  <a:lnTo>
                    <a:pt x="0" y="4098036"/>
                  </a:lnTo>
                  <a:lnTo>
                    <a:pt x="0" y="0"/>
                  </a:lnTo>
                  <a:close/>
                </a:path>
              </a:pathLst>
            </a:custGeom>
            <a:ln w="2286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18</a:t>
            </a:fld>
            <a:endParaRPr spc="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17831"/>
            <a:ext cx="2840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Why</a:t>
            </a:r>
            <a:r>
              <a:rPr sz="3600" b="1" spc="-6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reference?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0622" y="1635100"/>
            <a:ext cx="7332980" cy="3366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To</a:t>
            </a:r>
            <a:r>
              <a:rPr sz="3200" spc="-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show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respect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for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the</a:t>
            </a:r>
            <a:r>
              <a:rPr sz="3200" spc="-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original</a:t>
            </a:r>
            <a:r>
              <a:rPr sz="3200" spc="-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source.</a:t>
            </a:r>
            <a:endParaRPr sz="3200">
              <a:latin typeface="Arial Narrow"/>
              <a:cs typeface="Arial Narrow"/>
            </a:endParaRPr>
          </a:p>
          <a:p>
            <a:pPr marL="12700" marR="5080">
              <a:lnSpc>
                <a:spcPct val="195000"/>
              </a:lnSpc>
            </a:pPr>
            <a:r>
              <a:rPr sz="3200" dirty="0">
                <a:latin typeface="Arial Narrow"/>
                <a:cs typeface="Arial Narrow"/>
              </a:rPr>
              <a:t>To</a:t>
            </a:r>
            <a:r>
              <a:rPr sz="3200" spc="-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demonstrate</a:t>
            </a:r>
            <a:r>
              <a:rPr sz="3200" spc="-4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that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you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have</a:t>
            </a:r>
            <a:r>
              <a:rPr sz="3200" spc="-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done</a:t>
            </a:r>
            <a:r>
              <a:rPr sz="3200" spc="-1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the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research. </a:t>
            </a:r>
            <a:r>
              <a:rPr sz="3200" spc="-7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To</a:t>
            </a:r>
            <a:r>
              <a:rPr sz="3200" spc="-1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show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what</a:t>
            </a:r>
            <a:r>
              <a:rPr sz="3200" spc="-1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research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you've</a:t>
            </a:r>
            <a:r>
              <a:rPr sz="3200" spc="-3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done.</a:t>
            </a:r>
            <a:endParaRPr sz="32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Arial Narrow"/>
                <a:cs typeface="Arial Narrow"/>
              </a:rPr>
              <a:t>To</a:t>
            </a:r>
            <a:r>
              <a:rPr sz="3200" spc="-25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avoid</a:t>
            </a:r>
            <a:r>
              <a:rPr sz="3200" spc="-30" dirty="0">
                <a:latin typeface="Arial Narrow"/>
                <a:cs typeface="Arial Narrow"/>
              </a:rPr>
              <a:t> </a:t>
            </a:r>
            <a:r>
              <a:rPr sz="3200" dirty="0">
                <a:latin typeface="Arial Narrow"/>
                <a:cs typeface="Arial Narrow"/>
              </a:rPr>
              <a:t>plagiarism.</a:t>
            </a:r>
            <a:endParaRPr sz="3200">
              <a:latin typeface="Arial Narrow"/>
              <a:cs typeface="Arial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4504" y="6380989"/>
            <a:ext cx="216407" cy="2164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19</a:t>
            </a:fld>
            <a:endParaRPr spc="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07163"/>
            <a:ext cx="50431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AU" sz="4000" b="1" spc="-5" dirty="0">
                <a:latin typeface="Arial Narrow"/>
                <a:cs typeface="Arial Narrow"/>
              </a:rPr>
              <a:t>APA 7</a:t>
            </a:r>
            <a:r>
              <a:rPr lang="en-AU" sz="4000" b="1" spc="-5" baseline="30000" dirty="0">
                <a:latin typeface="Arial Narrow"/>
                <a:cs typeface="Arial Narrow"/>
              </a:rPr>
              <a:t>th</a:t>
            </a:r>
            <a:r>
              <a:rPr lang="en-AU" sz="4000" b="1" spc="-5" dirty="0">
                <a:latin typeface="Arial Narrow"/>
                <a:cs typeface="Arial Narrow"/>
              </a:rPr>
              <a:t> referencing style</a:t>
            </a:r>
            <a:endParaRPr sz="4000" dirty="0">
              <a:latin typeface="Arial Narrow"/>
              <a:cs typeface="Arial Narro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4504" y="6380989"/>
            <a:ext cx="216407" cy="21640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20</a:t>
            </a:fld>
            <a:endParaRPr spc="5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22E86898-422F-EF98-CE90-C8684A90D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03" y="1492689"/>
            <a:ext cx="7479793" cy="49808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21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17831"/>
            <a:ext cx="38214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Evaluating</a:t>
            </a:r>
            <a:r>
              <a:rPr sz="3600" b="1" spc="-3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resources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259" y="1936903"/>
            <a:ext cx="7739380" cy="2159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marR="5080" indent="-342900">
              <a:lnSpc>
                <a:spcPts val="3190"/>
              </a:lnSpc>
              <a:spcBef>
                <a:spcPts val="340"/>
              </a:spcBef>
              <a:buFont typeface="Arial Narrow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Arial Narrow"/>
                <a:cs typeface="Arial Narrow"/>
              </a:rPr>
              <a:t>Evaluate</a:t>
            </a:r>
            <a:r>
              <a:rPr sz="2800" b="1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anything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that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you</a:t>
            </a:r>
            <a:r>
              <a:rPr sz="2800" spc="-10" dirty="0">
                <a:latin typeface="Arial Narrow"/>
                <a:cs typeface="Arial Narrow"/>
              </a:rPr>
              <a:t> find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before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including</a:t>
            </a:r>
            <a:r>
              <a:rPr sz="2800" spc="4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it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in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your </a:t>
            </a:r>
            <a:r>
              <a:rPr sz="2800" spc="-62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assignment.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Reminder:</a:t>
            </a:r>
            <a:r>
              <a:rPr sz="2800" spc="3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Looking</a:t>
            </a:r>
            <a:r>
              <a:rPr sz="2800" spc="2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for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‘reputable</a:t>
            </a:r>
            <a:r>
              <a:rPr sz="2800" spc="2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sources’.</a:t>
            </a:r>
            <a:endParaRPr sz="2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Narrow"/>
              <a:buChar char="•"/>
            </a:pPr>
            <a:endParaRPr sz="3350">
              <a:latin typeface="Arial Narrow"/>
              <a:cs typeface="Arial Narrow"/>
            </a:endParaRPr>
          </a:p>
          <a:p>
            <a:pPr marL="354965" marR="589915" indent="-342900">
              <a:lnSpc>
                <a:spcPts val="319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 Narrow"/>
                <a:cs typeface="Arial Narrow"/>
              </a:rPr>
              <a:t>Anyone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can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author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or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publish</a:t>
            </a:r>
            <a:r>
              <a:rPr sz="2800" spc="3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material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on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</a:t>
            </a:r>
            <a:r>
              <a:rPr sz="2800" spc="-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web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site. </a:t>
            </a:r>
            <a:r>
              <a:rPr sz="2800" spc="-62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No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b="1" spc="-5" dirty="0">
                <a:latin typeface="Arial Narrow"/>
                <a:cs typeface="Arial Narrow"/>
              </a:rPr>
              <a:t>quality </a:t>
            </a:r>
            <a:r>
              <a:rPr sz="2800" spc="-5" dirty="0">
                <a:latin typeface="Arial Narrow"/>
                <a:cs typeface="Arial Narrow"/>
              </a:rPr>
              <a:t>control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process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is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required.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22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17831"/>
            <a:ext cx="3277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Evaluating</a:t>
            </a:r>
            <a:r>
              <a:rPr sz="3600" b="1" spc="-4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criteria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259" y="1128807"/>
            <a:ext cx="7111365" cy="4640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3220"/>
              </a:lnSpc>
              <a:spcBef>
                <a:spcPts val="95"/>
              </a:spcBef>
              <a:buFont typeface="Arial Narrow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Arial Narrow"/>
                <a:cs typeface="Arial Narrow"/>
              </a:rPr>
              <a:t>Authority</a:t>
            </a:r>
            <a:endParaRPr sz="2800">
              <a:latin typeface="Arial Narrow"/>
              <a:cs typeface="Arial Narrow"/>
            </a:endParaRPr>
          </a:p>
          <a:p>
            <a:pPr marL="756285" lvl="1" indent="-287020">
              <a:lnSpc>
                <a:spcPts val="2595"/>
              </a:lnSpc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Who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authored</a:t>
            </a:r>
            <a:r>
              <a:rPr sz="2400" spc="3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content</a:t>
            </a:r>
            <a:r>
              <a:rPr sz="2400" spc="4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and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what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is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their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expertise?</a:t>
            </a:r>
            <a:endParaRPr sz="2400">
              <a:latin typeface="Arial Narrow"/>
              <a:cs typeface="Arial Narrow"/>
            </a:endParaRPr>
          </a:p>
          <a:p>
            <a:pPr marL="756285" lvl="1" indent="-287020">
              <a:lnSpc>
                <a:spcPts val="2590"/>
              </a:lnSpc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What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was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is the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intended</a:t>
            </a:r>
            <a:r>
              <a:rPr sz="2400" spc="4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audience?</a:t>
            </a:r>
            <a:endParaRPr sz="2400">
              <a:latin typeface="Arial Narrow"/>
              <a:cs typeface="Arial Narrow"/>
            </a:endParaRPr>
          </a:p>
          <a:p>
            <a:pPr marL="756285" lvl="1" indent="-287020">
              <a:lnSpc>
                <a:spcPts val="2735"/>
              </a:lnSpc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What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type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of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site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is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it?</a:t>
            </a:r>
            <a:endParaRPr sz="2400">
              <a:latin typeface="Arial Narrow"/>
              <a:cs typeface="Arial Narrow"/>
            </a:endParaRPr>
          </a:p>
          <a:p>
            <a:pPr lvl="1">
              <a:lnSpc>
                <a:spcPct val="100000"/>
              </a:lnSpc>
              <a:buFont typeface="Wingdings"/>
              <a:buChar char=""/>
            </a:pPr>
            <a:endParaRPr sz="2400">
              <a:latin typeface="Arial Narrow"/>
              <a:cs typeface="Arial Narrow"/>
            </a:endParaRPr>
          </a:p>
          <a:p>
            <a:pPr marL="355600" indent="-342900">
              <a:lnSpc>
                <a:spcPts val="3220"/>
              </a:lnSpc>
              <a:buFont typeface="Arial Narrow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Arial Narrow"/>
                <a:cs typeface="Arial Narrow"/>
              </a:rPr>
              <a:t>Accuracy</a:t>
            </a:r>
            <a:endParaRPr sz="2800">
              <a:latin typeface="Arial Narrow"/>
              <a:cs typeface="Arial Narrow"/>
            </a:endParaRPr>
          </a:p>
          <a:p>
            <a:pPr marL="756285" lvl="1" indent="-287020">
              <a:lnSpc>
                <a:spcPts val="2595"/>
              </a:lnSpc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Are any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claims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made,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supported</a:t>
            </a:r>
            <a:r>
              <a:rPr sz="2400" spc="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by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evidence?</a:t>
            </a:r>
            <a:endParaRPr sz="2400">
              <a:latin typeface="Arial Narrow"/>
              <a:cs typeface="Arial Narrow"/>
            </a:endParaRPr>
          </a:p>
          <a:p>
            <a:pPr marL="756285" lvl="1" indent="-287020">
              <a:lnSpc>
                <a:spcPts val="2590"/>
              </a:lnSpc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Are facts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and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figures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presented</a:t>
            </a:r>
            <a:r>
              <a:rPr sz="2400" spc="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referenced?</a:t>
            </a:r>
            <a:endParaRPr sz="2400">
              <a:latin typeface="Arial Narrow"/>
              <a:cs typeface="Arial Narrow"/>
            </a:endParaRPr>
          </a:p>
          <a:p>
            <a:pPr marL="756285" lvl="1" indent="-287020">
              <a:lnSpc>
                <a:spcPts val="2735"/>
              </a:lnSpc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Does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site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reference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other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sources?</a:t>
            </a:r>
            <a:endParaRPr sz="2400">
              <a:latin typeface="Arial Narrow"/>
              <a:cs typeface="Arial Narrow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400">
              <a:latin typeface="Arial Narrow"/>
              <a:cs typeface="Arial Narrow"/>
            </a:endParaRPr>
          </a:p>
          <a:p>
            <a:pPr marL="355600" indent="-342900">
              <a:lnSpc>
                <a:spcPts val="3220"/>
              </a:lnSpc>
              <a:buFont typeface="Arial Narrow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Arial Narrow"/>
                <a:cs typeface="Arial Narrow"/>
              </a:rPr>
              <a:t>Currency</a:t>
            </a:r>
            <a:endParaRPr sz="2800">
              <a:latin typeface="Arial Narrow"/>
              <a:cs typeface="Arial Narrow"/>
            </a:endParaRPr>
          </a:p>
          <a:p>
            <a:pPr marL="756285" lvl="1" indent="-287020">
              <a:lnSpc>
                <a:spcPts val="2595"/>
              </a:lnSpc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Does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information</a:t>
            </a:r>
            <a:r>
              <a:rPr sz="2400" spc="3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presented</a:t>
            </a:r>
            <a:r>
              <a:rPr sz="2400" spc="3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have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"published"</a:t>
            </a:r>
            <a:r>
              <a:rPr sz="2400" spc="6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date?</a:t>
            </a:r>
            <a:endParaRPr sz="2400">
              <a:latin typeface="Arial Narrow"/>
              <a:cs typeface="Arial Narrow"/>
            </a:endParaRPr>
          </a:p>
          <a:p>
            <a:pPr marL="756285" lvl="1" indent="-287020">
              <a:lnSpc>
                <a:spcPts val="2735"/>
              </a:lnSpc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When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was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last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time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site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was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updated?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16305"/>
            <a:ext cx="79222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What</a:t>
            </a:r>
            <a:r>
              <a:rPr sz="3600" b="1" spc="5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is</a:t>
            </a:r>
            <a:r>
              <a:rPr sz="3600" b="1" spc="5" dirty="0">
                <a:latin typeface="Arial Narrow"/>
                <a:cs typeface="Arial Narrow"/>
              </a:rPr>
              <a:t> </a:t>
            </a:r>
            <a:r>
              <a:rPr sz="3600" b="1" dirty="0">
                <a:latin typeface="Arial Narrow"/>
                <a:cs typeface="Arial Narrow"/>
              </a:rPr>
              <a:t>a</a:t>
            </a:r>
            <a:r>
              <a:rPr sz="3600" b="1" spc="-5" dirty="0">
                <a:latin typeface="Arial Narrow"/>
                <a:cs typeface="Arial Narrow"/>
              </a:rPr>
              <a:t> journal</a:t>
            </a:r>
            <a:r>
              <a:rPr sz="3600" b="1" spc="1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and </a:t>
            </a:r>
            <a:r>
              <a:rPr sz="3600" b="1" dirty="0">
                <a:latin typeface="Arial Narrow"/>
                <a:cs typeface="Arial Narrow"/>
              </a:rPr>
              <a:t>a</a:t>
            </a:r>
            <a:r>
              <a:rPr sz="3600" b="1" spc="-5" dirty="0">
                <a:latin typeface="Arial Narrow"/>
                <a:cs typeface="Arial Narrow"/>
              </a:rPr>
              <a:t> peer</a:t>
            </a:r>
            <a:r>
              <a:rPr sz="3600" b="1" spc="-15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reviewed</a:t>
            </a:r>
            <a:r>
              <a:rPr sz="3600" b="1" spc="-1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article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851" y="6142003"/>
            <a:ext cx="38468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latin typeface="Arial Narrow"/>
                <a:cs typeface="Arial Narrow"/>
              </a:rPr>
              <a:t>Source:</a:t>
            </a:r>
            <a:r>
              <a:rPr sz="1300" spc="25" dirty="0">
                <a:latin typeface="Arial Narrow"/>
                <a:cs typeface="Arial Narrow"/>
              </a:rPr>
              <a:t> </a:t>
            </a:r>
            <a:r>
              <a:rPr sz="1300" spc="-5" dirty="0">
                <a:latin typeface="Arial Narrow"/>
                <a:cs typeface="Arial Narrow"/>
              </a:rPr>
              <a:t>Ronald</a:t>
            </a:r>
            <a:r>
              <a:rPr sz="1300" spc="10" dirty="0">
                <a:latin typeface="Arial Narrow"/>
                <a:cs typeface="Arial Narrow"/>
              </a:rPr>
              <a:t> </a:t>
            </a:r>
            <a:r>
              <a:rPr sz="1300" spc="-5" dirty="0">
                <a:latin typeface="Arial Narrow"/>
                <a:cs typeface="Arial Narrow"/>
              </a:rPr>
              <a:t>Williams</a:t>
            </a:r>
            <a:r>
              <a:rPr sz="1300" dirty="0">
                <a:latin typeface="Arial Narrow"/>
                <a:cs typeface="Arial Narrow"/>
              </a:rPr>
              <a:t> </a:t>
            </a:r>
            <a:r>
              <a:rPr sz="1300" spc="-10" dirty="0">
                <a:latin typeface="Arial Narrow"/>
                <a:cs typeface="Arial Narrow"/>
              </a:rPr>
              <a:t>Library,</a:t>
            </a:r>
            <a:r>
              <a:rPr sz="1300" spc="15" dirty="0">
                <a:latin typeface="Arial Narrow"/>
                <a:cs typeface="Arial Narrow"/>
              </a:rPr>
              <a:t> </a:t>
            </a:r>
            <a:r>
              <a:rPr sz="1300" spc="-10" dirty="0">
                <a:latin typeface="Arial Narrow"/>
                <a:cs typeface="Arial Narrow"/>
              </a:rPr>
              <a:t>Northeastern</a:t>
            </a:r>
            <a:r>
              <a:rPr sz="1300" spc="30" dirty="0">
                <a:latin typeface="Arial Narrow"/>
                <a:cs typeface="Arial Narrow"/>
              </a:rPr>
              <a:t> </a:t>
            </a:r>
            <a:r>
              <a:rPr sz="1300" spc="-5" dirty="0">
                <a:latin typeface="Arial Narrow"/>
                <a:cs typeface="Arial Narrow"/>
              </a:rPr>
              <a:t>Illinois</a:t>
            </a:r>
            <a:r>
              <a:rPr sz="1300" spc="10" dirty="0">
                <a:latin typeface="Arial Narrow"/>
                <a:cs typeface="Arial Narrow"/>
              </a:rPr>
              <a:t> </a:t>
            </a:r>
            <a:r>
              <a:rPr sz="1300" spc="-5" dirty="0">
                <a:latin typeface="Arial Narrow"/>
                <a:cs typeface="Arial Narrow"/>
              </a:rPr>
              <a:t>University</a:t>
            </a:r>
            <a:endParaRPr sz="13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15796" y="1591055"/>
            <a:ext cx="5773420" cy="4320540"/>
            <a:chOff x="1415796" y="1591055"/>
            <a:chExt cx="5773420" cy="43205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3896" y="1629156"/>
              <a:ext cx="5696711" cy="42443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34846" y="1610105"/>
              <a:ext cx="5735320" cy="4282440"/>
            </a:xfrm>
            <a:custGeom>
              <a:avLst/>
              <a:gdLst/>
              <a:ahLst/>
              <a:cxnLst/>
              <a:rect l="l" t="t" r="r" b="b"/>
              <a:pathLst>
                <a:path w="5735320" h="4282440">
                  <a:moveTo>
                    <a:pt x="0" y="0"/>
                  </a:moveTo>
                  <a:lnTo>
                    <a:pt x="5734811" y="0"/>
                  </a:lnTo>
                  <a:lnTo>
                    <a:pt x="5734811" y="4282440"/>
                  </a:lnTo>
                  <a:lnTo>
                    <a:pt x="0" y="428244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78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23</a:t>
            </a:fld>
            <a:endParaRPr spc="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24</a:t>
            </a:fld>
            <a:endParaRPr spc="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16305"/>
            <a:ext cx="3938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Journal</a:t>
            </a:r>
            <a:r>
              <a:rPr sz="3600" b="1" spc="-7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subscriptions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44679"/>
            <a:ext cx="7844790" cy="3204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322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 Narrow"/>
                <a:cs typeface="Arial Narrow"/>
              </a:rPr>
              <a:t>Print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journals</a:t>
            </a:r>
            <a:endParaRPr sz="2800">
              <a:latin typeface="Arial Narrow"/>
              <a:cs typeface="Arial Narrow"/>
            </a:endParaRPr>
          </a:p>
          <a:p>
            <a:pPr marL="756285" marR="112395" lvl="1" indent="-287020">
              <a:lnSpc>
                <a:spcPts val="2590"/>
              </a:lnSpc>
              <a:spcBef>
                <a:spcPts val="185"/>
              </a:spcBef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The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library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subscribes</a:t>
            </a:r>
            <a:r>
              <a:rPr sz="2400" spc="4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to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print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copies</a:t>
            </a:r>
            <a:r>
              <a:rPr sz="2400" spc="4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of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journals</a:t>
            </a:r>
            <a:r>
              <a:rPr sz="2400" spc="4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and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puts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them </a:t>
            </a:r>
            <a:r>
              <a:rPr sz="2400" spc="-53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onto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library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shelves.</a:t>
            </a:r>
            <a:endParaRPr sz="2400">
              <a:latin typeface="Arial Narrow"/>
              <a:cs typeface="Arial Narrow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Wingdings"/>
              <a:buChar char=""/>
            </a:pPr>
            <a:endParaRPr sz="2350">
              <a:latin typeface="Arial Narrow"/>
              <a:cs typeface="Arial Narrow"/>
            </a:endParaRPr>
          </a:p>
          <a:p>
            <a:pPr marL="355600" indent="-342900">
              <a:lnSpc>
                <a:spcPts val="322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 Narrow"/>
                <a:cs typeface="Arial Narrow"/>
              </a:rPr>
              <a:t>Online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journals</a:t>
            </a:r>
            <a:endParaRPr sz="2800">
              <a:latin typeface="Arial Narrow"/>
              <a:cs typeface="Arial Narrow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185"/>
              </a:spcBef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The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library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subscribes</a:t>
            </a:r>
            <a:r>
              <a:rPr sz="2400" spc="4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to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online</a:t>
            </a:r>
            <a:r>
              <a:rPr sz="2400" spc="4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databases</a:t>
            </a:r>
            <a:r>
              <a:rPr sz="2400" spc="5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which</a:t>
            </a:r>
            <a:r>
              <a:rPr sz="2400" spc="3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are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collections </a:t>
            </a:r>
            <a:r>
              <a:rPr sz="2400" spc="-5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of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journals</a:t>
            </a:r>
            <a:r>
              <a:rPr sz="2400" spc="4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packaged</a:t>
            </a:r>
            <a:r>
              <a:rPr sz="2400" spc="6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together</a:t>
            </a:r>
            <a:r>
              <a:rPr sz="2400" spc="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by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topic.</a:t>
            </a:r>
            <a:endParaRPr sz="2400">
              <a:latin typeface="Arial Narrow"/>
              <a:cs typeface="Arial Narrow"/>
            </a:endParaRPr>
          </a:p>
          <a:p>
            <a:pPr marL="756285" marR="582930" lvl="1" indent="-287020">
              <a:lnSpc>
                <a:spcPts val="2590"/>
              </a:lnSpc>
              <a:spcBef>
                <a:spcPts val="5"/>
              </a:spcBef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These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databases</a:t>
            </a:r>
            <a:r>
              <a:rPr sz="2400" spc="5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can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be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searched</a:t>
            </a:r>
            <a:r>
              <a:rPr sz="2400" spc="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using</a:t>
            </a:r>
            <a:r>
              <a:rPr sz="2400" spc="3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keywords,</a:t>
            </a:r>
            <a:r>
              <a:rPr sz="2400" spc="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author </a:t>
            </a:r>
            <a:r>
              <a:rPr sz="2400" spc="-5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names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and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subjects.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416305"/>
            <a:ext cx="4839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How</a:t>
            </a:r>
            <a:r>
              <a:rPr sz="3600" b="1" spc="-20" dirty="0">
                <a:latin typeface="Arial Narrow"/>
                <a:cs typeface="Arial Narrow"/>
              </a:rPr>
              <a:t> </a:t>
            </a:r>
            <a:r>
              <a:rPr sz="3600" b="1" dirty="0">
                <a:latin typeface="Arial Narrow"/>
                <a:cs typeface="Arial Narrow"/>
              </a:rPr>
              <a:t>to </a:t>
            </a:r>
            <a:r>
              <a:rPr sz="3600" b="1" spc="-5" dirty="0">
                <a:latin typeface="Arial Narrow"/>
                <a:cs typeface="Arial Narrow"/>
              </a:rPr>
              <a:t>find journal</a:t>
            </a:r>
            <a:r>
              <a:rPr sz="3600" b="1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articles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9565" y="1500663"/>
            <a:ext cx="3956685" cy="4466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322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Narrow"/>
                <a:cs typeface="Arial Narrow"/>
              </a:rPr>
              <a:t>Library</a:t>
            </a:r>
            <a:r>
              <a:rPr sz="2800" spc="-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search</a:t>
            </a:r>
            <a:endParaRPr sz="2800">
              <a:latin typeface="Arial Narrow"/>
              <a:cs typeface="Arial Narrow"/>
            </a:endParaRPr>
          </a:p>
          <a:p>
            <a:pPr marL="756285" marR="253365" lvl="1" indent="-287020">
              <a:lnSpc>
                <a:spcPts val="2590"/>
              </a:lnSpc>
              <a:spcBef>
                <a:spcPts val="185"/>
              </a:spcBef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Enter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article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title,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author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or </a:t>
            </a:r>
            <a:r>
              <a:rPr sz="2400" spc="-5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keywords</a:t>
            </a:r>
            <a:endParaRPr sz="2400">
              <a:latin typeface="Arial Narrow"/>
              <a:cs typeface="Arial Narrow"/>
            </a:endParaRPr>
          </a:p>
          <a:p>
            <a:pPr marL="756285" marR="643890" lvl="1" indent="-287020">
              <a:lnSpc>
                <a:spcPts val="2590"/>
              </a:lnSpc>
              <a:spcBef>
                <a:spcPts val="5"/>
              </a:spcBef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Choose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journal</a:t>
            </a:r>
            <a:r>
              <a:rPr sz="2400" spc="-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articles </a:t>
            </a:r>
            <a:r>
              <a:rPr sz="2400" spc="-53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button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and</a:t>
            </a:r>
            <a:r>
              <a:rPr sz="2400" spc="2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search</a:t>
            </a:r>
            <a:endParaRPr sz="2400">
              <a:latin typeface="Arial Narrow"/>
              <a:cs typeface="Arial Narrow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5"/>
              </a:spcBef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Limit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to: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full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text,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(also 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publication</a:t>
            </a:r>
            <a:r>
              <a:rPr sz="2400" spc="5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date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and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peer 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reviewed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journals,</a:t>
            </a:r>
            <a:r>
              <a:rPr sz="2400" spc="2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if</a:t>
            </a:r>
            <a:r>
              <a:rPr sz="2400" spc="-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desired)</a:t>
            </a:r>
            <a:endParaRPr sz="2400">
              <a:latin typeface="Arial Narrow"/>
              <a:cs typeface="Arial Narrow"/>
            </a:endParaRPr>
          </a:p>
          <a:p>
            <a:pPr marL="355600" indent="-342900">
              <a:lnSpc>
                <a:spcPts val="3220"/>
              </a:lnSpc>
              <a:spcBef>
                <a:spcPts val="22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Narrow"/>
                <a:cs typeface="Arial Narrow"/>
              </a:rPr>
              <a:t>Database searching</a:t>
            </a:r>
            <a:endParaRPr sz="2800">
              <a:latin typeface="Arial Narrow"/>
              <a:cs typeface="Arial Narrow"/>
            </a:endParaRPr>
          </a:p>
          <a:p>
            <a:pPr marL="756285" marR="114300" lvl="1" indent="-287020">
              <a:lnSpc>
                <a:spcPts val="2590"/>
              </a:lnSpc>
              <a:spcBef>
                <a:spcPts val="185"/>
              </a:spcBef>
              <a:buFont typeface="Wingdings"/>
              <a:buChar char=""/>
              <a:tabLst>
                <a:tab pos="756920" algn="l"/>
              </a:tabLst>
            </a:pPr>
            <a:r>
              <a:rPr sz="2400" spc="-5" dirty="0">
                <a:latin typeface="Arial Narrow"/>
                <a:cs typeface="Arial Narrow"/>
              </a:rPr>
              <a:t>Search</a:t>
            </a:r>
            <a:r>
              <a:rPr sz="2400" spc="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the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databases</a:t>
            </a:r>
            <a:r>
              <a:rPr sz="2400" spc="40" dirty="0">
                <a:latin typeface="Arial Narrow"/>
                <a:cs typeface="Arial Narrow"/>
              </a:rPr>
              <a:t> </a:t>
            </a:r>
            <a:r>
              <a:rPr sz="2400" spc="-10" dirty="0">
                <a:latin typeface="Arial Narrow"/>
                <a:cs typeface="Arial Narrow"/>
              </a:rPr>
              <a:t>by </a:t>
            </a:r>
            <a:r>
              <a:rPr sz="2400" spc="-5" dirty="0">
                <a:latin typeface="Arial Narrow"/>
                <a:cs typeface="Arial Narrow"/>
              </a:rPr>
              <a:t> name</a:t>
            </a:r>
            <a:r>
              <a:rPr sz="2400" spc="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or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browse 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alphabetically</a:t>
            </a:r>
            <a:r>
              <a:rPr sz="2400" spc="4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or</a:t>
            </a:r>
            <a:r>
              <a:rPr sz="2400" spc="-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by</a:t>
            </a:r>
            <a:r>
              <a:rPr sz="2400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subject.</a:t>
            </a:r>
            <a:endParaRPr sz="24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49952" y="1575816"/>
            <a:ext cx="3456940" cy="2108200"/>
            <a:chOff x="4949952" y="1575816"/>
            <a:chExt cx="3456940" cy="2108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9096" y="1584960"/>
              <a:ext cx="3443653" cy="20943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54524" y="1580388"/>
              <a:ext cx="3447415" cy="2098675"/>
            </a:xfrm>
            <a:custGeom>
              <a:avLst/>
              <a:gdLst/>
              <a:ahLst/>
              <a:cxnLst/>
              <a:rect l="l" t="t" r="r" b="b"/>
              <a:pathLst>
                <a:path w="3447415" h="2098675">
                  <a:moveTo>
                    <a:pt x="0" y="0"/>
                  </a:moveTo>
                  <a:lnTo>
                    <a:pt x="3447287" y="0"/>
                  </a:lnTo>
                  <a:lnTo>
                    <a:pt x="3447287" y="2098548"/>
                  </a:lnTo>
                  <a:lnTo>
                    <a:pt x="0" y="2098548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936235" y="4226052"/>
            <a:ext cx="3842385" cy="1603375"/>
            <a:chOff x="4936235" y="4226052"/>
            <a:chExt cx="3842385" cy="16033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3544" y="4404046"/>
              <a:ext cx="3387208" cy="136315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40807" y="4230624"/>
              <a:ext cx="3832860" cy="1594485"/>
            </a:xfrm>
            <a:custGeom>
              <a:avLst/>
              <a:gdLst/>
              <a:ahLst/>
              <a:cxnLst/>
              <a:rect l="l" t="t" r="r" b="b"/>
              <a:pathLst>
                <a:path w="3832859" h="1594485">
                  <a:moveTo>
                    <a:pt x="0" y="0"/>
                  </a:moveTo>
                  <a:lnTo>
                    <a:pt x="3832860" y="0"/>
                  </a:lnTo>
                  <a:lnTo>
                    <a:pt x="3832860" y="1594104"/>
                  </a:lnTo>
                  <a:lnTo>
                    <a:pt x="0" y="159410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smtClean="0"/>
              <a:t>25</a:t>
            </a:fld>
            <a:endParaRPr spc="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222" y="515537"/>
            <a:ext cx="5800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Library</a:t>
            </a:r>
            <a:r>
              <a:rPr sz="3600" b="1" spc="-1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Search</a:t>
            </a:r>
            <a:r>
              <a:rPr sz="3600" b="1" spc="-20" dirty="0">
                <a:latin typeface="Arial Narrow"/>
                <a:cs typeface="Arial Narrow"/>
              </a:rPr>
              <a:t> </a:t>
            </a:r>
            <a:r>
              <a:rPr sz="3600" b="1" dirty="0">
                <a:latin typeface="Arial Narrow"/>
                <a:cs typeface="Arial Narrow"/>
              </a:rPr>
              <a:t>-</a:t>
            </a:r>
            <a:r>
              <a:rPr sz="3600" b="1" spc="-15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Refining</a:t>
            </a:r>
            <a:r>
              <a:rPr sz="3600" b="1" spc="-10" dirty="0">
                <a:latin typeface="Arial Narrow"/>
                <a:cs typeface="Arial Narrow"/>
              </a:rPr>
              <a:t> </a:t>
            </a:r>
            <a:r>
              <a:rPr sz="3600" b="1" dirty="0">
                <a:latin typeface="Arial Narrow"/>
                <a:cs typeface="Arial Narrow"/>
              </a:rPr>
              <a:t>search</a:t>
            </a:r>
            <a:endParaRPr sz="36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0124" y="1645920"/>
            <a:ext cx="8295640" cy="4318000"/>
            <a:chOff x="230124" y="1645920"/>
            <a:chExt cx="8295640" cy="431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416" y="1699260"/>
              <a:ext cx="7851530" cy="42517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3796" y="1691640"/>
              <a:ext cx="7863840" cy="4264660"/>
            </a:xfrm>
            <a:custGeom>
              <a:avLst/>
              <a:gdLst/>
              <a:ahLst/>
              <a:cxnLst/>
              <a:rect l="l" t="t" r="r" b="b"/>
              <a:pathLst>
                <a:path w="7863840" h="4264660">
                  <a:moveTo>
                    <a:pt x="0" y="0"/>
                  </a:moveTo>
                  <a:lnTo>
                    <a:pt x="7863840" y="0"/>
                  </a:lnTo>
                  <a:lnTo>
                    <a:pt x="7863840" y="4264152"/>
                  </a:lnTo>
                  <a:lnTo>
                    <a:pt x="0" y="4264152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0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20305" y="2071878"/>
              <a:ext cx="431800" cy="493395"/>
            </a:xfrm>
            <a:custGeom>
              <a:avLst/>
              <a:gdLst/>
              <a:ahLst/>
              <a:cxnLst/>
              <a:rect l="l" t="t" r="r" b="b"/>
              <a:pathLst>
                <a:path w="431800" h="493394">
                  <a:moveTo>
                    <a:pt x="0" y="0"/>
                  </a:moveTo>
                  <a:lnTo>
                    <a:pt x="431292" y="492912"/>
                  </a:lnTo>
                </a:path>
              </a:pathLst>
            </a:custGeom>
            <a:ln w="4419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87165" y="2504502"/>
              <a:ext cx="137795" cy="143510"/>
            </a:xfrm>
            <a:custGeom>
              <a:avLst/>
              <a:gdLst/>
              <a:ahLst/>
              <a:cxnLst/>
              <a:rect l="l" t="t" r="r" b="b"/>
              <a:pathLst>
                <a:path w="137795" h="143510">
                  <a:moveTo>
                    <a:pt x="99783" y="0"/>
                  </a:moveTo>
                  <a:lnTo>
                    <a:pt x="0" y="87299"/>
                  </a:lnTo>
                  <a:lnTo>
                    <a:pt x="137198" y="143433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2222" y="3963162"/>
              <a:ext cx="431800" cy="493395"/>
            </a:xfrm>
            <a:custGeom>
              <a:avLst/>
              <a:gdLst/>
              <a:ahLst/>
              <a:cxnLst/>
              <a:rect l="l" t="t" r="r" b="b"/>
              <a:pathLst>
                <a:path w="431800" h="493395">
                  <a:moveTo>
                    <a:pt x="0" y="0"/>
                  </a:moveTo>
                  <a:lnTo>
                    <a:pt x="431292" y="492912"/>
                  </a:lnTo>
                </a:path>
              </a:pathLst>
            </a:custGeom>
            <a:ln w="4419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9081" y="4395786"/>
              <a:ext cx="137795" cy="143510"/>
            </a:xfrm>
            <a:custGeom>
              <a:avLst/>
              <a:gdLst/>
              <a:ahLst/>
              <a:cxnLst/>
              <a:rect l="l" t="t" r="r" b="b"/>
              <a:pathLst>
                <a:path w="137795" h="143510">
                  <a:moveTo>
                    <a:pt x="99783" y="0"/>
                  </a:moveTo>
                  <a:lnTo>
                    <a:pt x="0" y="87299"/>
                  </a:lnTo>
                  <a:lnTo>
                    <a:pt x="137198" y="143433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24477" y="2998470"/>
              <a:ext cx="431800" cy="493395"/>
            </a:xfrm>
            <a:custGeom>
              <a:avLst/>
              <a:gdLst/>
              <a:ahLst/>
              <a:cxnLst/>
              <a:rect l="l" t="t" r="r" b="b"/>
              <a:pathLst>
                <a:path w="431800" h="493395">
                  <a:moveTo>
                    <a:pt x="0" y="0"/>
                  </a:moveTo>
                  <a:lnTo>
                    <a:pt x="431292" y="492912"/>
                  </a:lnTo>
                </a:path>
              </a:pathLst>
            </a:custGeom>
            <a:ln w="4419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91337" y="3431094"/>
              <a:ext cx="137795" cy="143510"/>
            </a:xfrm>
            <a:custGeom>
              <a:avLst/>
              <a:gdLst/>
              <a:ahLst/>
              <a:cxnLst/>
              <a:rect l="l" t="t" r="r" b="b"/>
              <a:pathLst>
                <a:path w="137795" h="143510">
                  <a:moveTo>
                    <a:pt x="99783" y="0"/>
                  </a:moveTo>
                  <a:lnTo>
                    <a:pt x="0" y="87299"/>
                  </a:lnTo>
                  <a:lnTo>
                    <a:pt x="137198" y="143433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72918" y="1668018"/>
              <a:ext cx="431800" cy="493395"/>
            </a:xfrm>
            <a:custGeom>
              <a:avLst/>
              <a:gdLst/>
              <a:ahLst/>
              <a:cxnLst/>
              <a:rect l="l" t="t" r="r" b="b"/>
              <a:pathLst>
                <a:path w="431800" h="493394">
                  <a:moveTo>
                    <a:pt x="0" y="0"/>
                  </a:moveTo>
                  <a:lnTo>
                    <a:pt x="431292" y="492912"/>
                  </a:lnTo>
                </a:path>
              </a:pathLst>
            </a:custGeom>
            <a:ln w="4419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9777" y="2100642"/>
              <a:ext cx="137795" cy="143510"/>
            </a:xfrm>
            <a:custGeom>
              <a:avLst/>
              <a:gdLst/>
              <a:ahLst/>
              <a:cxnLst/>
              <a:rect l="l" t="t" r="r" b="b"/>
              <a:pathLst>
                <a:path w="137795" h="143510">
                  <a:moveTo>
                    <a:pt x="99783" y="0"/>
                  </a:moveTo>
                  <a:lnTo>
                    <a:pt x="0" y="87299"/>
                  </a:lnTo>
                  <a:lnTo>
                    <a:pt x="137198" y="143433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2222" y="4667250"/>
              <a:ext cx="431800" cy="493395"/>
            </a:xfrm>
            <a:custGeom>
              <a:avLst/>
              <a:gdLst/>
              <a:ahLst/>
              <a:cxnLst/>
              <a:rect l="l" t="t" r="r" b="b"/>
              <a:pathLst>
                <a:path w="431800" h="493395">
                  <a:moveTo>
                    <a:pt x="0" y="0"/>
                  </a:moveTo>
                  <a:lnTo>
                    <a:pt x="431292" y="492912"/>
                  </a:lnTo>
                </a:path>
              </a:pathLst>
            </a:custGeom>
            <a:ln w="4419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9081" y="5099874"/>
              <a:ext cx="137795" cy="143510"/>
            </a:xfrm>
            <a:custGeom>
              <a:avLst/>
              <a:gdLst/>
              <a:ahLst/>
              <a:cxnLst/>
              <a:rect l="l" t="t" r="r" b="b"/>
              <a:pathLst>
                <a:path w="137795" h="143510">
                  <a:moveTo>
                    <a:pt x="99783" y="0"/>
                  </a:moveTo>
                  <a:lnTo>
                    <a:pt x="0" y="87299"/>
                  </a:lnTo>
                  <a:lnTo>
                    <a:pt x="137198" y="143433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2222" y="3286505"/>
              <a:ext cx="431800" cy="493395"/>
            </a:xfrm>
            <a:custGeom>
              <a:avLst/>
              <a:gdLst/>
              <a:ahLst/>
              <a:cxnLst/>
              <a:rect l="l" t="t" r="r" b="b"/>
              <a:pathLst>
                <a:path w="431800" h="493395">
                  <a:moveTo>
                    <a:pt x="0" y="0"/>
                  </a:moveTo>
                  <a:lnTo>
                    <a:pt x="431292" y="492912"/>
                  </a:lnTo>
                </a:path>
              </a:pathLst>
            </a:custGeom>
            <a:ln w="4419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081" y="3719130"/>
              <a:ext cx="137795" cy="143510"/>
            </a:xfrm>
            <a:custGeom>
              <a:avLst/>
              <a:gdLst/>
              <a:ahLst/>
              <a:cxnLst/>
              <a:rect l="l" t="t" r="r" b="b"/>
              <a:pathLst>
                <a:path w="137795" h="143510">
                  <a:moveTo>
                    <a:pt x="99783" y="0"/>
                  </a:moveTo>
                  <a:lnTo>
                    <a:pt x="0" y="87299"/>
                  </a:lnTo>
                  <a:lnTo>
                    <a:pt x="137198" y="143433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5" dirty="0"/>
              <a:t>26</a:t>
            </a:fld>
            <a:endParaRPr spc="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49974"/>
            <a:ext cx="4878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Business</a:t>
            </a:r>
            <a:r>
              <a:rPr sz="3600" b="1" spc="-5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Source</a:t>
            </a:r>
            <a:r>
              <a:rPr sz="3600" b="1" spc="-1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Complete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23496"/>
            <a:ext cx="6196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Narrow"/>
                <a:cs typeface="Arial Narrow"/>
              </a:rPr>
              <a:t>Through</a:t>
            </a:r>
            <a:r>
              <a:rPr sz="2800" spc="-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Databases</a:t>
            </a:r>
            <a:r>
              <a:rPr sz="2800" spc="-114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A-Z</a:t>
            </a:r>
            <a:r>
              <a:rPr sz="2800" spc="-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on</a:t>
            </a:r>
            <a:r>
              <a:rPr sz="2800" spc="-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library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homepage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29" y="4565918"/>
            <a:ext cx="7887334" cy="14338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2"/>
              </a:rPr>
              <a:t>Video</a:t>
            </a:r>
            <a:r>
              <a:rPr sz="2800" spc="20" dirty="0">
                <a:solidFill>
                  <a:srgbClr val="0000FF"/>
                </a:solidFill>
                <a:latin typeface="Arial Narrow"/>
                <a:cs typeface="Arial Narrow"/>
                <a:hlinkClick r:id="rId2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on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how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to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find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and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use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Library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Database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354965" algn="l"/>
                <a:tab pos="356235" algn="l"/>
              </a:tabLst>
            </a:pPr>
            <a:r>
              <a:rPr sz="2800" spc="-5" dirty="0">
                <a:latin typeface="Arial Narrow"/>
                <a:cs typeface="Arial Narrow"/>
              </a:rPr>
              <a:t>Business</a:t>
            </a:r>
            <a:r>
              <a:rPr sz="2800" spc="2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Source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Complete</a:t>
            </a:r>
            <a:r>
              <a:rPr sz="2800" spc="25" dirty="0">
                <a:solidFill>
                  <a:srgbClr val="0000FF"/>
                </a:solidFill>
                <a:latin typeface="Arial Narrow"/>
                <a:cs typeface="Arial Narrow"/>
              </a:rPr>
              <a:t> </a:t>
            </a:r>
            <a:r>
              <a:rPr sz="28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3"/>
              </a:rPr>
              <a:t>video</a:t>
            </a:r>
            <a:r>
              <a:rPr sz="2800" spc="20" dirty="0">
                <a:solidFill>
                  <a:srgbClr val="0000FF"/>
                </a:solidFill>
                <a:latin typeface="Arial Narrow"/>
                <a:cs typeface="Arial Narrow"/>
                <a:hlinkClick r:id="rId3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(Seminole</a:t>
            </a:r>
            <a:r>
              <a:rPr sz="2800" spc="3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State</a:t>
            </a:r>
            <a:r>
              <a:rPr sz="2800" spc="2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Library)</a:t>
            </a:r>
            <a:endParaRPr sz="280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4"/>
              </a:rPr>
              <a:t>Link</a:t>
            </a:r>
            <a:r>
              <a:rPr sz="2800" u="heavy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4"/>
              </a:rPr>
              <a:t> </a:t>
            </a:r>
            <a:r>
              <a:rPr sz="28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4"/>
              </a:rPr>
              <a:t>to</a:t>
            </a:r>
            <a:r>
              <a:rPr sz="28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4"/>
              </a:rPr>
              <a:t> </a:t>
            </a:r>
            <a:r>
              <a:rPr sz="28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4"/>
              </a:rPr>
              <a:t>Business</a:t>
            </a:r>
            <a:r>
              <a:rPr sz="2800" u="heavy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4"/>
              </a:rPr>
              <a:t> </a:t>
            </a:r>
            <a:r>
              <a:rPr sz="28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4"/>
              </a:rPr>
              <a:t>Source</a:t>
            </a:r>
            <a:r>
              <a:rPr sz="2800" u="heavy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4"/>
              </a:rPr>
              <a:t> 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4"/>
              </a:rPr>
              <a:t>Complete</a:t>
            </a:r>
            <a:r>
              <a:rPr sz="2800" u="heavy" spc="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4"/>
              </a:rPr>
              <a:t> </a:t>
            </a:r>
            <a:r>
              <a:rPr sz="28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/>
                <a:cs typeface="Arial Narrow"/>
                <a:hlinkClick r:id="rId4"/>
              </a:rPr>
              <a:t>Database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81911" y="1950720"/>
            <a:ext cx="3301365" cy="2520950"/>
            <a:chOff x="1581911" y="1950720"/>
            <a:chExt cx="3301365" cy="252095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0012" y="1988820"/>
              <a:ext cx="3224783" cy="239409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00961" y="1969770"/>
              <a:ext cx="3263265" cy="2482850"/>
            </a:xfrm>
            <a:custGeom>
              <a:avLst/>
              <a:gdLst/>
              <a:ahLst/>
              <a:cxnLst/>
              <a:rect l="l" t="t" r="r" b="b"/>
              <a:pathLst>
                <a:path w="3263265" h="2482850">
                  <a:moveTo>
                    <a:pt x="0" y="0"/>
                  </a:moveTo>
                  <a:lnTo>
                    <a:pt x="3262884" y="0"/>
                  </a:lnTo>
                  <a:lnTo>
                    <a:pt x="3262884" y="2482596"/>
                  </a:lnTo>
                  <a:lnTo>
                    <a:pt x="0" y="2482596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78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75653"/>
            <a:ext cx="68986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Business Source Complete </a:t>
            </a:r>
            <a:r>
              <a:rPr sz="3600" b="1" dirty="0">
                <a:latin typeface="Arial Narrow"/>
                <a:cs typeface="Arial Narrow"/>
              </a:rPr>
              <a:t>- </a:t>
            </a:r>
            <a:r>
              <a:rPr sz="3600" b="1" spc="-5" dirty="0">
                <a:latin typeface="Arial Narrow"/>
                <a:cs typeface="Arial Narrow"/>
              </a:rPr>
              <a:t>refining a </a:t>
            </a:r>
            <a:r>
              <a:rPr sz="3600" b="1" spc="-81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journal</a:t>
            </a:r>
            <a:r>
              <a:rPr sz="3600" b="1" spc="5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article </a:t>
            </a:r>
            <a:r>
              <a:rPr sz="3600" b="1" dirty="0">
                <a:latin typeface="Arial Narrow"/>
                <a:cs typeface="Arial Narrow"/>
              </a:rPr>
              <a:t>search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39646"/>
            <a:ext cx="7059295" cy="25857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 Narrow"/>
                <a:cs typeface="Arial Narrow"/>
              </a:rPr>
              <a:t>Peer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reviewed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(in</a:t>
            </a:r>
            <a:r>
              <a:rPr sz="2800" spc="-13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Advanced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Search)</a:t>
            </a:r>
            <a:endParaRPr sz="2800">
              <a:latin typeface="Arial Narrow"/>
              <a:cs typeface="Arial Narrow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 Narrow"/>
                <a:cs typeface="Arial Narrow"/>
              </a:rPr>
              <a:t>Date</a:t>
            </a:r>
            <a:endParaRPr sz="2800">
              <a:latin typeface="Arial Narrow"/>
              <a:cs typeface="Arial Narrow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Narrow"/>
                <a:cs typeface="Arial Narrow"/>
              </a:rPr>
              <a:t>Use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more</a:t>
            </a:r>
            <a:r>
              <a:rPr sz="2800" spc="-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specific</a:t>
            </a:r>
            <a:r>
              <a:rPr sz="2800" spc="2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keywords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than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in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‘Library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Search’</a:t>
            </a:r>
            <a:endParaRPr sz="2800">
              <a:latin typeface="Arial Narrow"/>
              <a:cs typeface="Arial Narrow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Narrow"/>
                <a:cs typeface="Arial Narrow"/>
              </a:rPr>
              <a:t>Can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put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in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</a:t>
            </a:r>
            <a:r>
              <a:rPr sz="2800" spc="-1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folder</a:t>
            </a:r>
            <a:r>
              <a:rPr sz="2800" spc="2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and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send</a:t>
            </a:r>
            <a:r>
              <a:rPr sz="2800" spc="-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articles</a:t>
            </a:r>
            <a:r>
              <a:rPr sz="2800" spc="2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to</a:t>
            </a:r>
            <a:r>
              <a:rPr sz="2800" spc="-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yourself</a:t>
            </a:r>
            <a:endParaRPr sz="2800">
              <a:latin typeface="Arial Narrow"/>
              <a:cs typeface="Arial Narrow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Narrow"/>
                <a:cs typeface="Arial Narrow"/>
              </a:rPr>
              <a:t>Search</a:t>
            </a:r>
            <a:r>
              <a:rPr sz="2800" spc="-10" dirty="0">
                <a:latin typeface="Arial Narrow"/>
                <a:cs typeface="Arial Narrow"/>
              </a:rPr>
              <a:t> examples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66088" y="4283964"/>
            <a:ext cx="5139055" cy="1602105"/>
            <a:chOff x="1466088" y="4283964"/>
            <a:chExt cx="5139055" cy="16021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5232" y="4293108"/>
              <a:ext cx="5121363" cy="15837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70660" y="4288536"/>
              <a:ext cx="5130165" cy="1592580"/>
            </a:xfrm>
            <a:custGeom>
              <a:avLst/>
              <a:gdLst/>
              <a:ahLst/>
              <a:cxnLst/>
              <a:rect l="l" t="t" r="r" b="b"/>
              <a:pathLst>
                <a:path w="5130165" h="1592579">
                  <a:moveTo>
                    <a:pt x="0" y="0"/>
                  </a:moveTo>
                  <a:lnTo>
                    <a:pt x="5129784" y="0"/>
                  </a:lnTo>
                  <a:lnTo>
                    <a:pt x="5129784" y="1592580"/>
                  </a:lnTo>
                  <a:lnTo>
                    <a:pt x="0" y="159258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276" y="499023"/>
            <a:ext cx="790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Business</a:t>
            </a:r>
            <a:r>
              <a:rPr sz="3600" b="1" spc="-35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Source</a:t>
            </a:r>
            <a:r>
              <a:rPr sz="3600" b="1" spc="5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Complete</a:t>
            </a:r>
            <a:r>
              <a:rPr sz="3600" b="1" spc="-20" dirty="0">
                <a:latin typeface="Arial Narrow"/>
                <a:cs typeface="Arial Narrow"/>
              </a:rPr>
              <a:t> </a:t>
            </a:r>
            <a:r>
              <a:rPr sz="3600" b="1" dirty="0">
                <a:latin typeface="Arial Narrow"/>
                <a:cs typeface="Arial Narrow"/>
              </a:rPr>
              <a:t>- </a:t>
            </a:r>
            <a:r>
              <a:rPr sz="3600" b="1" spc="-5" dirty="0">
                <a:latin typeface="Arial Narrow"/>
                <a:cs typeface="Arial Narrow"/>
              </a:rPr>
              <a:t>refining</a:t>
            </a:r>
            <a:r>
              <a:rPr sz="3600" b="1" spc="5" dirty="0">
                <a:latin typeface="Arial Narrow"/>
                <a:cs typeface="Arial Narrow"/>
              </a:rPr>
              <a:t> </a:t>
            </a:r>
            <a:r>
              <a:rPr sz="3600" b="1" dirty="0">
                <a:latin typeface="Arial Narrow"/>
                <a:cs typeface="Arial Narrow"/>
              </a:rPr>
              <a:t>search</a:t>
            </a:r>
            <a:endParaRPr sz="36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89787" y="1391411"/>
            <a:ext cx="7294245" cy="4272280"/>
            <a:chOff x="589787" y="1391411"/>
            <a:chExt cx="7294245" cy="4272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891" y="1700784"/>
              <a:ext cx="6842641" cy="39627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75993" y="1413509"/>
              <a:ext cx="431800" cy="493395"/>
            </a:xfrm>
            <a:custGeom>
              <a:avLst/>
              <a:gdLst/>
              <a:ahLst/>
              <a:cxnLst/>
              <a:rect l="l" t="t" r="r" b="b"/>
              <a:pathLst>
                <a:path w="431800" h="493394">
                  <a:moveTo>
                    <a:pt x="0" y="0"/>
                  </a:moveTo>
                  <a:lnTo>
                    <a:pt x="431292" y="492912"/>
                  </a:lnTo>
                </a:path>
              </a:pathLst>
            </a:custGeom>
            <a:ln w="4419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2853" y="1846134"/>
              <a:ext cx="137795" cy="143510"/>
            </a:xfrm>
            <a:custGeom>
              <a:avLst/>
              <a:gdLst/>
              <a:ahLst/>
              <a:cxnLst/>
              <a:rect l="l" t="t" r="r" b="b"/>
              <a:pathLst>
                <a:path w="137794" h="143510">
                  <a:moveTo>
                    <a:pt x="99783" y="0"/>
                  </a:moveTo>
                  <a:lnTo>
                    <a:pt x="0" y="87299"/>
                  </a:lnTo>
                  <a:lnTo>
                    <a:pt x="137198" y="143433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77049" y="2637281"/>
              <a:ext cx="431800" cy="493395"/>
            </a:xfrm>
            <a:custGeom>
              <a:avLst/>
              <a:gdLst/>
              <a:ahLst/>
              <a:cxnLst/>
              <a:rect l="l" t="t" r="r" b="b"/>
              <a:pathLst>
                <a:path w="431800" h="493394">
                  <a:moveTo>
                    <a:pt x="0" y="0"/>
                  </a:moveTo>
                  <a:lnTo>
                    <a:pt x="431292" y="492912"/>
                  </a:lnTo>
                </a:path>
              </a:pathLst>
            </a:custGeom>
            <a:ln w="4419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43911" y="3069906"/>
              <a:ext cx="137795" cy="143510"/>
            </a:xfrm>
            <a:custGeom>
              <a:avLst/>
              <a:gdLst/>
              <a:ahLst/>
              <a:cxnLst/>
              <a:rect l="l" t="t" r="r" b="b"/>
              <a:pathLst>
                <a:path w="137795" h="143510">
                  <a:moveTo>
                    <a:pt x="99783" y="0"/>
                  </a:moveTo>
                  <a:lnTo>
                    <a:pt x="0" y="87299"/>
                  </a:lnTo>
                  <a:lnTo>
                    <a:pt x="137198" y="143433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1885" y="3501389"/>
              <a:ext cx="431800" cy="493395"/>
            </a:xfrm>
            <a:custGeom>
              <a:avLst/>
              <a:gdLst/>
              <a:ahLst/>
              <a:cxnLst/>
              <a:rect l="l" t="t" r="r" b="b"/>
              <a:pathLst>
                <a:path w="431800" h="493395">
                  <a:moveTo>
                    <a:pt x="0" y="0"/>
                  </a:moveTo>
                  <a:lnTo>
                    <a:pt x="431292" y="492912"/>
                  </a:lnTo>
                </a:path>
              </a:pathLst>
            </a:custGeom>
            <a:ln w="4419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8745" y="3934014"/>
              <a:ext cx="137795" cy="143510"/>
            </a:xfrm>
            <a:custGeom>
              <a:avLst/>
              <a:gdLst/>
              <a:ahLst/>
              <a:cxnLst/>
              <a:rect l="l" t="t" r="r" b="b"/>
              <a:pathLst>
                <a:path w="137794" h="143510">
                  <a:moveTo>
                    <a:pt x="99783" y="0"/>
                  </a:moveTo>
                  <a:lnTo>
                    <a:pt x="0" y="87299"/>
                  </a:lnTo>
                  <a:lnTo>
                    <a:pt x="137198" y="143433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13254" y="4293869"/>
              <a:ext cx="431800" cy="493395"/>
            </a:xfrm>
            <a:custGeom>
              <a:avLst/>
              <a:gdLst/>
              <a:ahLst/>
              <a:cxnLst/>
              <a:rect l="l" t="t" r="r" b="b"/>
              <a:pathLst>
                <a:path w="431800" h="493395">
                  <a:moveTo>
                    <a:pt x="0" y="0"/>
                  </a:moveTo>
                  <a:lnTo>
                    <a:pt x="431292" y="492912"/>
                  </a:lnTo>
                </a:path>
              </a:pathLst>
            </a:custGeom>
            <a:ln w="4419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80113" y="4726495"/>
              <a:ext cx="137795" cy="143510"/>
            </a:xfrm>
            <a:custGeom>
              <a:avLst/>
              <a:gdLst/>
              <a:ahLst/>
              <a:cxnLst/>
              <a:rect l="l" t="t" r="r" b="b"/>
              <a:pathLst>
                <a:path w="137794" h="143510">
                  <a:moveTo>
                    <a:pt x="99783" y="0"/>
                  </a:moveTo>
                  <a:lnTo>
                    <a:pt x="0" y="87299"/>
                  </a:lnTo>
                  <a:lnTo>
                    <a:pt x="137198" y="143433"/>
                  </a:lnTo>
                  <a:lnTo>
                    <a:pt x="997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276" y="480735"/>
            <a:ext cx="1953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</a:t>
            </a:r>
            <a:r>
              <a:rPr sz="3600" dirty="0"/>
              <a:t>c</a:t>
            </a:r>
            <a:r>
              <a:rPr sz="3600" spc="-5" dirty="0"/>
              <a:t>t</a:t>
            </a:r>
            <a:r>
              <a:rPr sz="3600" dirty="0"/>
              <a:t>i</a:t>
            </a:r>
            <a:r>
              <a:rPr sz="3600" spc="-5" dirty="0"/>
              <a:t>v</a:t>
            </a:r>
            <a:r>
              <a:rPr sz="3600" dirty="0"/>
              <a:t>i</a:t>
            </a:r>
            <a:r>
              <a:rPr sz="3600" spc="-5" dirty="0"/>
              <a:t>t</a:t>
            </a:r>
            <a:r>
              <a:rPr sz="3600" dirty="0"/>
              <a:t>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74276" y="1278920"/>
            <a:ext cx="751967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  <a:hlinkClick r:id="rId2"/>
              </a:rPr>
              <a:t>Using</a:t>
            </a:r>
            <a:r>
              <a:rPr sz="2800" spc="10" dirty="0">
                <a:latin typeface="Calibri"/>
                <a:cs typeface="Calibri"/>
                <a:hlinkClick r:id="rId2"/>
              </a:rPr>
              <a:t> </a:t>
            </a:r>
            <a:r>
              <a:rPr sz="2800" spc="-10" dirty="0">
                <a:latin typeface="Calibri"/>
                <a:cs typeface="Calibri"/>
                <a:hlinkClick r:id="rId2"/>
              </a:rPr>
              <a:t>the</a:t>
            </a:r>
            <a:r>
              <a:rPr sz="2800" spc="15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Library</a:t>
            </a:r>
            <a:r>
              <a:rPr sz="2800" u="heavy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search</a:t>
            </a:r>
            <a:r>
              <a:rPr sz="28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800" spc="-5" dirty="0">
                <a:latin typeface="Calibri"/>
                <a:cs typeface="Calibri"/>
                <a:hlinkClick r:id="rId2"/>
              </a:rPr>
              <a:t>OR</a:t>
            </a:r>
            <a:r>
              <a:rPr sz="2800" spc="20" dirty="0">
                <a:latin typeface="Calibri"/>
                <a:cs typeface="Calibri"/>
                <a:hlinkClick r:id="rId2"/>
              </a:rPr>
              <a:t> </a:t>
            </a:r>
            <a:r>
              <a:rPr sz="2800" spc="-5" dirty="0">
                <a:latin typeface="Calibri"/>
                <a:cs typeface="Calibri"/>
                <a:hlinkClick r:id="rId2"/>
              </a:rPr>
              <a:t>the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Business</a:t>
            </a:r>
            <a:r>
              <a:rPr sz="2800" u="heavy" spc="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Source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Complete</a:t>
            </a:r>
            <a:r>
              <a:rPr sz="2800" spc="10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800" spc="-15" dirty="0">
                <a:latin typeface="Calibri"/>
                <a:cs typeface="Calibri"/>
                <a:hlinkClick r:id="rId2"/>
              </a:rPr>
              <a:t>database,</a:t>
            </a:r>
            <a:r>
              <a:rPr sz="2800" spc="15" dirty="0">
                <a:latin typeface="Calibri"/>
                <a:cs typeface="Calibri"/>
                <a:hlinkClick r:id="rId2"/>
              </a:rPr>
              <a:t> </a:t>
            </a:r>
            <a:r>
              <a:rPr sz="2800" spc="-10" dirty="0">
                <a:latin typeface="Calibri"/>
                <a:cs typeface="Calibri"/>
                <a:hlinkClick r:id="rId2"/>
              </a:rPr>
              <a:t>find</a:t>
            </a:r>
            <a:r>
              <a:rPr sz="2800" spc="30" dirty="0">
                <a:latin typeface="Calibri"/>
                <a:cs typeface="Calibri"/>
                <a:hlinkClick r:id="rId2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1</a:t>
            </a:r>
            <a:r>
              <a:rPr sz="2800" u="heavy" spc="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journal</a:t>
            </a:r>
            <a:r>
              <a:rPr sz="2800" u="heavy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article</a:t>
            </a:r>
            <a:r>
              <a:rPr sz="2800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800" spc="-10" dirty="0">
                <a:latin typeface="Calibri"/>
                <a:cs typeface="Calibri"/>
                <a:hlinkClick r:id="rId2"/>
              </a:rPr>
              <a:t>that</a:t>
            </a:r>
            <a:r>
              <a:rPr sz="2800" spc="5" dirty="0">
                <a:latin typeface="Calibri"/>
                <a:cs typeface="Calibri"/>
                <a:hlinkClick r:id="rId2"/>
              </a:rPr>
              <a:t> </a:t>
            </a:r>
            <a:r>
              <a:rPr sz="2800" spc="-20" dirty="0">
                <a:latin typeface="Calibri"/>
                <a:cs typeface="Calibri"/>
                <a:hlinkClick r:id="rId2"/>
              </a:rPr>
              <a:t>yo</a:t>
            </a:r>
            <a:r>
              <a:rPr sz="2800" spc="-20" dirty="0">
                <a:latin typeface="Calibri"/>
                <a:cs typeface="Calibri"/>
              </a:rPr>
              <a:t>u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will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your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assessment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email the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article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yourself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Harvard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format.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90343" y="6395402"/>
            <a:ext cx="15049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10" dirty="0">
                <a:latin typeface="Arial Narrow"/>
                <a:cs typeface="Arial Narrow"/>
              </a:rPr>
              <a:t>33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0259" y="668572"/>
            <a:ext cx="3065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 Narrow"/>
                <a:cs typeface="Arial Narrow"/>
              </a:rPr>
              <a:t>Need</a:t>
            </a:r>
            <a:r>
              <a:rPr sz="3600" b="1" spc="-55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more</a:t>
            </a:r>
            <a:r>
              <a:rPr sz="3600" b="1" spc="-30" dirty="0">
                <a:latin typeface="Arial Narrow"/>
                <a:cs typeface="Arial Narrow"/>
              </a:rPr>
              <a:t> </a:t>
            </a:r>
            <a:r>
              <a:rPr sz="3600" b="1" spc="-5" dirty="0">
                <a:latin typeface="Arial Narrow"/>
                <a:cs typeface="Arial Narrow"/>
              </a:rPr>
              <a:t>help?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251" y="1704872"/>
            <a:ext cx="5765800" cy="30975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5080" indent="-342900">
              <a:lnSpc>
                <a:spcPts val="3190"/>
              </a:lnSpc>
              <a:spcBef>
                <a:spcPts val="340"/>
              </a:spcBef>
              <a:buChar char="•"/>
              <a:tabLst>
                <a:tab pos="354965" algn="l"/>
                <a:tab pos="355600" algn="l"/>
                <a:tab pos="4827905" algn="l"/>
              </a:tabLst>
            </a:pPr>
            <a:r>
              <a:rPr sz="2800" spc="-5" dirty="0">
                <a:latin typeface="Arial Narrow"/>
                <a:cs typeface="Arial Narrow"/>
              </a:rPr>
              <a:t>U</a:t>
            </a:r>
            <a:r>
              <a:rPr sz="2800" dirty="0">
                <a:latin typeface="Arial Narrow"/>
                <a:cs typeface="Arial Narrow"/>
              </a:rPr>
              <a:t>s</a:t>
            </a:r>
            <a:r>
              <a:rPr sz="2800" spc="-5" dirty="0">
                <a:latin typeface="Arial Narrow"/>
                <a:cs typeface="Arial Narrow"/>
              </a:rPr>
              <a:t>e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5" dirty="0">
                <a:latin typeface="Arial Narrow"/>
                <a:cs typeface="Arial Narrow"/>
              </a:rPr>
              <a:t>A</a:t>
            </a:r>
            <a:r>
              <a:rPr sz="2800" dirty="0">
                <a:latin typeface="Arial Narrow"/>
                <a:cs typeface="Arial Narrow"/>
              </a:rPr>
              <a:t>s</a:t>
            </a:r>
            <a:r>
              <a:rPr sz="2800" spc="-5" dirty="0">
                <a:latin typeface="Arial Narrow"/>
                <a:cs typeface="Arial Narrow"/>
              </a:rPr>
              <a:t>k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</a:t>
            </a:r>
            <a:r>
              <a:rPr sz="2800" spc="-10" dirty="0">
                <a:latin typeface="Arial Narrow"/>
                <a:cs typeface="Arial Narrow"/>
              </a:rPr>
              <a:t> Lib</a:t>
            </a:r>
            <a:r>
              <a:rPr sz="2800" spc="-5" dirty="0">
                <a:latin typeface="Arial Narrow"/>
                <a:cs typeface="Arial Narrow"/>
              </a:rPr>
              <a:t>r</a:t>
            </a:r>
            <a:r>
              <a:rPr sz="2800" spc="-10" dirty="0">
                <a:latin typeface="Arial Narrow"/>
                <a:cs typeface="Arial Narrow"/>
              </a:rPr>
              <a:t>a</a:t>
            </a:r>
            <a:r>
              <a:rPr sz="2800" spc="-5" dirty="0">
                <a:latin typeface="Arial Narrow"/>
                <a:cs typeface="Arial Narrow"/>
              </a:rPr>
              <a:t>r</a:t>
            </a:r>
            <a:r>
              <a:rPr sz="2800" spc="-10" dirty="0">
                <a:latin typeface="Arial Narrow"/>
                <a:cs typeface="Arial Narrow"/>
              </a:rPr>
              <a:t>ia</a:t>
            </a:r>
            <a:r>
              <a:rPr sz="2800" spc="-5" dirty="0">
                <a:latin typeface="Arial Narrow"/>
                <a:cs typeface="Arial Narrow"/>
              </a:rPr>
              <a:t>n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OR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Li</a:t>
            </a:r>
            <a:r>
              <a:rPr sz="2800" dirty="0">
                <a:latin typeface="Arial Narrow"/>
                <a:cs typeface="Arial Narrow"/>
              </a:rPr>
              <a:t>v</a:t>
            </a:r>
            <a:r>
              <a:rPr sz="2800" spc="-5" dirty="0">
                <a:latin typeface="Arial Narrow"/>
                <a:cs typeface="Arial Narrow"/>
              </a:rPr>
              <a:t>e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dirty="0">
                <a:latin typeface="Arial Narrow"/>
                <a:cs typeface="Arial Narrow"/>
              </a:rPr>
              <a:t>c</a:t>
            </a:r>
            <a:r>
              <a:rPr sz="2800" spc="-10" dirty="0">
                <a:latin typeface="Arial Narrow"/>
                <a:cs typeface="Arial Narrow"/>
              </a:rPr>
              <a:t>ha</a:t>
            </a:r>
            <a:r>
              <a:rPr sz="2800" spc="-5" dirty="0">
                <a:latin typeface="Arial Narrow"/>
                <a:cs typeface="Arial Narrow"/>
              </a:rPr>
              <a:t>t</a:t>
            </a:r>
            <a:r>
              <a:rPr sz="2800" dirty="0">
                <a:latin typeface="Arial Narrow"/>
                <a:cs typeface="Arial Narrow"/>
              </a:rPr>
              <a:t>	s</a:t>
            </a:r>
            <a:r>
              <a:rPr sz="2800" spc="-10" dirty="0">
                <a:latin typeface="Arial Narrow"/>
                <a:cs typeface="Arial Narrow"/>
              </a:rPr>
              <a:t>e</a:t>
            </a:r>
            <a:r>
              <a:rPr sz="2800" dirty="0">
                <a:latin typeface="Arial Narrow"/>
                <a:cs typeface="Arial Narrow"/>
              </a:rPr>
              <a:t>rv</a:t>
            </a:r>
            <a:r>
              <a:rPr sz="2800" spc="-10" dirty="0">
                <a:latin typeface="Arial Narrow"/>
                <a:cs typeface="Arial Narrow"/>
              </a:rPr>
              <a:t>i</a:t>
            </a:r>
            <a:r>
              <a:rPr sz="2800" dirty="0">
                <a:latin typeface="Arial Narrow"/>
                <a:cs typeface="Arial Narrow"/>
              </a:rPr>
              <a:t>ce 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2"/>
              </a:rPr>
              <a:t>http://askalibrarian.vu.edu.au/</a:t>
            </a:r>
            <a:endParaRPr sz="2800" dirty="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Narrow"/>
              <a:buChar char="•"/>
            </a:pPr>
            <a:endParaRPr sz="3150" dirty="0">
              <a:latin typeface="Arial Narrow"/>
              <a:cs typeface="Arial Narrow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Narrow"/>
                <a:cs typeface="Arial Narrow"/>
              </a:rPr>
              <a:t>Ask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a</a:t>
            </a:r>
            <a:r>
              <a:rPr sz="2800" spc="-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library</a:t>
            </a:r>
            <a:r>
              <a:rPr sz="2800" spc="15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staff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member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if</a:t>
            </a:r>
            <a:r>
              <a:rPr sz="280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on</a:t>
            </a:r>
            <a:r>
              <a:rPr sz="2800" spc="5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campus</a:t>
            </a:r>
            <a:endParaRPr sz="2800" dirty="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Narrow"/>
              <a:buChar char="•"/>
            </a:pPr>
            <a:endParaRPr sz="3200" dirty="0">
              <a:latin typeface="Arial Narrow"/>
              <a:cs typeface="Arial Narrow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Narrow"/>
                <a:cs typeface="Arial Narrow"/>
              </a:rPr>
              <a:t>Go</a:t>
            </a:r>
            <a:r>
              <a:rPr sz="2800" spc="-20" dirty="0">
                <a:latin typeface="Arial Narrow"/>
                <a:cs typeface="Arial Narrow"/>
              </a:rPr>
              <a:t> </a:t>
            </a:r>
            <a:r>
              <a:rPr sz="2800" spc="-5" dirty="0">
                <a:latin typeface="Arial Narrow"/>
                <a:cs typeface="Arial Narrow"/>
              </a:rPr>
              <a:t>to the library</a:t>
            </a:r>
            <a:r>
              <a:rPr sz="2800" spc="10" dirty="0">
                <a:latin typeface="Arial Narrow"/>
                <a:cs typeface="Arial Narrow"/>
              </a:rPr>
              <a:t> </a:t>
            </a:r>
            <a:r>
              <a:rPr sz="2800" spc="-10" dirty="0">
                <a:latin typeface="Arial Narrow"/>
                <a:cs typeface="Arial Narrow"/>
              </a:rPr>
              <a:t>guide</a:t>
            </a:r>
            <a:endParaRPr sz="2800" dirty="0">
              <a:latin typeface="Arial Narrow"/>
              <a:cs typeface="Arial Narrow"/>
            </a:endParaRPr>
          </a:p>
          <a:p>
            <a:pPr marL="355600" indent="-343535">
              <a:lnSpc>
                <a:spcPct val="100000"/>
              </a:lnSpc>
              <a:spcBef>
                <a:spcPts val="1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  <a:hlinkClick r:id="rId3"/>
              </a:rPr>
              <a:t>http://libraryguides.vu.edu.au/NBD1100</a:t>
            </a:r>
            <a:endParaRPr sz="2800" dirty="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04659" y="5743955"/>
            <a:ext cx="1975103" cy="7589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1532" y="1717548"/>
            <a:ext cx="2741675" cy="2004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1162</Words>
  <Application>Microsoft Office PowerPoint</Application>
  <PresentationFormat>On-screen Show (4:3)</PresentationFormat>
  <Paragraphs>199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Arial Black</vt:lpstr>
      <vt:lpstr>Arial Narrow</vt:lpstr>
      <vt:lpstr>Calibri</vt:lpstr>
      <vt:lpstr>Wingdings</vt:lpstr>
      <vt:lpstr>Office Theme</vt:lpstr>
      <vt:lpstr>Library Research</vt:lpstr>
      <vt:lpstr>Structure of session</vt:lpstr>
      <vt:lpstr>Objectives</vt:lpstr>
      <vt:lpstr>Literature Search Process</vt:lpstr>
      <vt:lpstr>PowerPoint Presentation</vt:lpstr>
      <vt:lpstr>Assessment Tasks</vt:lpstr>
      <vt:lpstr>Sample assignment question</vt:lpstr>
      <vt:lpstr>Scoping your search terms</vt:lpstr>
      <vt:lpstr>Mechanics of searching key  terms</vt:lpstr>
      <vt:lpstr>Combining keywords</vt:lpstr>
      <vt:lpstr>Activity</vt:lpstr>
      <vt:lpstr>Which sources? References can  be drawn from:</vt:lpstr>
      <vt:lpstr>Places to look for literature?</vt:lpstr>
      <vt:lpstr>Library Search</vt:lpstr>
      <vt:lpstr>Library resources beyond VU</vt:lpstr>
      <vt:lpstr>Project Management Databases – via  databases A -Z</vt:lpstr>
      <vt:lpstr>Skills</vt:lpstr>
      <vt:lpstr>Online library guide</vt:lpstr>
      <vt:lpstr>Why reference?</vt:lpstr>
      <vt:lpstr>APA 7th referencing style</vt:lpstr>
      <vt:lpstr>Evaluating resources</vt:lpstr>
      <vt:lpstr>Evaluating criteria</vt:lpstr>
      <vt:lpstr>What is a journal and a peer reviewed article</vt:lpstr>
      <vt:lpstr>Journal subscriptions</vt:lpstr>
      <vt:lpstr>How to find journal articles</vt:lpstr>
      <vt:lpstr>Library Search - Refining search</vt:lpstr>
      <vt:lpstr>Business Source Complete</vt:lpstr>
      <vt:lpstr>Business Source Complete - refining a  journal article search</vt:lpstr>
      <vt:lpstr>Business Source Complete - refining search</vt:lpstr>
      <vt:lpstr>Activity</vt:lpstr>
      <vt:lpstr>Need more help?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AHE1106 Exercise Psychology Sem 1, 2017</dc:title>
  <dc:creator>Staff</dc:creator>
  <cp:lastModifiedBy>Shiran Geng</cp:lastModifiedBy>
  <cp:revision>4</cp:revision>
  <dcterms:created xsi:type="dcterms:W3CDTF">2021-06-03T21:36:07Z</dcterms:created>
  <dcterms:modified xsi:type="dcterms:W3CDTF">2024-05-29T07:40:48Z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2017-03-09T00:00:00Z</vt:filetime>
  </property>
  <property fmtid="{D5CDD505-2E9C-101B-9397-08002B2CF9AE}" pid="3" name="Creator">
    <vt:lpwstr>Acrobat PDFMaker 15 for PowerPoint</vt:lpwstr>
  </property>
  <property fmtid="{D5CDD505-2E9C-101B-9397-08002B2CF9AE}" pid="4" name="LastSaved">
    <vt:filetime>2021-06-03T00:00:00Z</vt:filetime>
  </property>
  <property fmtid="{D5CDD505-2E9C-101B-9397-08002B2CF9AE}" pid="5" name="MSIP_Label_d7dc88d9-fa17-47eb-a208-3e66f59d50e5_Enabled">
    <vt:lpwstr>true</vt:lpwstr>
  </property>
  <property fmtid="{D5CDD505-2E9C-101B-9397-08002B2CF9AE}" pid="6" name="MSIP_Label_d7dc88d9-fa17-47eb-a208-3e66f59d50e5_SetDate">
    <vt:lpwstr>2021-06-03T21:36:09Z</vt:lpwstr>
  </property>
  <property fmtid="{D5CDD505-2E9C-101B-9397-08002B2CF9AE}" pid="7" name="MSIP_Label_d7dc88d9-fa17-47eb-a208-3e66f59d50e5_Method">
    <vt:lpwstr>Standard</vt:lpwstr>
  </property>
  <property fmtid="{D5CDD505-2E9C-101B-9397-08002B2CF9AE}" pid="8" name="MSIP_Label_d7dc88d9-fa17-47eb-a208-3e66f59d50e5_Name">
    <vt:lpwstr>Internal</vt:lpwstr>
  </property>
  <property fmtid="{D5CDD505-2E9C-101B-9397-08002B2CF9AE}" pid="9" name="MSIP_Label_d7dc88d9-fa17-47eb-a208-3e66f59d50e5_SiteId">
    <vt:lpwstr>d51ba343-9258-4ea6-9907-426d8c84ec12</vt:lpwstr>
  </property>
  <property fmtid="{D5CDD505-2E9C-101B-9397-08002B2CF9AE}" pid="10" name="MSIP_Label_d7dc88d9-fa17-47eb-a208-3e66f59d50e5_ActionId">
    <vt:lpwstr>59e8597b-0175-40a3-909e-eb95623c042a</vt:lpwstr>
  </property>
  <property fmtid="{D5CDD505-2E9C-101B-9397-08002B2CF9AE}" pid="11" name="MSIP_Label_d7dc88d9-fa17-47eb-a208-3e66f59d50e5_ContentBits">
    <vt:lpwstr>0</vt:lpwstr>
  </property>
</Properties>
</file>