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7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35"/>
  </p:normalViewPr>
  <p:slideViewPr>
    <p:cSldViewPr>
      <p:cViewPr varScale="1">
        <p:scale>
          <a:sx n="40" d="100"/>
          <a:sy n="40" d="100"/>
        </p:scale>
        <p:origin x="4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AA87B-E52F-4839-9051-0A298C7CE3C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28B91-AAA4-4C6F-9037-6EFE50C59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5823EC4-E58C-4C5C-9C51-798389CFBBA7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D78E-A726-4CCB-9EF6-1688AA3147D9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6E84-CC8A-244E-95A0-206B2BDC6B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37848" y="6391656"/>
            <a:ext cx="3494314" cy="3337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857EC-A19D-4685-8A14-683981B597E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F4D84-5521-EF06-6F21-FF39CFD2A8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882480" y="6378213"/>
            <a:ext cx="138471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716FDB-D397-4AF7-BCC4-9C923BF7084B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C414-30D0-86AA-C3C7-AB85722C2C5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71800" y="6387128"/>
            <a:ext cx="1295401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62344-A08B-4AB3-9605-42A4E1DCD2A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86519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694D-0EA3-D3C7-ECF4-BBF1269CF6A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46060" y="6387128"/>
            <a:ext cx="134174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7ABEDB0-76AF-40FA-83E3-D1FF3CA76787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C8992BB-90F0-4112-9B1F-7693B76967FF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5CD02E-B256-4CA4-AF95-70EAECD1973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3234C-C11E-4F99-839F-DDBF973EDA5E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ED7DB9-4A3F-4419-9E62-BEE6269F2B42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2CC31D-7501-40A7-9D1B-8AC69C4CFF73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6D33-2E30-4992-8137-11560724F7D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95E-1551-48FC-9A26-E601B3621F25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399E77-A6C4-4634-BEB5-F2E41C1FB26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97B0-DC5B-4FF5-B0A0-4AA5F24C8A8B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CADA-DB19-4D46-9486-74E6A8DD8606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7D4C-A41A-46E4-A264-6AB2C3B5824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7737-B62B-4747-B5EC-0C681641A1B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472-7719-495F-AC33-7643C031D78E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41EAAC-21EB-46CA-8DB9-2B0A089D53E1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501F6A6B-DAC2-4111-A4C8-22F3732D2683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09BC7F-12AD-4F86-A854-86D7069C1AE2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B213CB-AAE3-4E21-BF78-8B6CE3ACF53D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23EEFEE-9AC6-4F3D-8AD6-7664F3264FF2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0D46859-DA44-43E6-A6F7-3287A2FCFBEE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2374FA73-46DD-4739-8F6B-C92A7FB868F4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17CA-5BAC-46BE-958D-7E86B431BD1E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BC7EDF-D84A-44BF-8099-C5B30B17E0B8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0B3BA815-7F94-47EE-A29D-765F9DE113B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AC0B17-CE81-470B-ADEC-2384A284EBB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F74BF2-2B97-4D0D-BEF8-F0D6AD41CDC3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06B30E-8248-4061-97A2-FF282AED1114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5948-BD0C-4C2E-B6A7-C4EDC256C76D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87EF-F5B2-456F-AF1B-A44D1A0701D7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617CAED-F971-4EAE-89B0-C866D948120E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F63D-EE89-4C35-A0BA-A767458691E5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697D-C012-4585-94E6-5E3B25EEDFC1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CC8B6B-4D14-404A-BE1B-1F4BD960669E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E5DE-F913-4C3A-BEDA-F802BAA076F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47CC27-8F74-4C20-9BA3-E77EDE6F6768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F64B-B8C5-4434-A0AE-8B21FAE1194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25546-9111-46F9-BEC4-CF8FB8392886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A70956-0D23-4C9E-9DCE-4DBE9483FB75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8579-83EA-4D3B-95AD-E89823FCABB6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DB77-2BFA-46B5-82B7-362C808A18E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3" y="214840"/>
            <a:ext cx="9966323" cy="4992427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6CF7-3E4D-43B7-B24E-535495E06F4A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645F99-D57D-401F-8ACA-E1AE94CE68D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79C4E-F74A-45C6-87ED-04BA286512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E9FA-CF9F-442A-848A-07ABC66A6457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88B7-2170-49B2-B455-C84FC6F30257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6CCD-C5F7-44F6-827B-9B8E203CF82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030F54-0399-4934-B868-E8FC64D9A954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172236-98CF-436D-B8AF-73607FC6BF53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7BC-DDFE-4D1C-BDD2-52C7FB3ECD39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5BC1D-3E76-4118-8920-6317D3436792}" type="datetime1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7D49-4414-4256-B79A-8D96ACFD381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382-D66A-40DB-8430-CAFED7B7C9C8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5BBA-60FA-4DAB-A831-863E6E8AF12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9CDC5685-46E5-4EB6-A0D2-BE941206E942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BF0-1BC4-4279-88D7-50351FF40623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4D2-9B2F-4359-916B-20A0B00A86CD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E944D186-B182-4225-9B0C-34FAE328E38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7132320" cy="48463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AU" sz="2800" b="1" dirty="0"/>
              <a:t>Search for one article related to the student’s essay topic and write one annotated bibliography.</a:t>
            </a:r>
          </a:p>
          <a:p>
            <a:pPr>
              <a:buFont typeface="Wingdings" panose="05000000000000000000" pitchFamily="2" charset="2"/>
              <a:buChar char="Ø"/>
            </a:pPr>
            <a:endParaRPr lang="en-AU" sz="2800" b="1" dirty="0"/>
          </a:p>
          <a:p>
            <a:pPr marL="0" indent="0">
              <a:buNone/>
            </a:pPr>
            <a:endParaRPr lang="en-AU" sz="2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AU" sz="2800" b="1" dirty="0"/>
              <a:t>Academic referencing (Endnote)</a:t>
            </a:r>
          </a:p>
          <a:p>
            <a:pPr marL="0" indent="0">
              <a:buNone/>
            </a:pP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AU" sz="2800" b="1" dirty="0"/>
              <a:t> 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36512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0" y="914399"/>
            <a:ext cx="713232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800" dirty="0"/>
              <a:t>Discuss of group theme and research range of local/ national/ global stock buildings with different cultural and design backgrounds for the essay case study.</a:t>
            </a:r>
          </a:p>
          <a:p>
            <a:pPr marL="55563" indent="0">
              <a:buNone/>
            </a:pPr>
            <a:endParaRPr lang="en-AU" sz="2800" dirty="0"/>
          </a:p>
          <a:p>
            <a:pPr marL="398463" indent="-342900">
              <a:buFont typeface="Wingdings" panose="05000000000000000000" pitchFamily="2" charset="2"/>
              <a:buChar char="Ø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22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6491-6B63-43FA-C599-BBAE7B9C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73F9085-AA1A-165A-7852-9049B714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371600"/>
            <a:ext cx="4846319" cy="4846319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78DE85-FBD8-E947-0DE4-D31FB3D7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066800"/>
            <a:ext cx="6934200" cy="617220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r>
              <a:rPr lang="en-AU" sz="2800" b="1" dirty="0"/>
              <a:t>Compare Description Writing with Academic Writing</a:t>
            </a:r>
          </a:p>
          <a:p>
            <a:pPr marL="55563" indent="0">
              <a:buNone/>
            </a:pPr>
            <a:r>
              <a:rPr lang="en-AU" sz="2800" b="1" dirty="0"/>
              <a:t>                   </a:t>
            </a:r>
            <a:r>
              <a:rPr lang="en-AU" sz="2800" b="1" dirty="0">
                <a:solidFill>
                  <a:srgbClr val="FF0000"/>
                </a:solidFill>
              </a:rPr>
              <a:t>What Changed?</a:t>
            </a:r>
          </a:p>
          <a:p>
            <a:pPr marL="55563" indent="0">
              <a:buNone/>
            </a:pPr>
            <a:endParaRPr lang="en-AU" sz="2800" b="1" dirty="0"/>
          </a:p>
          <a:p>
            <a:pPr marL="55563" indent="0">
              <a:buNone/>
            </a:pPr>
            <a:r>
              <a:rPr lang="en-AU" sz="1800" dirty="0">
                <a:solidFill>
                  <a:schemeClr val="accent4">
                    <a:lumMod val="75000"/>
                  </a:schemeClr>
                </a:solidFill>
              </a:rPr>
              <a:t>For Example:</a:t>
            </a:r>
          </a:p>
          <a:p>
            <a:pPr marL="55563" indent="0">
              <a:buNone/>
            </a:pPr>
            <a:r>
              <a:rPr lang="en-AU" sz="1800" b="1" dirty="0">
                <a:solidFill>
                  <a:schemeClr val="accent4">
                    <a:lumMod val="75000"/>
                  </a:schemeClr>
                </a:solidFill>
              </a:rPr>
              <a:t>Description Writing :</a:t>
            </a:r>
          </a:p>
          <a:p>
            <a:pPr marL="55563" indent="0">
              <a:buNone/>
            </a:pPr>
            <a:r>
              <a:rPr lang="en-AU" sz="1800" dirty="0">
                <a:solidFill>
                  <a:schemeClr val="accent4">
                    <a:lumMod val="75000"/>
                  </a:schemeClr>
                </a:solidFill>
              </a:rPr>
              <a:t>North-facing windows can admit winter sunlight.”</a:t>
            </a:r>
            <a:br>
              <a:rPr lang="en-AU" sz="18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AU" sz="1800" b="1" dirty="0">
                <a:solidFill>
                  <a:schemeClr val="accent4">
                    <a:lumMod val="75000"/>
                  </a:schemeClr>
                </a:solidFill>
              </a:rPr>
              <a:t>Critical writing :</a:t>
            </a:r>
            <a:r>
              <a:rPr lang="en-AU" sz="180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marL="55563" indent="0">
              <a:buNone/>
            </a:pPr>
            <a:r>
              <a:rPr lang="en-AU" sz="1800" dirty="0">
                <a:solidFill>
                  <a:schemeClr val="accent4">
                    <a:lumMod val="75000"/>
                  </a:schemeClr>
                </a:solidFill>
              </a:rPr>
              <a:t>North-facing glazing may reduce winter heating demand in Melbourne, but the benefit depends on shading, glazing performance and the building’s overall design.</a:t>
            </a:r>
            <a:endParaRPr lang="en-AU" sz="18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55563" indent="0">
              <a:buNone/>
            </a:pPr>
            <a:r>
              <a:rPr lang="en-AU" sz="2800" dirty="0"/>
              <a:t> </a:t>
            </a:r>
          </a:p>
          <a:p>
            <a:pPr marL="55563" indent="0">
              <a:buNone/>
            </a:pPr>
            <a:endParaRPr lang="en-AU" sz="2800" dirty="0"/>
          </a:p>
          <a:p>
            <a:pPr marL="398463" indent="-342900">
              <a:buFont typeface="Wingdings" panose="05000000000000000000" pitchFamily="2" charset="2"/>
              <a:buChar char="Ø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463" indent="-342900">
              <a:buFont typeface="Wingdings" panose="05000000000000000000" pitchFamily="2" charset="2"/>
              <a:buChar char="Ø"/>
            </a:pPr>
            <a:endParaRPr lang="en-AU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14604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 1_74809995-9e66-46d0-afc4-980286e0ea62_win32 v2" id="{D14C1B8C-1E01-4970-914C-FBE6C81B2B2F}" vid="{E904FACB-7F70-4943-BE93-3732097E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9C16DF-FD5D-45EB-A5D0-4ED61432363F}">
  <ds:schemaRefs>
    <ds:schemaRef ds:uri="http://schemas.microsoft.com/office/2006/documentManagement/types"/>
    <ds:schemaRef ds:uri="http://www.w3.org/XML/1998/namespace"/>
    <ds:schemaRef ds:uri="http://schemas.microsoft.com/sharepoint/v3"/>
    <ds:schemaRef ds:uri="230e9df3-be65-4c73-a93b-d1236ebd677e"/>
    <ds:schemaRef ds:uri="4f03c07c-4386-4244-9dd2-b6296b229822"/>
    <ds:schemaRef ds:uri="http://purl.org/dc/dcmitype/"/>
    <ds:schemaRef ds:uri="http://schemas.microsoft.com/office/infopath/2007/PartnerControls"/>
    <ds:schemaRef ds:uri="http://purl.org/dc/terms/"/>
    <ds:schemaRef ds:uri="59b65cf5-04c8-4211-865f-0d1019a3550b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470EB2F-9F98-4954-9465-3220BC32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{DD7C0513-73FC-471D-A1A6-A28931E39A57}74b27fa7-47d9-4b2b-80c4-7bceb511e5ed-TF74809995-9e66-46d0-afc4-980286e0ea6218f13f8d_win32</Template>
  <TotalTime>111</TotalTime>
  <Words>108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Neue Haas Grotesk Text Pro</vt:lpstr>
      <vt:lpstr>Wingdings</vt:lpstr>
      <vt:lpstr>Dune</vt:lpstr>
      <vt:lpstr>Individual Activity </vt:lpstr>
      <vt:lpstr>Group Activity </vt:lpstr>
      <vt:lpstr>Individual Activity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Activity</dc:title>
  <dc:creator>Mina Ranjbaran</dc:creator>
  <cp:lastModifiedBy>Mina Ranjbaran</cp:lastModifiedBy>
  <cp:revision>15</cp:revision>
  <dcterms:created xsi:type="dcterms:W3CDTF">2026-09-28T00:05:01Z</dcterms:created>
  <dcterms:modified xsi:type="dcterms:W3CDTF">2026-09-29T19:13:45Z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7dc88d9-fa17-47eb-a208-3e66f59d50e5_Enabled">
    <vt:lpwstr>true</vt:lpwstr>
  </property>
  <property fmtid="{D5CDD505-2E9C-101B-9397-08002B2CF9AE}" pid="5" name="MSIP_Label_d7dc88d9-fa17-47eb-a208-3e66f59d50e5_SetDate">
    <vt:lpwstr>2026-09-28T00:05:01Z</vt:lpwstr>
  </property>
  <property fmtid="{D5CDD505-2E9C-101B-9397-08002B2CF9AE}" pid="6" name="MSIP_Label_d7dc88d9-fa17-47eb-a208-3e66f59d50e5_Method">
    <vt:lpwstr>Standard</vt:lpwstr>
  </property>
  <property fmtid="{D5CDD505-2E9C-101B-9397-08002B2CF9AE}" pid="7" name="MSIP_Label_d7dc88d9-fa17-47eb-a208-3e66f59d50e5_Name">
    <vt:lpwstr>Internal</vt:lpwstr>
  </property>
  <property fmtid="{D5CDD505-2E9C-101B-9397-08002B2CF9AE}" pid="8" name="MSIP_Label_d7dc88d9-fa17-47eb-a208-3e66f59d50e5_SiteId">
    <vt:lpwstr>d51ba343-9258-4ea6-9907-426d8c84ec12</vt:lpwstr>
  </property>
  <property fmtid="{D5CDD505-2E9C-101B-9397-08002B2CF9AE}" pid="9" name="MSIP_Label_d7dc88d9-fa17-47eb-a208-3e66f59d50e5_ActionId">
    <vt:lpwstr>31b5f632-2cfe-4999-a8b5-3283991bd1bc</vt:lpwstr>
  </property>
  <property fmtid="{D5CDD505-2E9C-101B-9397-08002B2CF9AE}" pid="10" name="MSIP_Label_d7dc88d9-fa17-47eb-a208-3e66f59d50e5_ContentBits">
    <vt:lpwstr>0</vt:lpwstr>
  </property>
</Properties>
</file>