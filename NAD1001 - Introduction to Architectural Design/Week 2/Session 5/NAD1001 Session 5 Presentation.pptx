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media/image28.jpg" ContentType="image/pn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2"/>
  </p:notesMasterIdLst>
  <p:sldIdLst>
    <p:sldId id="257" r:id="rId5"/>
    <p:sldId id="329" r:id="rId6"/>
    <p:sldId id="330" r:id="rId7"/>
    <p:sldId id="258" r:id="rId8"/>
    <p:sldId id="259" r:id="rId9"/>
    <p:sldId id="270" r:id="rId10"/>
    <p:sldId id="260" r:id="rId11"/>
    <p:sldId id="261" r:id="rId12"/>
    <p:sldId id="262" r:id="rId13"/>
    <p:sldId id="263" r:id="rId14"/>
    <p:sldId id="264" r:id="rId15"/>
    <p:sldId id="265" r:id="rId16"/>
    <p:sldId id="266" r:id="rId17"/>
    <p:sldId id="267" r:id="rId18"/>
    <p:sldId id="268" r:id="rId19"/>
    <p:sldId id="269" r:id="rId20"/>
    <p:sldId id="283" r:id="rId21"/>
    <p:sldId id="331" r:id="rId22"/>
    <p:sldId id="332" r:id="rId23"/>
    <p:sldId id="333" r:id="rId24"/>
    <p:sldId id="334" r:id="rId25"/>
    <p:sldId id="335" r:id="rId26"/>
    <p:sldId id="336" r:id="rId27"/>
    <p:sldId id="337" r:id="rId28"/>
    <p:sldId id="338" r:id="rId29"/>
    <p:sldId id="339" r:id="rId30"/>
    <p:sldId id="340" r:id="rId31"/>
    <p:sldId id="341" r:id="rId32"/>
    <p:sldId id="342" r:id="rId33"/>
    <p:sldId id="343" r:id="rId34"/>
    <p:sldId id="271" r:id="rId35"/>
    <p:sldId id="344" r:id="rId36"/>
    <p:sldId id="273" r:id="rId37"/>
    <p:sldId id="274" r:id="rId38"/>
    <p:sldId id="345" r:id="rId39"/>
    <p:sldId id="272" r:id="rId40"/>
    <p:sldId id="318" r:id="rId41"/>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9AD2"/>
    <a:srgbClr val="ED6B5E"/>
    <a:srgbClr val="0C71AC"/>
    <a:srgbClr val="5BC2E7"/>
    <a:srgbClr val="D9D9D9"/>
    <a:srgbClr val="B8B1E5"/>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10"/>
    <p:restoredTop sz="96327"/>
  </p:normalViewPr>
  <p:slideViewPr>
    <p:cSldViewPr snapToGrid="0" snapToObjects="1">
      <p:cViewPr varScale="1">
        <p:scale>
          <a:sx n="165" d="100"/>
          <a:sy n="165" d="100"/>
        </p:scale>
        <p:origin x="34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C2B7137-6CE1-F74D-80B1-E1939CF18C0B}" type="datetimeFigureOut">
              <a:rPr lang="en-US" smtClean="0"/>
              <a:pPr/>
              <a:t>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448FA329-FEDE-3F45-9805-68CDC9FBB0EA}" type="slidenum">
              <a:rPr lang="en-US" smtClean="0"/>
              <a:pPr/>
              <a:t>‹#›</a:t>
            </a:fld>
            <a:endParaRPr lang="en-US" dirty="0"/>
          </a:p>
        </p:txBody>
      </p:sp>
    </p:spTree>
    <p:extLst>
      <p:ext uri="{BB962C8B-B14F-4D97-AF65-F5344CB8AC3E}">
        <p14:creationId xmlns:p14="http://schemas.microsoft.com/office/powerpoint/2010/main" val="377891344"/>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CECEC"/>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5D83670-F2E4-4145-A4CC-4F7098D5447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pic>
        <p:nvPicPr>
          <p:cNvPr id="7" name="Picture 6">
            <a:extLst>
              <a:ext uri="{FF2B5EF4-FFF2-40B4-BE49-F238E27FC236}">
                <a16:creationId xmlns:a16="http://schemas.microsoft.com/office/drawing/2014/main" id="{7AA79F56-8623-DA4F-9154-E92CAF0C59E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591369" y="3801838"/>
            <a:ext cx="8058151" cy="976841"/>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sp>
        <p:nvSpPr>
          <p:cNvPr id="8" name="TextBox 7">
            <a:extLst>
              <a:ext uri="{FF2B5EF4-FFF2-40B4-BE49-F238E27FC236}">
                <a16:creationId xmlns:a16="http://schemas.microsoft.com/office/drawing/2014/main" id="{EE004D8A-8ABC-6449-97E3-3B37B30C175B}"/>
              </a:ext>
            </a:extLst>
          </p:cNvPr>
          <p:cNvSpPr txBox="1"/>
          <p:nvPr userDrawn="1"/>
        </p:nvSpPr>
        <p:spPr>
          <a:xfrm>
            <a:off x="591367" y="6698538"/>
            <a:ext cx="9647031" cy="159462"/>
          </a:xfrm>
          <a:prstGeom prst="rect">
            <a:avLst/>
          </a:prstGeom>
          <a:noFill/>
        </p:spPr>
        <p:txBody>
          <a:bodyPr wrap="square" lIns="0" tIns="0" rIns="0" bIns="36000" rtlCol="0">
            <a:spAutoFit/>
          </a:bodyPr>
          <a:lstStyle/>
          <a:p>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086613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59C34E-6C23-7664-A6FF-A520EB5C657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sp>
        <p:nvSpPr>
          <p:cNvPr id="12" name="TextBox 11">
            <a:extLst>
              <a:ext uri="{FF2B5EF4-FFF2-40B4-BE49-F238E27FC236}">
                <a16:creationId xmlns:a16="http://schemas.microsoft.com/office/drawing/2014/main" id="{53DAAF4F-61F9-ED0A-B599-3C8C7999092B}"/>
              </a:ext>
            </a:extLst>
          </p:cNvPr>
          <p:cNvSpPr txBox="1"/>
          <p:nvPr userDrawn="1"/>
        </p:nvSpPr>
        <p:spPr>
          <a:xfrm>
            <a:off x="591367" y="6707373"/>
            <a:ext cx="9647031" cy="159462"/>
          </a:xfrm>
          <a:prstGeom prst="rect">
            <a:avLst/>
          </a:prstGeom>
          <a:noFill/>
        </p:spPr>
        <p:txBody>
          <a:bodyPr wrap="square" lIns="0" tIns="0" rIns="0" bIns="36000" rtlCol="0">
            <a:noAutofit/>
          </a:bodyPr>
          <a:lstStyle/>
          <a:p>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15" name="Title 1">
            <a:extLst>
              <a:ext uri="{FF2B5EF4-FFF2-40B4-BE49-F238E27FC236}">
                <a16:creationId xmlns:a16="http://schemas.microsoft.com/office/drawing/2014/main" id="{BA676A7E-1F92-F5DD-19AD-F9338B409BC7}"/>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6" name="Subtitle 2">
            <a:extLst>
              <a:ext uri="{FF2B5EF4-FFF2-40B4-BE49-F238E27FC236}">
                <a16:creationId xmlns:a16="http://schemas.microsoft.com/office/drawing/2014/main" id="{12A66ADF-A69C-D692-4EBD-51E0ED52029B}"/>
              </a:ext>
            </a:extLst>
          </p:cNvPr>
          <p:cNvSpPr>
            <a:spLocks noGrp="1"/>
          </p:cNvSpPr>
          <p:nvPr>
            <p:ph type="subTitle" idx="1" hasCustomPrompt="1"/>
          </p:nvPr>
        </p:nvSpPr>
        <p:spPr>
          <a:xfrm>
            <a:off x="591369" y="3801838"/>
            <a:ext cx="8058151" cy="1095839"/>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2" name="Picture 1">
            <a:extLst>
              <a:ext uri="{FF2B5EF4-FFF2-40B4-BE49-F238E27FC236}">
                <a16:creationId xmlns:a16="http://schemas.microsoft.com/office/drawing/2014/main" id="{647D9C09-20BA-30E8-179F-D5B69628E42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3407642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tx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641471" y="1967790"/>
            <a:ext cx="6859152" cy="1697037"/>
          </a:xfrm>
        </p:spPr>
        <p:txBody>
          <a:bodyPr lIns="36000" tIns="36000" rIns="36000" bIns="36000" anchor="t" anchorCtr="0">
            <a:noAutofit/>
          </a:bodyPr>
          <a:lstStyle>
            <a:lvl1pPr algn="l">
              <a:defRPr sz="4800" cap="none" baseline="0">
                <a:solidFill>
                  <a:schemeClr val="bg1"/>
                </a:solidFill>
              </a:defRPr>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641473" y="3801839"/>
            <a:ext cx="8058151" cy="1082332"/>
          </a:xfrm>
        </p:spPr>
        <p:txBody>
          <a:bodyPr lIns="36000" tIns="36000" rIns="36000" bIns="36000">
            <a:noAutofit/>
          </a:bodyPr>
          <a:lstStyle>
            <a:lvl1pPr marL="0" indent="0" algn="l">
              <a:buNone/>
              <a:defRPr sz="2400" b="0">
                <a:solidFill>
                  <a:schemeClr val="bg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8" name="Picture 7">
            <a:extLst>
              <a:ext uri="{FF2B5EF4-FFF2-40B4-BE49-F238E27FC236}">
                <a16:creationId xmlns:a16="http://schemas.microsoft.com/office/drawing/2014/main" id="{333FBAC8-8DF8-934F-9301-1D7309E5B3D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211525"/>
            <a:ext cx="3097618" cy="1425798"/>
          </a:xfrm>
          <a:prstGeom prst="rect">
            <a:avLst/>
          </a:prstGeom>
        </p:spPr>
      </p:pic>
      <p:sp>
        <p:nvSpPr>
          <p:cNvPr id="12" name="TextBox 11">
            <a:extLst>
              <a:ext uri="{FF2B5EF4-FFF2-40B4-BE49-F238E27FC236}">
                <a16:creationId xmlns:a16="http://schemas.microsoft.com/office/drawing/2014/main" id="{FF2F004A-3E42-FC3E-2E5A-51F2E5F58ADE}"/>
              </a:ext>
            </a:extLst>
          </p:cNvPr>
          <p:cNvSpPr txBox="1"/>
          <p:nvPr userDrawn="1"/>
        </p:nvSpPr>
        <p:spPr>
          <a:xfrm>
            <a:off x="560631" y="6693585"/>
            <a:ext cx="9647031" cy="164415"/>
          </a:xfrm>
          <a:prstGeom prst="rect">
            <a:avLst/>
          </a:prstGeom>
          <a:noFill/>
        </p:spPr>
        <p:txBody>
          <a:bodyPr wrap="square" lIns="0" tIns="0" rIns="0" bIns="36000" rtlCol="0">
            <a:noAutofit/>
          </a:bodyPr>
          <a:lstStyle/>
          <a:p>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2" name="Picture 1">
            <a:extLst>
              <a:ext uri="{FF2B5EF4-FFF2-40B4-BE49-F238E27FC236}">
                <a16:creationId xmlns:a16="http://schemas.microsoft.com/office/drawing/2014/main" id="{AFBE7F60-820F-BC4C-04A4-CBDFC816439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420715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652077" cy="1552541"/>
          </a:xfrm>
          <a:prstGeom prst="rect">
            <a:avLst/>
          </a:prstGeom>
        </p:spPr>
        <p:txBody>
          <a:bodyPr wrap="square"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Victoria University acknowledges, recognises and respects the Ancestors, Elders and families of the Bunurong/Boonwurrung, Wadawurrung and Wurundjeri/Woiwurrung of the Kulin who are the traditional owners of University land in Victoria, the Gadigal and Guring-gai of the Eora Nation who are the traditional owners of University land in Sydney, and the </a:t>
            </a:r>
            <a:r>
              <a:rPr kumimoji="0" lang="en-A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Yugara</a:t>
            </a: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/YUgarapul people and Turrbal people living in Meanjin (Brisbane).</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930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Melbourne</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768127" cy="2584234"/>
          </a:xfrm>
          <a:prstGeom prst="rect">
            <a:avLst/>
          </a:prstGeom>
        </p:spPr>
        <p:txBody>
          <a:bodyPr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Kulin Nation who are the Traditional Owners of University land. We also acknowledge all Traditional Owners of Country throughout Victoria and pay our respect to their culture, and their Elders past, present and future</a:t>
            </a:r>
            <a:r>
              <a:rPr lang="en-AU" sz="1800" b="0" dirty="0">
                <a:solidFill>
                  <a:prstClr val="black"/>
                </a:solidFill>
              </a:rPr>
              <a:t>.</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Kulin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1990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38671"/>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Eora Nation who are the Traditional Owners of University land. We also acknowledge all Traditional Owners of Country throughout NSW and pay our respect to their culture, and their Elders past, present and future.</a:t>
            </a:r>
          </a:p>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Eora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pic>
        <p:nvPicPr>
          <p:cNvPr id="16" name="Picture 15">
            <a:extLst>
              <a:ext uri="{FF2B5EF4-FFF2-40B4-BE49-F238E27FC236}">
                <a16:creationId xmlns:a16="http://schemas.microsoft.com/office/drawing/2014/main" id="{57D03C71-71EB-324E-A605-96C89CD8C4B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2621" y="6231470"/>
            <a:ext cx="3095795" cy="626530"/>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Sydney</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1138583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47463"/>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Yulara/YUgarapul and Turrbal Nation who are the Traditional Owners of University land. We also acknowledge all Traditional Owners of Country throughout Queensland and pay our respect to their culture, and their Elders past, present and future.</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Yulara/YUgarapul and Turrbal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Brisbane</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6" name="Picture 5">
            <a:extLst>
              <a:ext uri="{FF2B5EF4-FFF2-40B4-BE49-F238E27FC236}">
                <a16:creationId xmlns:a16="http://schemas.microsoft.com/office/drawing/2014/main" id="{61AA56A9-5942-BD94-2BA8-BF441E3AFAF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32494" y="6234007"/>
            <a:ext cx="3204595" cy="643467"/>
          </a:xfrm>
          <a:prstGeom prst="rect">
            <a:avLst/>
          </a:prstGeom>
        </p:spPr>
      </p:pic>
    </p:spTree>
    <p:extLst>
      <p:ext uri="{BB962C8B-B14F-4D97-AF65-F5344CB8AC3E}">
        <p14:creationId xmlns:p14="http://schemas.microsoft.com/office/powerpoint/2010/main" val="254381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5" name="Picture 14">
            <a:extLst>
              <a:ext uri="{FF2B5EF4-FFF2-40B4-BE49-F238E27FC236}">
                <a16:creationId xmlns:a16="http://schemas.microsoft.com/office/drawing/2014/main" id="{F44F8D07-75C1-D94C-B157-919A7496B41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8DD6CA7B-5747-1D76-6CE1-4BC5818EBA5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B3DF3D85-AD9F-C7FC-A1EC-D47BF2676F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2330C086-7229-C924-60FF-D50B532A3D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3F23D11F-75ED-ED34-D148-922A0989343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6847189C-4201-4056-D1B3-0984E848FD06}"/>
              </a:ext>
            </a:extLst>
          </p:cNvPr>
          <p:cNvSpPr>
            <a:spLocks noGrp="1"/>
          </p:cNvSpPr>
          <p:nvPr>
            <p:ph sz="half" idx="1" hasCustomPrompt="1"/>
          </p:nvPr>
        </p:nvSpPr>
        <p:spPr>
          <a:xfrm>
            <a:off x="399738" y="1503307"/>
            <a:ext cx="8019098" cy="1846659"/>
          </a:xfrm>
        </p:spPr>
        <p:txBody>
          <a:bodyPr wrap="square" lIns="0" tIns="0" rIns="0" bIns="0">
            <a:spAutoFit/>
          </a:bodyPr>
          <a:lstStyle>
            <a:lvl1pPr>
              <a:buClr>
                <a:schemeClr val="bg1"/>
              </a:buClr>
              <a:defRPr/>
            </a:lvl1pPr>
            <a:lvl2pPr>
              <a:buClr>
                <a:schemeClr val="bg1"/>
              </a:buClr>
              <a:defRPr/>
            </a:lvl2pPr>
            <a:lvl3pPr>
              <a:buClr>
                <a:schemeClr val="bg1"/>
              </a:buClr>
              <a:defRPr/>
            </a:lvl3pPr>
            <a:lvl4pPr>
              <a:buClr>
                <a:schemeClr val="bg1"/>
              </a:buClr>
              <a:defRPr/>
            </a:lvl4pPr>
            <a:lvl5pPr>
              <a:buClr>
                <a:schemeClr val="bg1"/>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itle Placeholder 1">
            <a:extLst>
              <a:ext uri="{FF2B5EF4-FFF2-40B4-BE49-F238E27FC236}">
                <a16:creationId xmlns:a16="http://schemas.microsoft.com/office/drawing/2014/main" id="{92C6084F-4814-B589-289A-A1DF9EDA27F7}"/>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2" name="Picture 1" descr="A picture containing pattern, symmetry, black, darkness&#10;&#10;Description automatically generated">
            <a:extLst>
              <a:ext uri="{FF2B5EF4-FFF2-40B4-BE49-F238E27FC236}">
                <a16:creationId xmlns:a16="http://schemas.microsoft.com/office/drawing/2014/main" id="{461E62F1-B92D-012C-3731-A9C3B7DD9E8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Tree>
    <p:extLst>
      <p:ext uri="{BB962C8B-B14F-4D97-AF65-F5344CB8AC3E}">
        <p14:creationId xmlns:p14="http://schemas.microsoft.com/office/powerpoint/2010/main" val="27649264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3" y="3"/>
            <a:ext cx="12192000" cy="6296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5400000">
            <a:off x="7150201" y="1189801"/>
            <a:ext cx="6231600" cy="3852000"/>
          </a:xfrm>
          <a:prstGeom prst="rect">
            <a:avLst/>
          </a:prstGeom>
        </p:spPr>
      </p:pic>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21" name="Picture 20">
            <a:extLst>
              <a:ext uri="{FF2B5EF4-FFF2-40B4-BE49-F238E27FC236}">
                <a16:creationId xmlns:a16="http://schemas.microsoft.com/office/drawing/2014/main" id="{B0523545-3227-E344-8808-B6DBDFF8FFC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043FA94E-A12A-1690-D93B-690C8944ECF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EC1FDB05-9DA2-6468-7F29-063F6EBF524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77C4FCF8-47CC-0EA3-8FF5-37B68069D8A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C188AFE5-FC84-C69B-2DB3-DF363E231931}"/>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lvl1pPr>
            <a:lvl2pPr marL="575972" indent="-287986">
              <a:buClr>
                <a:schemeClr val="accent1"/>
              </a:buClr>
              <a:buFont typeface=".Lucida Grande UI Regular"/>
              <a:buChar char="◆"/>
              <a:defRPr/>
            </a:lvl2pPr>
            <a:lvl3pPr marL="863957" indent="-287986">
              <a:buClr>
                <a:schemeClr val="accent1"/>
              </a:buClr>
              <a:buFont typeface=".Lucida Grande UI Regular"/>
              <a:buChar char="◆"/>
              <a:defRPr/>
            </a:lvl3pPr>
            <a:lvl4pPr marL="1151942" indent="-287986">
              <a:buClr>
                <a:schemeClr val="accent1"/>
              </a:buClr>
              <a:buFont typeface=".Lucida Grande UI Regular"/>
              <a:buChar char="◆"/>
              <a:defRPr/>
            </a:lvl4pPr>
            <a:lvl5pPr marL="1439928" indent="-287986">
              <a:buClr>
                <a:schemeClr val="accent1"/>
              </a:buClr>
              <a:buFont typeface=".Lucida Grande UI Regular"/>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itle Placeholder 1">
            <a:extLst>
              <a:ext uri="{FF2B5EF4-FFF2-40B4-BE49-F238E27FC236}">
                <a16:creationId xmlns:a16="http://schemas.microsoft.com/office/drawing/2014/main" id="{87E69F8A-40C2-95D8-6C78-2805150E05B5}"/>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C1E954CD-73EF-F046-EC10-62CA0E515E6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89C82B84-00EE-0914-CA5E-9D26D54E1F2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60558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3" name="Picture 12">
            <a:extLst>
              <a:ext uri="{FF2B5EF4-FFF2-40B4-BE49-F238E27FC236}">
                <a16:creationId xmlns:a16="http://schemas.microsoft.com/office/drawing/2014/main" id="{648DAA79-5972-9941-8B04-9BF74EBDBD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7377D2E-6CCF-9089-33FD-811A6A9F95EB}"/>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0994AC71-BF86-0E9E-548C-85F0AB3A1C9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B98D3903-AEC4-13D2-283D-4805D7246F2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Content Placeholder 2">
            <a:extLst>
              <a:ext uri="{FF2B5EF4-FFF2-40B4-BE49-F238E27FC236}">
                <a16:creationId xmlns:a16="http://schemas.microsoft.com/office/drawing/2014/main" id="{2095D537-8F4D-C169-F01F-5278C969AACD}"/>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solidFill>
                  <a:schemeClr val="bg1"/>
                </a:solidFill>
              </a:defRPr>
            </a:lvl1pPr>
            <a:lvl2pPr marL="575972" indent="-287986">
              <a:buClr>
                <a:schemeClr val="accent1"/>
              </a:buClr>
              <a:buFont typeface=".Lucida Grande UI Regular"/>
              <a:buChar char="◆"/>
              <a:defRPr>
                <a:solidFill>
                  <a:schemeClr val="bg1"/>
                </a:solidFill>
              </a:defRPr>
            </a:lvl2pPr>
            <a:lvl3pPr marL="863957" indent="-287986">
              <a:buClr>
                <a:schemeClr val="accent1"/>
              </a:buClr>
              <a:buFont typeface=".Lucida Grande UI Regular"/>
              <a:buChar char="◆"/>
              <a:defRPr>
                <a:solidFill>
                  <a:schemeClr val="bg1"/>
                </a:solidFill>
              </a:defRPr>
            </a:lvl3pPr>
            <a:lvl4pPr marL="1151942" indent="-287986">
              <a:buClr>
                <a:schemeClr val="accent1"/>
              </a:buClr>
              <a:buFont typeface=".Lucida Grande UI Regular"/>
              <a:buChar char="◆"/>
              <a:defRPr>
                <a:solidFill>
                  <a:schemeClr val="bg1"/>
                </a:solidFill>
              </a:defRPr>
            </a:lvl4pPr>
            <a:lvl5pPr marL="1439928" indent="-287986">
              <a:buClr>
                <a:schemeClr val="accent1"/>
              </a:buClr>
              <a:buFont typeface=".Lucida Grande UI Regular"/>
              <a:buChar cha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itle Placeholder 1">
            <a:extLst>
              <a:ext uri="{FF2B5EF4-FFF2-40B4-BE49-F238E27FC236}">
                <a16:creationId xmlns:a16="http://schemas.microsoft.com/office/drawing/2014/main" id="{49659056-15A5-782B-90B5-388BDE47CCDB}"/>
              </a:ext>
            </a:extLst>
          </p:cNvPr>
          <p:cNvSpPr>
            <a:spLocks noGrp="1"/>
          </p:cNvSpPr>
          <p:nvPr>
            <p:ph type="title"/>
          </p:nvPr>
        </p:nvSpPr>
        <p:spPr>
          <a:xfrm>
            <a:off x="399737" y="343837"/>
            <a:ext cx="11365319" cy="443198"/>
          </a:xfrm>
          <a:prstGeom prst="rect">
            <a:avLst/>
          </a:prstGeom>
        </p:spPr>
        <p:txBody>
          <a:bodyPr vert="horz" wrap="square" lIns="0" tIns="0" rIns="0" bIns="0" rtlCol="0" anchor="t" anchorCtr="0">
            <a:spAutoFit/>
          </a:bodyPr>
          <a:lstStyle>
            <a:lvl1pPr>
              <a:defRPr>
                <a:solidFill>
                  <a:schemeClr val="bg1"/>
                </a:solidFill>
              </a:defRPr>
            </a:lvl1pPr>
          </a:lstStyle>
          <a:p>
            <a:r>
              <a:rPr lang="en-US"/>
              <a:t>Click to edit Master title style</a:t>
            </a:r>
            <a:endParaRPr lang="en-US" dirty="0"/>
          </a:p>
        </p:txBody>
      </p:sp>
      <p:pic>
        <p:nvPicPr>
          <p:cNvPr id="2" name="Picture 1" descr="A picture containing screenshot, pattern, symmetry, black&#10;&#10;Description automatically generated">
            <a:extLst>
              <a:ext uri="{FF2B5EF4-FFF2-40B4-BE49-F238E27FC236}">
                <a16:creationId xmlns:a16="http://schemas.microsoft.com/office/drawing/2014/main" id="{0A4FD1D8-7099-AE7B-C4BE-9297B45BEE0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17282052-A3B6-1416-E3D3-DD738668A83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519534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1516" y="2248455"/>
            <a:ext cx="629702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519FEDA2-B9A7-CC46-A50F-E76C7B57A2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68BB3307-2F1C-144B-FCE9-6CF1594D73D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8465500A-1AE8-9466-F533-026B217BF9E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5318FDA1-31F4-0E44-BC1A-C7897BD3A766}"/>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C399F179-FE58-5CAD-8D38-7F0528E3341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D2EF5C8C-EDAC-C213-0C59-8A31586D957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057688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8696" y="2248385"/>
            <a:ext cx="594468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4CE00F83-B7B4-2D46-8819-128947031A5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3AEBA50B-7961-3D47-9173-5819A153BC1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6E10178E-5855-5B93-810C-4B75E9B8950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B390DAE2-14BE-5523-40C4-348BD64882E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E5BC234-63C3-57D1-1CBA-2583553C165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1D7A7BE8-C041-8BBD-B434-FE81A346FFE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604960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53060" y="2280665"/>
            <a:ext cx="6253479" cy="1291498"/>
          </a:xfrm>
        </p:spPr>
        <p:txBody>
          <a:bodyPr/>
          <a:lstStyle>
            <a:lvl1pPr>
              <a:defRPr sz="4400">
                <a:solidFill>
                  <a:schemeClr val="accent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1B92C45-3EDE-074C-8187-1049CCED899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9394BC0D-EB47-34BA-C559-25F41DEAAB57}"/>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7EF284EC-B11E-6252-04AB-2D31CA4D005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D17EA44B-2C6D-C5C3-A77F-36A87FA389F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48C78B85-0731-9269-63F5-138D9D1EEE8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F9B804B7-35A1-E5DD-99CF-4DC7D88AD30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72641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468BB1F6-1F9C-4B43-A3CF-73D4203448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3" name="Content Placeholder 2">
            <a:extLst>
              <a:ext uri="{FF2B5EF4-FFF2-40B4-BE49-F238E27FC236}">
                <a16:creationId xmlns:a16="http://schemas.microsoft.com/office/drawing/2014/main" id="{A74221F2-C39C-8F76-AFB7-65BC0BEE7617}"/>
              </a:ext>
            </a:extLst>
          </p:cNvPr>
          <p:cNvSpPr>
            <a:spLocks noGrp="1"/>
          </p:cNvSpPr>
          <p:nvPr>
            <p:ph sz="half" idx="12" hasCustomPrompt="1"/>
          </p:nvPr>
        </p:nvSpPr>
        <p:spPr>
          <a:xfrm>
            <a:off x="399737" y="1503307"/>
            <a:ext cx="8577208" cy="1846659"/>
          </a:xfrm>
        </p:spPr>
        <p:txBody>
          <a:bodyPr wrap="square" lIns="0" tIns="0" rIns="0" bIns="0">
            <a:spAutoFit/>
          </a:bodyPr>
          <a:lstStyle>
            <a:lvl1pPr marL="0" indent="0">
              <a:buFontTx/>
              <a:buNone/>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51ECFDD3-6A5B-2187-AD2A-25D51A21C75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7B1B1C2A-CA9B-7E2C-7E63-8ECC4C95C1B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F231DEA-F0DD-4F75-82AB-BC6051D889C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D65F1039-B6AF-37AF-17C2-921C2AE213E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C04A9EE1-6933-3437-8FDA-A20B7A21531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6" name="TextBox 5">
            <a:extLst>
              <a:ext uri="{FF2B5EF4-FFF2-40B4-BE49-F238E27FC236}">
                <a16:creationId xmlns:a16="http://schemas.microsoft.com/office/drawing/2014/main" id="{2FCB0FC2-2364-F3F5-C032-955AB04CCD9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9912964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503304"/>
            <a:ext cx="9082830" cy="4502724"/>
          </a:xfrm>
        </p:spPr>
        <p:txBody>
          <a:bodyPr/>
          <a:lstStyle>
            <a:lvl1pPr marL="0" indent="0">
              <a:buClr>
                <a:schemeClr val="bg1"/>
              </a:buClr>
              <a:buFontTx/>
              <a:buNone/>
              <a:defRPr>
                <a:solidFill>
                  <a:schemeClr val="tx1"/>
                </a:solidFill>
              </a:defRPr>
            </a:lvl1pPr>
            <a:lvl2pPr marL="6350" indent="0">
              <a:buClr>
                <a:schemeClr val="bg1"/>
              </a:buClr>
              <a:buFontTx/>
              <a:buNone/>
              <a:tabLst/>
              <a:defRPr>
                <a:solidFill>
                  <a:schemeClr val="tx1"/>
                </a:solidFill>
              </a:defRPr>
            </a:lvl2pPr>
            <a:lvl3pPr marL="6350" indent="0">
              <a:buClr>
                <a:schemeClr val="bg1"/>
              </a:buClr>
              <a:buFontTx/>
              <a:buNone/>
              <a:tabLst/>
              <a:defRPr>
                <a:solidFill>
                  <a:schemeClr val="tx1"/>
                </a:solidFill>
              </a:defRPr>
            </a:lvl3pPr>
            <a:lvl4pPr marL="6350" indent="0">
              <a:buClr>
                <a:schemeClr val="bg1"/>
              </a:buClr>
              <a:buFontTx/>
              <a:buNone/>
              <a:tabLst/>
              <a:defRPr>
                <a:solidFill>
                  <a:schemeClr val="tx1"/>
                </a:solidFill>
              </a:defRPr>
            </a:lvl4pPr>
            <a:lvl5pPr marL="6350" indent="0">
              <a:buClr>
                <a:schemeClr val="bg1"/>
              </a:buClr>
              <a:buFontTx/>
              <a:buNone/>
              <a:tabLst/>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05C9648-CD8C-3949-987A-32564A1A21E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91251687-52D0-8BD9-F9CA-059AFDE4E3E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2" name="TextBox 1">
            <a:extLst>
              <a:ext uri="{FF2B5EF4-FFF2-40B4-BE49-F238E27FC236}">
                <a16:creationId xmlns:a16="http://schemas.microsoft.com/office/drawing/2014/main" id="{2C55AED4-7EF0-58C9-A0AF-6CCF60EB916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3FC2459D-3136-6570-1015-F0E7F013F55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6D1CCEE3-5553-491F-0F18-375DCD36363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0BFC678E-FC47-CB24-5767-2B76D2BC4DB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442314FD-05D8-069B-F2D0-F184D1B8C44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Tree>
    <p:extLst>
      <p:ext uri="{BB962C8B-B14F-4D97-AF65-F5344CB8AC3E}">
        <p14:creationId xmlns:p14="http://schemas.microsoft.com/office/powerpoint/2010/main" val="22040877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ontent with Cap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7"/>
            <a:ext cx="11459536" cy="4437560"/>
          </a:xfrm>
        </p:spPr>
        <p:txBody>
          <a:bodyPr>
            <a:no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8CC51C9-ECA3-5340-ABCF-83B40312B6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1421B67-4D43-BB08-5C10-8A16073BF4A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BD44A885-303D-A3BF-98BD-56CEDAD5105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F783C8F0-25AE-E07D-A37F-3D558E5051D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5F66D656-9888-1A15-623F-3B0417C10EDC}"/>
              </a:ext>
            </a:extLst>
          </p:cNvPr>
          <p:cNvSpPr>
            <a:spLocks noGrp="1"/>
          </p:cNvSpPr>
          <p:nvPr>
            <p:ph type="title"/>
          </p:nvPr>
        </p:nvSpPr>
        <p:spPr>
          <a:xfrm>
            <a:off x="399737" y="343837"/>
            <a:ext cx="11459535"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6556BFC7-55B8-DA91-E08B-08C9D419006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02058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63CA3AD-6B9A-AD41-A7E7-9462E6B533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7" name="Text Placeholder 3">
            <a:extLst>
              <a:ext uri="{FF2B5EF4-FFF2-40B4-BE49-F238E27FC236}">
                <a16:creationId xmlns:a16="http://schemas.microsoft.com/office/drawing/2014/main" id="{2AD421B6-4912-5A45-8D3C-2FB70C1FC801}"/>
              </a:ext>
            </a:extLst>
          </p:cNvPr>
          <p:cNvSpPr>
            <a:spLocks noGrp="1"/>
          </p:cNvSpPr>
          <p:nvPr>
            <p:ph type="body" sz="half" idx="13" hasCustomPrompt="1"/>
          </p:nvPr>
        </p:nvSpPr>
        <p:spPr>
          <a:xfrm>
            <a:off x="625721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8" name="Text Placeholder 3">
            <a:extLst>
              <a:ext uri="{FF2B5EF4-FFF2-40B4-BE49-F238E27FC236}">
                <a16:creationId xmlns:a16="http://schemas.microsoft.com/office/drawing/2014/main" id="{D9240F03-0365-FDB5-6FE3-B61E81C37404}"/>
              </a:ext>
            </a:extLst>
          </p:cNvPr>
          <p:cNvSpPr>
            <a:spLocks noGrp="1"/>
          </p:cNvSpPr>
          <p:nvPr>
            <p:ph type="body" sz="half" idx="14" hasCustomPrompt="1"/>
          </p:nvPr>
        </p:nvSpPr>
        <p:spPr>
          <a:xfrm>
            <a:off x="39973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2" name="TextBox 1">
            <a:extLst>
              <a:ext uri="{FF2B5EF4-FFF2-40B4-BE49-F238E27FC236}">
                <a16:creationId xmlns:a16="http://schemas.microsoft.com/office/drawing/2014/main" id="{31DE070B-2ECD-757E-05B7-7D464A7D780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01B07F9F-A015-7CF7-1B3A-D6BC0DAEBE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F78BD73-7173-1382-04CA-8E1199A5443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Title Placeholder 1">
            <a:extLst>
              <a:ext uri="{FF2B5EF4-FFF2-40B4-BE49-F238E27FC236}">
                <a16:creationId xmlns:a16="http://schemas.microsoft.com/office/drawing/2014/main" id="{1D24DA40-BF0E-B7A6-8CDB-6DD58F73843B}"/>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D74CE0A5-424F-1D7C-1A49-A1B6B9A8A00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3063680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8D041142-4F7A-A180-B4EF-B8B9A8A9977E}"/>
              </a:ext>
            </a:extLst>
          </p:cNvPr>
          <p:cNvSpPr>
            <a:spLocks noGrp="1"/>
          </p:cNvSpPr>
          <p:nvPr>
            <p:ph type="body" sz="half" idx="10" hasCustomPrompt="1"/>
          </p:nvPr>
        </p:nvSpPr>
        <p:spPr>
          <a:xfrm>
            <a:off x="399737" y="1503307"/>
            <a:ext cx="5557512"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7EE6855-6739-994B-B890-250D287A05D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 Placeholder 3">
            <a:extLst>
              <a:ext uri="{FF2B5EF4-FFF2-40B4-BE49-F238E27FC236}">
                <a16:creationId xmlns:a16="http://schemas.microsoft.com/office/drawing/2014/main" id="{CB8668DE-AC0D-87D3-054D-C8504C0B6613}"/>
              </a:ext>
            </a:extLst>
          </p:cNvPr>
          <p:cNvSpPr>
            <a:spLocks noGrp="1"/>
          </p:cNvSpPr>
          <p:nvPr>
            <p:ph type="body" sz="half" idx="11" hasCustomPrompt="1"/>
          </p:nvPr>
        </p:nvSpPr>
        <p:spPr>
          <a:xfrm>
            <a:off x="6255530" y="1503307"/>
            <a:ext cx="5559199"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8A740C33-6C73-E595-4B9E-B3C1368BA88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E5C8E73B-C1A0-4747-053E-CEA3E760EF1E}"/>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46F378E4-E006-11F6-0B4E-C148B1654BB4}"/>
              </a:ext>
            </a:extLst>
          </p:cNvPr>
          <p:cNvSpPr>
            <a:spLocks noGrp="1"/>
          </p:cNvSpPr>
          <p:nvPr>
            <p:ph type="ftr" sz="quarter" idx="12"/>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C69DD8FA-2BF1-16EB-760F-AA7F3729A57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6" name="TextBox 5">
            <a:extLst>
              <a:ext uri="{FF2B5EF4-FFF2-40B4-BE49-F238E27FC236}">
                <a16:creationId xmlns:a16="http://schemas.microsoft.com/office/drawing/2014/main" id="{EF920DB4-7309-8DEB-2929-2B27514DA96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470137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A69A2-6A43-3E40-87D7-C9EF31A5047B}"/>
              </a:ext>
            </a:extLst>
          </p:cNvPr>
          <p:cNvSpPr>
            <a:spLocks noGrp="1"/>
          </p:cNvSpPr>
          <p:nvPr>
            <p:ph idx="1" hasCustomPrompt="1"/>
          </p:nvPr>
        </p:nvSpPr>
        <p:spPr>
          <a:xfrm>
            <a:off x="4927601" y="1503302"/>
            <a:ext cx="6887127" cy="4404516"/>
          </a:xfrm>
        </p:spPr>
        <p:txBody>
          <a:bodyPr>
            <a:normAutofit/>
          </a:bodyPr>
          <a:lstStyle>
            <a:lvl1pPr marL="0" indent="0">
              <a:buFontTx/>
              <a:buNone/>
              <a:defRPr sz="2000" b="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p:txBody>
      </p:sp>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4"/>
            <a:ext cx="4187253" cy="4404514"/>
          </a:xfrm>
        </p:spPr>
        <p:txBody>
          <a:bodyPr>
            <a:normAutofit/>
          </a:bodyPr>
          <a:lstStyle>
            <a:lvl1pPr marL="0" indent="0">
              <a:buNone/>
              <a:defRPr sz="20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11AA30BC-1D42-9846-9AF2-E2A5071148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B0B467FB-30AA-F6BE-5110-D9CC90B98D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7C6C29CC-67CE-6421-C8B0-489BBC5647F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41B5FE3D-CA78-C098-999D-C842514BE79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E8475EEE-A2AA-6793-0317-A2C5009E59E3}"/>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5" name="TextBox 4">
            <a:extLst>
              <a:ext uri="{FF2B5EF4-FFF2-40B4-BE49-F238E27FC236}">
                <a16:creationId xmlns:a16="http://schemas.microsoft.com/office/drawing/2014/main" id="{0F550321-7F1F-3286-1384-A3723E61FDB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73867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824E094-F896-8E40-AC9C-ABF9075C5AE1}"/>
              </a:ext>
            </a:extLst>
          </p:cNvPr>
          <p:cNvSpPr>
            <a:spLocks noGrp="1"/>
          </p:cNvSpPr>
          <p:nvPr>
            <p:ph type="pic" idx="1"/>
          </p:nvPr>
        </p:nvSpPr>
        <p:spPr>
          <a:xfrm>
            <a:off x="4939263" y="1503300"/>
            <a:ext cx="7252737" cy="4728169"/>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2" name="Rectangle 11">
            <a:extLst>
              <a:ext uri="{FF2B5EF4-FFF2-40B4-BE49-F238E27FC236}">
                <a16:creationId xmlns:a16="http://schemas.microsoft.com/office/drawing/2014/main" id="{5FB21F4C-4EE3-A548-921D-45FB30330E6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77D3286F-C0D4-6642-8D0B-14EEC9C7AFE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Content Placeholder 2">
            <a:extLst>
              <a:ext uri="{FF2B5EF4-FFF2-40B4-BE49-F238E27FC236}">
                <a16:creationId xmlns:a16="http://schemas.microsoft.com/office/drawing/2014/main" id="{4A908564-1E90-ABBE-37D2-7DC31735C088}"/>
              </a:ext>
            </a:extLst>
          </p:cNvPr>
          <p:cNvSpPr>
            <a:spLocks noGrp="1"/>
          </p:cNvSpPr>
          <p:nvPr>
            <p:ph sz="half" idx="14" hasCustomPrompt="1"/>
          </p:nvPr>
        </p:nvSpPr>
        <p:spPr>
          <a:xfrm>
            <a:off x="398783" y="1503301"/>
            <a:ext cx="4187253" cy="44045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Box 7">
            <a:extLst>
              <a:ext uri="{FF2B5EF4-FFF2-40B4-BE49-F238E27FC236}">
                <a16:creationId xmlns:a16="http://schemas.microsoft.com/office/drawing/2014/main" id="{FFF3E3DC-94E4-F17D-36CB-450544502F3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9" name="Straight Connector 8">
            <a:extLst>
              <a:ext uri="{FF2B5EF4-FFF2-40B4-BE49-F238E27FC236}">
                <a16:creationId xmlns:a16="http://schemas.microsoft.com/office/drawing/2014/main" id="{90BF3BC5-D94C-EDA3-8FBC-6435B4DE16C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DB726D05-460B-0A59-026D-A6ABD195828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447C72BC-0B7D-4FB3-3772-38C5E4C708D1}"/>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F4AAD095-7F6F-2D3F-0CCA-FB24F185F57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9371847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0D1CB3-C3E8-8E4B-AAC3-082CC0AF6319}"/>
              </a:ext>
            </a:extLst>
          </p:cNvPr>
          <p:cNvSpPr>
            <a:spLocks noGrp="1"/>
          </p:cNvSpPr>
          <p:nvPr>
            <p:ph sz="half" idx="1" hasCustomPrompt="1"/>
          </p:nvPr>
        </p:nvSpPr>
        <p:spPr>
          <a:xfrm>
            <a:off x="399737" y="1511016"/>
            <a:ext cx="4328644" cy="435013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DDDAF287-83F2-C44A-BF25-155F5BF57EEB}"/>
              </a:ext>
            </a:extLst>
          </p:cNvPr>
          <p:cNvSpPr>
            <a:spLocks noGrp="1"/>
          </p:cNvSpPr>
          <p:nvPr>
            <p:ph idx="12"/>
          </p:nvPr>
        </p:nvSpPr>
        <p:spPr>
          <a:xfrm>
            <a:off x="5026662" y="1503304"/>
            <a:ext cx="5067372" cy="4357850"/>
          </a:xfrm>
        </p:spPr>
        <p:txBody>
          <a:bodyPr/>
          <a:lstStyle>
            <a:lvl1pPr marL="0" indent="0">
              <a:buFontTx/>
              <a:buNone/>
              <a:defRPr/>
            </a:lvl1pPr>
          </a:lstStyle>
          <a:p>
            <a:pPr lvl="0"/>
            <a:r>
              <a:rPr lang="en-US"/>
              <a:t>Click to edit Master text styles</a:t>
            </a:r>
          </a:p>
        </p:txBody>
      </p:sp>
      <p:pic>
        <p:nvPicPr>
          <p:cNvPr id="11" name="Picture 10">
            <a:extLst>
              <a:ext uri="{FF2B5EF4-FFF2-40B4-BE49-F238E27FC236}">
                <a16:creationId xmlns:a16="http://schemas.microsoft.com/office/drawing/2014/main" id="{E846172F-6290-AC4F-9851-A75FAD18249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343597D2-6234-696B-F5AA-307FEE72576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6A7DA34A-383A-16A2-0FEE-FE854DA0F3D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C4DA649-F063-49F9-EEA4-E099F09DE7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6" name="Title Placeholder 1">
            <a:extLst>
              <a:ext uri="{FF2B5EF4-FFF2-40B4-BE49-F238E27FC236}">
                <a16:creationId xmlns:a16="http://schemas.microsoft.com/office/drawing/2014/main" id="{B9F5F6DC-9D74-3B39-1849-9967761D563D}"/>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A7FD0B13-B446-BD59-8B8C-DB0E88B170A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56301" r="1"/>
          <a:stretch/>
        </p:blipFill>
        <p:spPr>
          <a:xfrm>
            <a:off x="10302948" y="416892"/>
            <a:ext cx="1670459" cy="5397500"/>
          </a:xfrm>
          <a:prstGeom prst="rect">
            <a:avLst/>
          </a:prstGeom>
        </p:spPr>
      </p:pic>
      <p:sp>
        <p:nvSpPr>
          <p:cNvPr id="6" name="TextBox 5">
            <a:extLst>
              <a:ext uri="{FF2B5EF4-FFF2-40B4-BE49-F238E27FC236}">
                <a16:creationId xmlns:a16="http://schemas.microsoft.com/office/drawing/2014/main" id="{6FB64277-B642-727C-F7FE-FFADA4C2040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765944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CC34B4-C291-1845-8F85-19EE1A313584}"/>
              </a:ext>
            </a:extLst>
          </p:cNvPr>
          <p:cNvSpPr>
            <a:spLocks noGrp="1"/>
          </p:cNvSpPr>
          <p:nvPr>
            <p:ph type="body" idx="1" hasCustomPrompt="1"/>
          </p:nvPr>
        </p:nvSpPr>
        <p:spPr>
          <a:xfrm>
            <a:off x="399737"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59CE3547-43AB-3343-96D0-300034BEC47B}"/>
              </a:ext>
            </a:extLst>
          </p:cNvPr>
          <p:cNvSpPr>
            <a:spLocks noGrp="1"/>
          </p:cNvSpPr>
          <p:nvPr>
            <p:ph sz="half" idx="2" hasCustomPrompt="1"/>
          </p:nvPr>
        </p:nvSpPr>
        <p:spPr>
          <a:xfrm>
            <a:off x="399737"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Rectangle 12">
            <a:extLst>
              <a:ext uri="{FF2B5EF4-FFF2-40B4-BE49-F238E27FC236}">
                <a16:creationId xmlns:a16="http://schemas.microsoft.com/office/drawing/2014/main" id="{181F6DE2-F45B-5548-AC93-0AC8CD73A22F}"/>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46232D65-41CC-734C-883D-26D89F1B26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8" name="Text Placeholder 2">
            <a:extLst>
              <a:ext uri="{FF2B5EF4-FFF2-40B4-BE49-F238E27FC236}">
                <a16:creationId xmlns:a16="http://schemas.microsoft.com/office/drawing/2014/main" id="{42499B4A-BC3F-66ED-33DF-03102A73F90C}"/>
              </a:ext>
            </a:extLst>
          </p:cNvPr>
          <p:cNvSpPr>
            <a:spLocks noGrp="1"/>
          </p:cNvSpPr>
          <p:nvPr>
            <p:ph type="body" idx="13" hasCustomPrompt="1"/>
          </p:nvPr>
        </p:nvSpPr>
        <p:spPr>
          <a:xfrm>
            <a:off x="6237658"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19" name="Content Placeholder 3">
            <a:extLst>
              <a:ext uri="{FF2B5EF4-FFF2-40B4-BE49-F238E27FC236}">
                <a16:creationId xmlns:a16="http://schemas.microsoft.com/office/drawing/2014/main" id="{E1C9DA8B-FED8-041D-C2A3-4BE6014B50FD}"/>
              </a:ext>
            </a:extLst>
          </p:cNvPr>
          <p:cNvSpPr>
            <a:spLocks noGrp="1"/>
          </p:cNvSpPr>
          <p:nvPr>
            <p:ph sz="half" idx="14" hasCustomPrompt="1"/>
          </p:nvPr>
        </p:nvSpPr>
        <p:spPr>
          <a:xfrm>
            <a:off x="6237658"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F4F3F962-268D-7E8F-E0A7-FC40EC2195D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EF67D6CA-A404-6EAA-9894-119E28996123}"/>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069CFB3D-778C-9AA2-261C-C6F7BCE8A95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7A3C954C-26BD-006C-AF1C-7BCFB4728C2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7" name="TextBox 6">
            <a:extLst>
              <a:ext uri="{FF2B5EF4-FFF2-40B4-BE49-F238E27FC236}">
                <a16:creationId xmlns:a16="http://schemas.microsoft.com/office/drawing/2014/main" id="{F7A4A621-AAE6-B1BF-2758-69ED058DD13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0655665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6" name="Picture Placeholder 2">
            <a:extLst>
              <a:ext uri="{FF2B5EF4-FFF2-40B4-BE49-F238E27FC236}">
                <a16:creationId xmlns:a16="http://schemas.microsoft.com/office/drawing/2014/main" id="{DDF5BCD2-566C-304B-9603-DBF49E1C6C3B}"/>
              </a:ext>
            </a:extLst>
          </p:cNvPr>
          <p:cNvSpPr>
            <a:spLocks noGrp="1"/>
          </p:cNvSpPr>
          <p:nvPr>
            <p:ph type="pic" idx="1"/>
          </p:nvPr>
        </p:nvSpPr>
        <p:spPr>
          <a:xfrm>
            <a:off x="399738"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0" name="Content Placeholder 2">
            <a:extLst>
              <a:ext uri="{FF2B5EF4-FFF2-40B4-BE49-F238E27FC236}">
                <a16:creationId xmlns:a16="http://schemas.microsoft.com/office/drawing/2014/main" id="{D5C6FD78-5957-3743-9051-7A833B8B93B7}"/>
              </a:ext>
            </a:extLst>
          </p:cNvPr>
          <p:cNvSpPr>
            <a:spLocks noGrp="1"/>
          </p:cNvSpPr>
          <p:nvPr>
            <p:ph sz="half" idx="18" hasCustomPrompt="1"/>
          </p:nvPr>
        </p:nvSpPr>
        <p:spPr>
          <a:xfrm>
            <a:off x="399746"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5" name="Text Placeholder 3">
            <a:extLst>
              <a:ext uri="{FF2B5EF4-FFF2-40B4-BE49-F238E27FC236}">
                <a16:creationId xmlns:a16="http://schemas.microsoft.com/office/drawing/2014/main" id="{8D62D7B6-9A5A-644C-8286-5E98BABC4490}"/>
              </a:ext>
            </a:extLst>
          </p:cNvPr>
          <p:cNvSpPr>
            <a:spLocks noGrp="1"/>
          </p:cNvSpPr>
          <p:nvPr>
            <p:ph type="body" sz="half" idx="2" hasCustomPrompt="1"/>
          </p:nvPr>
        </p:nvSpPr>
        <p:spPr>
          <a:xfrm>
            <a:off x="399738" y="1431326"/>
            <a:ext cx="9827454" cy="1061936"/>
          </a:xfrm>
        </p:spPr>
        <p:txBody>
          <a:bodyPr>
            <a:noAutofit/>
          </a:bodyPr>
          <a:lstStyle>
            <a:lvl1pPr marL="0" indent="0">
              <a:buNone/>
              <a:defRPr sz="16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pic>
        <p:nvPicPr>
          <p:cNvPr id="17" name="Picture 16">
            <a:extLst>
              <a:ext uri="{FF2B5EF4-FFF2-40B4-BE49-F238E27FC236}">
                <a16:creationId xmlns:a16="http://schemas.microsoft.com/office/drawing/2014/main" id="{64C4096F-2FFA-DE41-9D57-0CE5D3D158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1" name="Picture Placeholder 2">
            <a:extLst>
              <a:ext uri="{FF2B5EF4-FFF2-40B4-BE49-F238E27FC236}">
                <a16:creationId xmlns:a16="http://schemas.microsoft.com/office/drawing/2014/main" id="{F57DBF7D-11EE-F2C5-80EC-E85C32283ABE}"/>
              </a:ext>
            </a:extLst>
          </p:cNvPr>
          <p:cNvSpPr>
            <a:spLocks noGrp="1"/>
          </p:cNvSpPr>
          <p:nvPr>
            <p:ph type="pic" idx="19"/>
          </p:nvPr>
        </p:nvSpPr>
        <p:spPr>
          <a:xfrm>
            <a:off x="3301635"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0" name="Content Placeholder 2">
            <a:extLst>
              <a:ext uri="{FF2B5EF4-FFF2-40B4-BE49-F238E27FC236}">
                <a16:creationId xmlns:a16="http://schemas.microsoft.com/office/drawing/2014/main" id="{EC7DA3D2-59BD-6137-81AD-86750A32889C}"/>
              </a:ext>
            </a:extLst>
          </p:cNvPr>
          <p:cNvSpPr>
            <a:spLocks noGrp="1"/>
          </p:cNvSpPr>
          <p:nvPr>
            <p:ph sz="half" idx="20" hasCustomPrompt="1"/>
          </p:nvPr>
        </p:nvSpPr>
        <p:spPr>
          <a:xfrm>
            <a:off x="3301643"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1" name="Picture Placeholder 2">
            <a:extLst>
              <a:ext uri="{FF2B5EF4-FFF2-40B4-BE49-F238E27FC236}">
                <a16:creationId xmlns:a16="http://schemas.microsoft.com/office/drawing/2014/main" id="{9C9B462E-49D5-11F9-F1F5-872D1298452F}"/>
              </a:ext>
            </a:extLst>
          </p:cNvPr>
          <p:cNvSpPr>
            <a:spLocks noGrp="1"/>
          </p:cNvSpPr>
          <p:nvPr>
            <p:ph type="pic" idx="21"/>
          </p:nvPr>
        </p:nvSpPr>
        <p:spPr>
          <a:xfrm>
            <a:off x="6203526"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2" name="Content Placeholder 2">
            <a:extLst>
              <a:ext uri="{FF2B5EF4-FFF2-40B4-BE49-F238E27FC236}">
                <a16:creationId xmlns:a16="http://schemas.microsoft.com/office/drawing/2014/main" id="{9F4812D9-E50A-9912-1AAB-2CBFCD7BB51C}"/>
              </a:ext>
            </a:extLst>
          </p:cNvPr>
          <p:cNvSpPr>
            <a:spLocks noGrp="1"/>
          </p:cNvSpPr>
          <p:nvPr>
            <p:ph sz="half" idx="22" hasCustomPrompt="1"/>
          </p:nvPr>
        </p:nvSpPr>
        <p:spPr>
          <a:xfrm>
            <a:off x="6203534"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3" name="Picture Placeholder 2">
            <a:extLst>
              <a:ext uri="{FF2B5EF4-FFF2-40B4-BE49-F238E27FC236}">
                <a16:creationId xmlns:a16="http://schemas.microsoft.com/office/drawing/2014/main" id="{4AC0237F-F3D2-5B48-FDD3-0D38A29F9329}"/>
              </a:ext>
            </a:extLst>
          </p:cNvPr>
          <p:cNvSpPr>
            <a:spLocks noGrp="1"/>
          </p:cNvSpPr>
          <p:nvPr>
            <p:ph type="pic" idx="23"/>
          </p:nvPr>
        </p:nvSpPr>
        <p:spPr>
          <a:xfrm>
            <a:off x="9105429"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4" name="Content Placeholder 2">
            <a:extLst>
              <a:ext uri="{FF2B5EF4-FFF2-40B4-BE49-F238E27FC236}">
                <a16:creationId xmlns:a16="http://schemas.microsoft.com/office/drawing/2014/main" id="{9C3F4213-26B4-FC1E-F3B7-05D32356B3BD}"/>
              </a:ext>
            </a:extLst>
          </p:cNvPr>
          <p:cNvSpPr>
            <a:spLocks noGrp="1"/>
          </p:cNvSpPr>
          <p:nvPr>
            <p:ph sz="half" idx="24" hasCustomPrompt="1"/>
          </p:nvPr>
        </p:nvSpPr>
        <p:spPr>
          <a:xfrm>
            <a:off x="9105437"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 name="TextBox 1">
            <a:extLst>
              <a:ext uri="{FF2B5EF4-FFF2-40B4-BE49-F238E27FC236}">
                <a16:creationId xmlns:a16="http://schemas.microsoft.com/office/drawing/2014/main" id="{90E3E1F3-60BC-A502-C92D-697C2C40846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43AB2FE-DFD2-0FA3-C038-FB5684C9FAF2}"/>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715E079-78EC-4037-5AC3-052D98B24FE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Title Placeholder 1">
            <a:extLst>
              <a:ext uri="{FF2B5EF4-FFF2-40B4-BE49-F238E27FC236}">
                <a16:creationId xmlns:a16="http://schemas.microsoft.com/office/drawing/2014/main" id="{A081EB8E-5372-4255-8858-E2870EA73172}"/>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5EA7A7A-5CFD-5739-A684-0C18C083165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83131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E77CA1-9CDF-734F-9BC2-A77ABB697C7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8" name="Picture 7">
            <a:extLst>
              <a:ext uri="{FF2B5EF4-FFF2-40B4-BE49-F238E27FC236}">
                <a16:creationId xmlns:a16="http://schemas.microsoft.com/office/drawing/2014/main" id="{77C989A6-F100-D244-9811-9480ED6055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2953FB21-2646-0D56-02B8-10257E98D9F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8CDB768E-55F5-7876-CF52-F1518763AAE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DC1351BB-F4DD-D90C-430F-C7056589AD1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0" name="Title Placeholder 1">
            <a:extLst>
              <a:ext uri="{FF2B5EF4-FFF2-40B4-BE49-F238E27FC236}">
                <a16:creationId xmlns:a16="http://schemas.microsoft.com/office/drawing/2014/main" id="{7CABF511-E87A-C207-7C25-AC958A88C0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DC9689DA-81EA-4FC5-28D0-500FEE17901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18636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 r="23451" b="15127"/>
          <a:stretch/>
        </p:blipFill>
        <p:spPr>
          <a:xfrm>
            <a:off x="8217720" y="11646"/>
            <a:ext cx="3960000" cy="6219825"/>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5FE38075-372F-6844-9F98-C937958AD6B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B451E343-9084-E686-3699-FAA7B6CBC1E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ED84418-AEC2-6F8C-A6E8-0F39927E5B7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5438FB49-85BE-3E87-1702-3595716815F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8237965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901" r="26223"/>
          <a:stretch/>
        </p:blipFill>
        <p:spPr>
          <a:xfrm>
            <a:off x="9245674" y="252197"/>
            <a:ext cx="2761485" cy="5679878"/>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073DC8B9-5768-F986-D58C-5C39F0469C8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BAEA4F-2F7D-F21F-2313-D358C006F46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2A20AE0-AC3D-470A-3954-50AC61FED74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AED0737A-B554-2118-56EF-2BA0D086727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7111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2" name="TextBox 11">
            <a:extLst>
              <a:ext uri="{FF2B5EF4-FFF2-40B4-BE49-F238E27FC236}">
                <a16:creationId xmlns:a16="http://schemas.microsoft.com/office/drawing/2014/main" id="{634A6CF0-C66C-59ED-4F69-B1F2CFF4E0C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E87900B1-CCD2-07B5-E6CA-A036E077CD5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564C38D5-0B53-7E61-E7F7-1A01524FB5D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EB1441EA-87AE-CA59-A66A-2A78F95593A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2" name="TextBox 1">
            <a:extLst>
              <a:ext uri="{FF2B5EF4-FFF2-40B4-BE49-F238E27FC236}">
                <a16:creationId xmlns:a16="http://schemas.microsoft.com/office/drawing/2014/main" id="{5A74AB3D-938B-19A8-19F2-4EF9378543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557609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B6E2CBE-CD80-5BB4-CAFE-132C6A98DCE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0DF6B8-49B1-01CF-1B67-5A88EE2CEA7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606676F-FDEC-7B5B-19F7-349E65490DB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C1368512-FEB8-4E8B-FDD2-3D135596DB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0729FB62-5559-2CC8-0B52-9B2C12A3622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844370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E4F5E42C-C654-DB45-B035-68B7257F6A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00E7C711-F858-BF6F-32AF-9A2726E33B35}"/>
              </a:ext>
            </a:extLst>
          </p:cNvPr>
          <p:cNvSpPr>
            <a:spLocks noGrp="1"/>
          </p:cNvSpPr>
          <p:nvPr>
            <p:ph sz="half" idx="1" hasCustomPrompt="1"/>
          </p:nvPr>
        </p:nvSpPr>
        <p:spPr>
          <a:xfrm>
            <a:off x="399738" y="1439113"/>
            <a:ext cx="920146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12BDC4E-18B4-4F80-E298-6277CB4949B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BF572040-95A7-9333-2822-8936DDB4D6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1070AA9-73AA-BFBF-9CC9-D39DB8676D2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E58F9A88-72B2-39F3-5CE0-22A5B1847B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9D7E4530-CEFF-1897-0019-7070CBD9344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2AFE2B6-8718-F6E9-6C5B-AC6D543E5D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511085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907C2A4A-AB7D-C346-A4AE-5D700790B4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397674E6-4CD2-5DC2-979E-5A11515DA5CE}"/>
              </a:ext>
            </a:extLst>
          </p:cNvPr>
          <p:cNvSpPr>
            <a:spLocks noGrp="1"/>
          </p:cNvSpPr>
          <p:nvPr>
            <p:ph sz="half" idx="1" hasCustomPrompt="1"/>
          </p:nvPr>
        </p:nvSpPr>
        <p:spPr>
          <a:xfrm>
            <a:off x="399737" y="1439113"/>
            <a:ext cx="1141499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6802BE17-EEF4-07E7-8B66-4E233EB7C07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8DF14D4-802C-408D-210E-510FC171118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Footer Placeholder 4">
            <a:extLst>
              <a:ext uri="{FF2B5EF4-FFF2-40B4-BE49-F238E27FC236}">
                <a16:creationId xmlns:a16="http://schemas.microsoft.com/office/drawing/2014/main" id="{544D89AB-C64C-8B64-8877-E3719DBC19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9684CB88-9266-F952-BF1A-BCAE5B3F8C20}"/>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42A7EF2-C9E0-E4A3-BA94-C458564CC46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92835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BFEDAD7-F69F-4C4F-9E99-953D7E949E9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F2D79A63-41FE-DB3D-BA6E-C61D8F9BFC10}"/>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945E02DD-F400-2D5D-8839-1827C8BCC25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CB320EFD-B929-4CAD-0B2F-8AAE73C486A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AF402314-0F80-4B7D-619F-0E4554C6C1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A5DBE723-68B9-7915-E582-1E32B82ACE98}"/>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5A4572D8-0735-550F-0BAE-54D1A261DF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25387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2EEA8E5F-D372-3F46-8D11-BD4E448DB62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1204432E-E762-DE06-6323-E73B06716CD3}"/>
              </a:ext>
            </a:extLst>
          </p:cNvPr>
          <p:cNvSpPr>
            <a:spLocks noGrp="1"/>
          </p:cNvSpPr>
          <p:nvPr>
            <p:ph sz="half" idx="1" hasCustomPrompt="1"/>
          </p:nvPr>
        </p:nvSpPr>
        <p:spPr>
          <a:xfrm>
            <a:off x="399738" y="1439113"/>
            <a:ext cx="9144784"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9175E44-33CD-2FD2-DBB2-6AB836EBA5F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912929EE-0091-7B22-DA4C-0324C074247A}"/>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35FFEE06-648D-C71E-F49B-06D912F5D46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20D27E15-43B5-CAD5-73BD-387115E92C1B}"/>
              </a:ext>
            </a:extLst>
          </p:cNvPr>
          <p:cNvSpPr>
            <a:spLocks noGrp="1"/>
          </p:cNvSpPr>
          <p:nvPr>
            <p:ph type="title"/>
          </p:nvPr>
        </p:nvSpPr>
        <p:spPr>
          <a:xfrm>
            <a:off x="399737" y="343837"/>
            <a:ext cx="9144783"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EF0AC716-A195-1E4F-3FF8-99DF68016BA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636E1F5-B69F-7543-E521-650D14983C2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92353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0"/>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D3D1167-3A5B-3540-AF3B-AE48F5C0768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625F3D20-44B0-012A-11E3-B845C1454DC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2342E279-61ED-DC45-F3AE-4AD2BC5340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8BD8578A-DB80-E679-2DA7-6C3D97BF909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6215E171-94D6-C64B-704F-702DDFC7D04E}"/>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73218746-4DC1-957D-5822-F6CC0D79F4D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3284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99735" y="345416"/>
            <a:ext cx="8055778" cy="515901"/>
          </a:xfrm>
        </p:spPr>
        <p:txBody>
          <a:bodyPr/>
          <a:lstStyle>
            <a:lvl1pPr>
              <a:defRPr>
                <a:solidFill>
                  <a:schemeClr val="bg1"/>
                </a:solidFill>
              </a:defRPr>
            </a:lvl1pPr>
          </a:lstStyle>
          <a:p>
            <a:r>
              <a:rPr lang="en-GB" dirty="0"/>
              <a:t>Click to edit master title style</a:t>
            </a:r>
            <a:endParaRPr lang="en-US" dirty="0"/>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5" y="1451501"/>
            <a:ext cx="8055778" cy="4367371"/>
          </a:xfrm>
        </p:spPr>
        <p:txBody>
          <a:bodyPr/>
          <a:lstStyle>
            <a:lvl1pPr>
              <a:buClr>
                <a:schemeClr val="bg1"/>
              </a:buClr>
              <a:defRPr>
                <a:solidFill>
                  <a:schemeClr val="bg1"/>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C4E7C2E4-01F1-E442-B8C8-0DF81347D091}"/>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6488F74A-3BB3-7641-8E75-F37B03910A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B216D54C-F1E6-7181-3C06-FED98DBA8A0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10B60624-9DD9-B79A-4AF9-B891924086AD}"/>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7B4537AC-52F4-6FDB-19F6-68BD45F92A1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3D01D56-89FF-1FD8-C139-0ABC70DDD3C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AE538175-A7CA-18FD-1439-5CD11A4805E5}"/>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77803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FD3FEC-F3E9-864F-A930-BADE187357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568"/>
          <a:stretch/>
        </p:blipFill>
        <p:spPr>
          <a:xfrm>
            <a:off x="5899319" y="0"/>
            <a:ext cx="2196000" cy="5070984"/>
          </a:xfrm>
          <a:prstGeom prst="rect">
            <a:avLst/>
          </a:prstGeom>
        </p:spPr>
      </p:pic>
      <p:pic>
        <p:nvPicPr>
          <p:cNvPr id="9" name="Picture 8">
            <a:extLst>
              <a:ext uri="{FF2B5EF4-FFF2-40B4-BE49-F238E27FC236}">
                <a16:creationId xmlns:a16="http://schemas.microsoft.com/office/drawing/2014/main" id="{695EBA51-6387-4C4C-81D6-6B59BC0903D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3" r="-293" b="15968"/>
          <a:stretch/>
        </p:blipFill>
        <p:spPr>
          <a:xfrm>
            <a:off x="7908000" y="0"/>
            <a:ext cx="4284000" cy="5070984"/>
          </a:xfrm>
          <a:prstGeom prst="rect">
            <a:avLst/>
          </a:prstGeom>
        </p:spPr>
      </p:pic>
      <p:pic>
        <p:nvPicPr>
          <p:cNvPr id="12" name="Picture 11">
            <a:extLst>
              <a:ext uri="{FF2B5EF4-FFF2-40B4-BE49-F238E27FC236}">
                <a16:creationId xmlns:a16="http://schemas.microsoft.com/office/drawing/2014/main" id="{6F10BBFD-B3A4-5D47-9E65-C7EFA466431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sp>
        <p:nvSpPr>
          <p:cNvPr id="2" name="Title 1">
            <a:extLst>
              <a:ext uri="{FF2B5EF4-FFF2-40B4-BE49-F238E27FC236}">
                <a16:creationId xmlns:a16="http://schemas.microsoft.com/office/drawing/2014/main" id="{33B2095B-3738-14BB-59F0-FBF3EA2EEB4A}"/>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3" name="Picture 2" descr="A picture containing pattern, symmetry, black, darkness&#10;&#10;Description automatically generated">
            <a:extLst>
              <a:ext uri="{FF2B5EF4-FFF2-40B4-BE49-F238E27FC236}">
                <a16:creationId xmlns:a16="http://schemas.microsoft.com/office/drawing/2014/main" id="{0B3F2832-7570-4705-05E1-C4D00F3039B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4254"/>
          <a:stretch/>
        </p:blipFill>
        <p:spPr>
          <a:xfrm>
            <a:off x="8313338" y="416892"/>
            <a:ext cx="3660070" cy="5397500"/>
          </a:xfrm>
          <a:prstGeom prst="rect">
            <a:avLst/>
          </a:prstGeom>
        </p:spPr>
      </p:pic>
      <p:sp>
        <p:nvSpPr>
          <p:cNvPr id="5" name="TextBox 4">
            <a:extLst>
              <a:ext uri="{FF2B5EF4-FFF2-40B4-BE49-F238E27FC236}">
                <a16:creationId xmlns:a16="http://schemas.microsoft.com/office/drawing/2014/main" id="{11793F8E-D348-C752-2686-405F4EDCC51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228068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AE4D03-A620-D14C-BD5A-2A350807216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08785"/>
            <a:ext cx="3097618" cy="1425798"/>
          </a:xfrm>
          <a:prstGeom prst="rect">
            <a:avLst/>
          </a:prstGeom>
        </p:spPr>
      </p:pic>
      <p:sp>
        <p:nvSpPr>
          <p:cNvPr id="3" name="Title 1">
            <a:extLst>
              <a:ext uri="{FF2B5EF4-FFF2-40B4-BE49-F238E27FC236}">
                <a16:creationId xmlns:a16="http://schemas.microsoft.com/office/drawing/2014/main" id="{B6BBAC78-63F0-46DE-3550-3E04975BEB10}"/>
              </a:ext>
            </a:extLst>
          </p:cNvPr>
          <p:cNvSpPr>
            <a:spLocks noGrp="1"/>
          </p:cNvSpPr>
          <p:nvPr>
            <p:ph type="ctrTitle" idx="4294967295" hasCustomPrompt="1"/>
          </p:nvPr>
        </p:nvSpPr>
        <p:spPr>
          <a:xfrm>
            <a:off x="603860" y="2173853"/>
            <a:ext cx="5077440" cy="1218795"/>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4" name="Picture 3" descr="A picture containing screenshot, pattern, symmetry, black&#10;&#10;Description automatically generated">
            <a:extLst>
              <a:ext uri="{FF2B5EF4-FFF2-40B4-BE49-F238E27FC236}">
                <a16:creationId xmlns:a16="http://schemas.microsoft.com/office/drawing/2014/main" id="{050392FE-8149-4829-F2B5-10E8A5D47E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2" name="TextBox 1">
            <a:extLst>
              <a:ext uri="{FF2B5EF4-FFF2-40B4-BE49-F238E27FC236}">
                <a16:creationId xmlns:a16="http://schemas.microsoft.com/office/drawing/2014/main" id="{4D2F848E-F372-1363-36F4-3378179C61F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68014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ECECEC"/>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E8522B1-D663-0841-86D8-80D681225302}"/>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6" name="Picture 5">
            <a:extLst>
              <a:ext uri="{FF2B5EF4-FFF2-40B4-BE49-F238E27FC236}">
                <a16:creationId xmlns:a16="http://schemas.microsoft.com/office/drawing/2014/main" id="{A6E1F9C1-B904-C64A-9353-68E1CCDB98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pic>
        <p:nvPicPr>
          <p:cNvPr id="2" name="Picture 1" descr="A picture containing screenshot, pattern, symmetry, black&#10;&#10;Description automatically generated">
            <a:extLst>
              <a:ext uri="{FF2B5EF4-FFF2-40B4-BE49-F238E27FC236}">
                <a16:creationId xmlns:a16="http://schemas.microsoft.com/office/drawing/2014/main" id="{D4637D6B-3535-21BB-F5A3-4CEB19DD308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4" name="TextBox 3">
            <a:extLst>
              <a:ext uri="{FF2B5EF4-FFF2-40B4-BE49-F238E27FC236}">
                <a16:creationId xmlns:a16="http://schemas.microsoft.com/office/drawing/2014/main" id="{05EF8265-7BE8-7D30-63D9-3B73F577D4E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129254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rgbClr val="ECECEC"/>
        </a:solidFill>
        <a:effectLst/>
      </p:bgPr>
    </p:bg>
    <p:spTree>
      <p:nvGrpSpPr>
        <p:cNvPr id="1" name=""/>
        <p:cNvGrpSpPr/>
        <p:nvPr/>
      </p:nvGrpSpPr>
      <p:grpSpPr>
        <a:xfrm>
          <a:off x="0" y="0"/>
          <a:ext cx="0" cy="0"/>
          <a:chOff x="0" y="0"/>
          <a:chExt cx="0" cy="0"/>
        </a:xfrm>
      </p:grpSpPr>
      <p:pic>
        <p:nvPicPr>
          <p:cNvPr id="5" name="Picture 4" descr="A large building&#10;&#10;Description automatically generated">
            <a:extLst>
              <a:ext uri="{FF2B5EF4-FFF2-40B4-BE49-F238E27FC236}">
                <a16:creationId xmlns:a16="http://schemas.microsoft.com/office/drawing/2014/main" id="{44BB9AD5-5855-D74E-8009-AB00B987C4E0}"/>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5A239C4-066B-F74E-82A2-FE2AA5E70B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3" name="Title 1">
            <a:extLst>
              <a:ext uri="{FF2B5EF4-FFF2-40B4-BE49-F238E27FC236}">
                <a16:creationId xmlns:a16="http://schemas.microsoft.com/office/drawing/2014/main" id="{641518E3-3AA8-F6D3-CBEF-2EB3AEFFBBE0}"/>
              </a:ext>
            </a:extLst>
          </p:cNvPr>
          <p:cNvSpPr>
            <a:spLocks noGrp="1"/>
          </p:cNvSpPr>
          <p:nvPr>
            <p:ph type="ctrTitle" idx="4294967295" hasCustomPrompt="1"/>
          </p:nvPr>
        </p:nvSpPr>
        <p:spPr>
          <a:xfrm>
            <a:off x="563897" y="1194792"/>
            <a:ext cx="5077440" cy="1218795"/>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sp>
        <p:nvSpPr>
          <p:cNvPr id="2" name="TextBox 1">
            <a:extLst>
              <a:ext uri="{FF2B5EF4-FFF2-40B4-BE49-F238E27FC236}">
                <a16:creationId xmlns:a16="http://schemas.microsoft.com/office/drawing/2014/main" id="{AB47E340-2F7D-8151-66B7-D638258C84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166009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ECECEC"/>
        </a:solidFill>
        <a:effectLst/>
      </p:bgPr>
    </p:bg>
    <p:spTree>
      <p:nvGrpSpPr>
        <p:cNvPr id="1" name=""/>
        <p:cNvGrpSpPr/>
        <p:nvPr/>
      </p:nvGrpSpPr>
      <p:grpSpPr>
        <a:xfrm>
          <a:off x="0" y="0"/>
          <a:ext cx="0" cy="0"/>
          <a:chOff x="0" y="0"/>
          <a:chExt cx="0" cy="0"/>
        </a:xfrm>
      </p:grpSpPr>
      <p:pic>
        <p:nvPicPr>
          <p:cNvPr id="5" name="Picture 4" descr="A picture containing outdoor, cloud, sky, tree&#10;&#10;Description automatically generated">
            <a:extLst>
              <a:ext uri="{FF2B5EF4-FFF2-40B4-BE49-F238E27FC236}">
                <a16:creationId xmlns:a16="http://schemas.microsoft.com/office/drawing/2014/main" id="{1BE27CF4-73CF-CF33-B948-C4085B2E3F0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304842" cy="6946899"/>
          </a:xfrm>
          <a:prstGeom prst="rect">
            <a:avLst/>
          </a:prstGeom>
        </p:spPr>
      </p:pic>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7" name="Picture 6">
            <a:extLst>
              <a:ext uri="{FF2B5EF4-FFF2-40B4-BE49-F238E27FC236}">
                <a16:creationId xmlns:a16="http://schemas.microsoft.com/office/drawing/2014/main" id="{B38D0EC0-A17F-A048-AB05-F1B8F237A15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1971549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rgbClr val="ECECEC"/>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B3C75B-2CDB-B3A7-76D3-8B38035E190F}"/>
              </a:ext>
            </a:extLst>
          </p:cNvPr>
          <p:cNvPicPr>
            <a:picLocks noChangeAspect="1"/>
          </p:cNvPicPr>
          <p:nvPr userDrawn="1"/>
        </p:nvPicPr>
        <p:blipFill>
          <a:blip r:embed="rId2"/>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526AB0C6-18A8-A690-7B2C-80947655F75E}"/>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10" name="Picture 9">
            <a:extLst>
              <a:ext uri="{FF2B5EF4-FFF2-40B4-BE49-F238E27FC236}">
                <a16:creationId xmlns:a16="http://schemas.microsoft.com/office/drawing/2014/main" id="{D12ED99E-6B9D-7AEA-3698-4DD759E3B9B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Tree>
    <p:extLst>
      <p:ext uri="{BB962C8B-B14F-4D97-AF65-F5344CB8AC3E}">
        <p14:creationId xmlns:p14="http://schemas.microsoft.com/office/powerpoint/2010/main" val="27745762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9_Title Slide">
    <p:bg>
      <p:bgPr>
        <a:solidFill>
          <a:srgbClr val="ECECEC"/>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066CA2-5C58-5921-60E9-D28ADA36826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1B693D0-9E80-C772-133E-7B4CB57CE3B3}"/>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7" name="Picture 6">
            <a:extLst>
              <a:ext uri="{FF2B5EF4-FFF2-40B4-BE49-F238E27FC236}">
                <a16:creationId xmlns:a16="http://schemas.microsoft.com/office/drawing/2014/main" id="{FC76220B-EB3D-736A-703B-9D5C9AC0506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2" name="Rectangle 1">
            <a:extLst>
              <a:ext uri="{FF2B5EF4-FFF2-40B4-BE49-F238E27FC236}">
                <a16:creationId xmlns:a16="http://schemas.microsoft.com/office/drawing/2014/main" id="{EEB389DE-8018-324D-9427-78B74469B8FA}"/>
              </a:ext>
            </a:extLst>
          </p:cNvPr>
          <p:cNvSpPr/>
          <p:nvPr userDrawn="1"/>
        </p:nvSpPr>
        <p:spPr>
          <a:xfrm rot="10800000">
            <a:off x="0" y="0"/>
            <a:ext cx="12191999" cy="2769326"/>
          </a:xfrm>
          <a:prstGeom prst="rect">
            <a:avLst/>
          </a:prstGeom>
          <a:gradFill>
            <a:gsLst>
              <a:gs pos="0">
                <a:schemeClr val="accent1">
                  <a:lumMod val="5000"/>
                  <a:lumOff val="95000"/>
                  <a:alpha val="0"/>
                </a:schemeClr>
              </a:gs>
              <a:gs pos="25000">
                <a:schemeClr val="tx1">
                  <a:alpha val="2174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4457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703FD-F9F3-8C3D-8240-C5207791995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3829001-79A3-3F8E-F0D1-9633B719D7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A23656C-EA52-EB8E-20A3-2313CDBEBD04}"/>
              </a:ext>
            </a:extLst>
          </p:cNvPr>
          <p:cNvSpPr>
            <a:spLocks noGrp="1"/>
          </p:cNvSpPr>
          <p:nvPr>
            <p:ph type="dt" sz="half" idx="10"/>
          </p:nvPr>
        </p:nvSpPr>
        <p:spPr/>
        <p:txBody>
          <a:bodyPr/>
          <a:lstStyle/>
          <a:p>
            <a:fld id="{99484DFB-2154-49D6-A381-1F3A93D3E108}" type="datetimeFigureOut">
              <a:rPr lang="en-AU" smtClean="0"/>
              <a:t>3/02/2025</a:t>
            </a:fld>
            <a:endParaRPr lang="en-AU"/>
          </a:p>
        </p:txBody>
      </p:sp>
      <p:sp>
        <p:nvSpPr>
          <p:cNvPr id="5" name="Footer Placeholder 4">
            <a:extLst>
              <a:ext uri="{FF2B5EF4-FFF2-40B4-BE49-F238E27FC236}">
                <a16:creationId xmlns:a16="http://schemas.microsoft.com/office/drawing/2014/main" id="{57563039-9F12-C4A7-37EF-4904BF8ACAD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C50066A-1C29-FFD5-A796-75DE4CD159AE}"/>
              </a:ext>
            </a:extLst>
          </p:cNvPr>
          <p:cNvSpPr>
            <a:spLocks noGrp="1"/>
          </p:cNvSpPr>
          <p:nvPr>
            <p:ph type="sldNum" sz="quarter" idx="12"/>
          </p:nvPr>
        </p:nvSpPr>
        <p:spPr/>
        <p:txBody>
          <a:bodyPr/>
          <a:lstStyle/>
          <a:p>
            <a:fld id="{CFD09D87-C0EB-4373-9F9C-9E3D0EEF7E26}" type="slidenum">
              <a:rPr lang="en-AU" smtClean="0"/>
              <a:t>‹#›</a:t>
            </a:fld>
            <a:endParaRPr lang="en-AU"/>
          </a:p>
        </p:txBody>
      </p:sp>
    </p:spTree>
    <p:extLst>
      <p:ext uri="{BB962C8B-B14F-4D97-AF65-F5344CB8AC3E}">
        <p14:creationId xmlns:p14="http://schemas.microsoft.com/office/powerpoint/2010/main" val="142707705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F4FD54-D143-8544-8A0E-C449B851C5F4}"/>
              </a:ext>
            </a:extLst>
          </p:cNvPr>
          <p:cNvSpPr>
            <a:spLocks noGrp="1"/>
          </p:cNvSpPr>
          <p:nvPr>
            <p:ph type="title"/>
          </p:nvPr>
        </p:nvSpPr>
        <p:spPr>
          <a:xfrm>
            <a:off x="365760" y="350838"/>
            <a:ext cx="11436772"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876B6D7-1BFF-2D47-9B38-9CF11F641FED}"/>
              </a:ext>
            </a:extLst>
          </p:cNvPr>
          <p:cNvSpPr>
            <a:spLocks noGrp="1"/>
          </p:cNvSpPr>
          <p:nvPr>
            <p:ph type="body" idx="1"/>
          </p:nvPr>
        </p:nvSpPr>
        <p:spPr>
          <a:xfrm>
            <a:off x="365759" y="1393825"/>
            <a:ext cx="11436773" cy="45751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817484"/>
      </p:ext>
    </p:extLst>
  </p:cSld>
  <p:clrMap bg1="lt1" tx1="dk1" bg2="lt2" tx2="dk2" accent1="accent1" accent2="accent2" accent3="accent3" accent4="accent4" accent5="accent5" accent6="accent6" hlink="hlink" folHlink="folHlink"/>
  <p:sldLayoutIdLst>
    <p:sldLayoutId id="2147483649" r:id="rId1"/>
    <p:sldLayoutId id="2147483705" r:id="rId2"/>
    <p:sldLayoutId id="2147483706" r:id="rId3"/>
    <p:sldLayoutId id="2147483650" r:id="rId4"/>
    <p:sldLayoutId id="2147483710" r:id="rId5"/>
    <p:sldLayoutId id="2147483702" r:id="rId6"/>
    <p:sldLayoutId id="2147483709" r:id="rId7"/>
    <p:sldLayoutId id="2147483658" r:id="rId8"/>
    <p:sldLayoutId id="2147483693" r:id="rId9"/>
    <p:sldLayoutId id="2147483694" r:id="rId10"/>
    <p:sldLayoutId id="2147483692" r:id="rId11"/>
    <p:sldLayoutId id="2147483686" r:id="rId12"/>
    <p:sldLayoutId id="2147483667" r:id="rId13"/>
    <p:sldLayoutId id="2147483652" r:id="rId14"/>
    <p:sldLayoutId id="2147483698" r:id="rId15"/>
    <p:sldLayoutId id="2147483695" r:id="rId16"/>
    <p:sldLayoutId id="2147483696" r:id="rId17"/>
    <p:sldLayoutId id="2147483680" r:id="rId18"/>
    <p:sldLayoutId id="2147483656" r:id="rId19"/>
    <p:sldLayoutId id="2147483657" r:id="rId20"/>
    <p:sldLayoutId id="2147483681" r:id="rId21"/>
    <p:sldLayoutId id="2147483653" r:id="rId22"/>
    <p:sldLayoutId id="2147483682" r:id="rId23"/>
    <p:sldLayoutId id="2147483676" r:id="rId24"/>
    <p:sldLayoutId id="2147483666" r:id="rId25"/>
    <p:sldLayoutId id="2147483708" r:id="rId26"/>
    <p:sldLayoutId id="2147483683" r:id="rId27"/>
    <p:sldLayoutId id="2147483707" r:id="rId28"/>
    <p:sldLayoutId id="2147483663" r:id="rId29"/>
    <p:sldLayoutId id="2147483700" r:id="rId30"/>
    <p:sldLayoutId id="2147483697" r:id="rId31"/>
    <p:sldLayoutId id="2147483699" r:id="rId32"/>
    <p:sldLayoutId id="2147483701" r:id="rId33"/>
    <p:sldLayoutId id="2147483661" r:id="rId34"/>
    <p:sldLayoutId id="2147483669" r:id="rId35"/>
    <p:sldLayoutId id="2147483690" r:id="rId36"/>
    <p:sldLayoutId id="2147483691" r:id="rId37"/>
    <p:sldLayoutId id="2147483703" r:id="rId38"/>
    <p:sldLayoutId id="2147483704" r:id="rId39"/>
    <p:sldLayoutId id="2147483711" r:id="rId40"/>
    <p:sldLayoutId id="2147483712" r:id="rId41"/>
    <p:sldLayoutId id="2147483713" r:id="rId42"/>
  </p:sldLayoutIdLst>
  <p:hf sldNum="0" hdr="0" dt="0"/>
  <p:txStyles>
    <p:title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p:titleStyle>
    <p:body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Arial" panose="020B0604020202020204" pitchFamily="34" charset="0"/>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Arial" panose="020B0604020202020204" pitchFamily="34" charset="0"/>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Arial" panose="020B0604020202020204" pitchFamily="34" charset="0"/>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Arial" panose="020B0604020202020204" pitchFamily="34" charset="0"/>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Arial" panose="020B0604020202020204" pitchFamily="34" charset="0"/>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16.xml"/><Relationship Id="rId4" Type="http://schemas.openxmlformats.org/officeDocument/2006/relationships/image" Target="../media/image26.jpg"/></Relationships>
</file>

<file path=ppt/slides/_rels/slide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png"/><Relationship Id="rId1" Type="http://schemas.openxmlformats.org/officeDocument/2006/relationships/slideLayout" Target="../slideLayouts/slideLayout16.xml"/><Relationship Id="rId5" Type="http://schemas.openxmlformats.org/officeDocument/2006/relationships/image" Target="../media/image30.jp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16.xml"/><Relationship Id="rId4" Type="http://schemas.openxmlformats.org/officeDocument/2006/relationships/image" Target="../media/image33.jpg"/></Relationships>
</file>

<file path=ppt/slides/_rels/slide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hyperlink" Target="https://www.archdaily.com/580439/kapaclajui-indigenous-training-center-entre-nos-atelier" TargetMode="External"/><Relationship Id="rId1" Type="http://schemas.openxmlformats.org/officeDocument/2006/relationships/slideLayout" Target="../slideLayouts/slideLayout16.xml"/><Relationship Id="rId5" Type="http://schemas.openxmlformats.org/officeDocument/2006/relationships/image" Target="../media/image36.jpg"/><Relationship Id="rId4" Type="http://schemas.openxmlformats.org/officeDocument/2006/relationships/image" Target="../media/image35.jpg"/></Relationships>
</file>

<file path=ppt/slides/_rels/slide10.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hyperlink" Target="https://www.archdaily.com/551329/one-central-park-jean-nouvel-patrick-blanc" TargetMode="External"/><Relationship Id="rId1" Type="http://schemas.openxmlformats.org/officeDocument/2006/relationships/slideLayout" Target="../slideLayouts/slideLayout16.xml"/><Relationship Id="rId5" Type="http://schemas.openxmlformats.org/officeDocument/2006/relationships/image" Target="../media/image39.jpg"/><Relationship Id="rId4" Type="http://schemas.openxmlformats.org/officeDocument/2006/relationships/image" Target="../media/image38.jpg"/></Relationships>
</file>

<file path=ppt/slides/_rels/slide11.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hyperlink" Target="https://www.archdaily.com/923100/bringing-the-outdoors-inside-the-benefits-of-biophilia-in-architecture-and-interior-spaces?ad_campaign=normal-tag" TargetMode="External"/><Relationship Id="rId2" Type="http://schemas.openxmlformats.org/officeDocument/2006/relationships/hyperlink" Target="https://gbdmagazine.com/singapore-hospital/" TargetMode="External"/><Relationship Id="rId1" Type="http://schemas.openxmlformats.org/officeDocument/2006/relationships/slideLayout" Target="../slideLayouts/slideLayout16.xml"/><Relationship Id="rId5" Type="http://schemas.openxmlformats.org/officeDocument/2006/relationships/image" Target="../media/image43.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hyperlink" Target="https://www.archdaily.com/1019661/how-do-the-7-principles-of-universal-design-help-us-create-better-architecture?ad_campaign=normal-tag" TargetMode="External"/><Relationship Id="rId1" Type="http://schemas.openxmlformats.org/officeDocument/2006/relationships/slideLayout" Target="../slideLayouts/slideLayout16.xml"/><Relationship Id="rId5" Type="http://schemas.openxmlformats.org/officeDocument/2006/relationships/image" Target="../media/image46.jpg"/><Relationship Id="rId4" Type="http://schemas.openxmlformats.org/officeDocument/2006/relationships/image" Target="../media/image45.jpg"/></Relationships>
</file>

<file path=ppt/slides/_rels/slide14.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hyperlink" Target="https://www.archdaily.com/881511/bund-finance-centre-foster-plus-partners-plus-heatherwick-studio" TargetMode="External"/><Relationship Id="rId1" Type="http://schemas.openxmlformats.org/officeDocument/2006/relationships/slideLayout" Target="../slideLayouts/slideLayout16.xml"/><Relationship Id="rId6" Type="http://schemas.openxmlformats.org/officeDocument/2006/relationships/image" Target="../media/image50.jpg"/><Relationship Id="rId5" Type="http://schemas.openxmlformats.org/officeDocument/2006/relationships/image" Target="../media/image49.jpg"/><Relationship Id="rId4" Type="http://schemas.openxmlformats.org/officeDocument/2006/relationships/image" Target="../media/image48.jpg"/></Relationships>
</file>

<file path=ppt/slides/_rels/slide15.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jp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hyperlink" Target="https://www.stevenholl.com/architectonics-of-music/" TargetMode="External"/><Relationship Id="rId2" Type="http://schemas.openxmlformats.org/officeDocument/2006/relationships/hyperlink" Target="https://www.archdaily.com/925219/steven-holl-i-am-interested-in-architecture-that-speaks-to-the-soul" TargetMode="External"/><Relationship Id="rId1" Type="http://schemas.openxmlformats.org/officeDocument/2006/relationships/slideLayout" Target="../slideLayouts/slideLayout16.xml"/><Relationship Id="rId6" Type="http://schemas.openxmlformats.org/officeDocument/2006/relationships/image" Target="../media/image55.jpg"/><Relationship Id="rId5" Type="http://schemas.openxmlformats.org/officeDocument/2006/relationships/image" Target="../media/image54.jpg"/><Relationship Id="rId4" Type="http://schemas.openxmlformats.org/officeDocument/2006/relationships/image" Target="../media/image5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png"/><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3" Type="http://schemas.openxmlformats.org/officeDocument/2006/relationships/hyperlink" Target="https://www.oma.com/projects" TargetMode="External"/><Relationship Id="rId2" Type="http://schemas.openxmlformats.org/officeDocument/2006/relationships/hyperlink" Target="https://www.zaha-hadid.com/archive/?type=architecture" TargetMode="External"/><Relationship Id="rId1" Type="http://schemas.openxmlformats.org/officeDocument/2006/relationships/slideLayout" Target="../slideLayouts/slideLayout16.xml"/><Relationship Id="rId6" Type="http://schemas.openxmlformats.org/officeDocument/2006/relationships/hyperlink" Target="https://www.scribd.com/document/383339569/VCE-Technical-Drawing-Specs" TargetMode="External"/><Relationship Id="rId5" Type="http://schemas.openxmlformats.org/officeDocument/2006/relationships/hyperlink" Target="https://www.archdaily.com/" TargetMode="External"/><Relationship Id="rId4" Type="http://schemas.openxmlformats.org/officeDocument/2006/relationships/hyperlink" Target="https://www.pinterest.com/"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037F766-F5AA-C743-82FA-9221F693F5C7}"/>
              </a:ext>
            </a:extLst>
          </p:cNvPr>
          <p:cNvSpPr>
            <a:spLocks noGrp="1"/>
          </p:cNvSpPr>
          <p:nvPr>
            <p:ph type="ctrTitle"/>
          </p:nvPr>
        </p:nvSpPr>
        <p:spPr>
          <a:xfrm>
            <a:off x="599440" y="1832433"/>
            <a:ext cx="6291512" cy="1479648"/>
          </a:xfrm>
        </p:spPr>
        <p:txBody>
          <a:bodyPr lIns="0" tIns="0" rIns="0" bIns="0"/>
          <a:lstStyle/>
          <a:p>
            <a:r>
              <a:rPr lang="en-US" dirty="0"/>
              <a:t>Session 5</a:t>
            </a:r>
          </a:p>
        </p:txBody>
      </p:sp>
      <p:sp>
        <p:nvSpPr>
          <p:cNvPr id="10" name="Subtitle 2">
            <a:extLst>
              <a:ext uri="{FF2B5EF4-FFF2-40B4-BE49-F238E27FC236}">
                <a16:creationId xmlns:a16="http://schemas.microsoft.com/office/drawing/2014/main" id="{2122BAEA-8E13-DA41-A1A3-099D1631A6AE}"/>
              </a:ext>
            </a:extLst>
          </p:cNvPr>
          <p:cNvSpPr>
            <a:spLocks noGrp="1"/>
          </p:cNvSpPr>
          <p:nvPr>
            <p:ph type="subTitle" idx="1"/>
          </p:nvPr>
        </p:nvSpPr>
        <p:spPr>
          <a:xfrm>
            <a:off x="599441" y="3259667"/>
            <a:ext cx="5069840" cy="990115"/>
          </a:xfrm>
        </p:spPr>
        <p:txBody>
          <a:bodyPr lIns="0" tIns="0" rIns="0" bIns="0"/>
          <a:lstStyle/>
          <a:p>
            <a:r>
              <a:rPr lang="en-US" dirty="0"/>
              <a:t>NAD1001: INTRODUCTION TO ARCHITECTURAL DESIGN</a:t>
            </a:r>
          </a:p>
        </p:txBody>
      </p:sp>
    </p:spTree>
    <p:extLst>
      <p:ext uri="{BB962C8B-B14F-4D97-AF65-F5344CB8AC3E}">
        <p14:creationId xmlns:p14="http://schemas.microsoft.com/office/powerpoint/2010/main" val="2693254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78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06AEAD-A831-6EE1-C084-F7D59CF07957}"/>
              </a:ext>
            </a:extLst>
          </p:cNvPr>
          <p:cNvSpPr>
            <a:spLocks noGrp="1"/>
          </p:cNvSpPr>
          <p:nvPr>
            <p:ph type="body" sz="half" idx="2"/>
          </p:nvPr>
        </p:nvSpPr>
        <p:spPr>
          <a:xfrm>
            <a:off x="399737" y="1210220"/>
            <a:ext cx="11459536" cy="4437560"/>
          </a:xfrm>
        </p:spPr>
        <p:txBody>
          <a:bodyPr>
            <a:normAutofit/>
          </a:bodyPr>
          <a:lstStyle/>
          <a:p>
            <a:pPr marL="342900" indent="-342900">
              <a:buFont typeface="Arial" panose="020B0604020202020204" pitchFamily="34" charset="0"/>
              <a:buChar char="•"/>
            </a:pPr>
            <a:r>
              <a:rPr lang="en-AU" dirty="0"/>
              <a:t>We have learnt a lot about pre-design and initial design, including design principles, site analysis, site plan, precedent case study, concept and massing… </a:t>
            </a:r>
          </a:p>
          <a:p>
            <a:pPr marL="342900" indent="-342900">
              <a:buFont typeface="Arial" panose="020B0604020202020204" pitchFamily="34" charset="0"/>
              <a:buChar char="•"/>
            </a:pPr>
            <a:r>
              <a:rPr lang="en-AU" dirty="0"/>
              <a:t>Now we are entering the sketch design/design development phase, where we can explore more design methods to refine the project…</a:t>
            </a:r>
          </a:p>
        </p:txBody>
      </p:sp>
      <p:sp>
        <p:nvSpPr>
          <p:cNvPr id="2" name="Title 1">
            <a:extLst>
              <a:ext uri="{FF2B5EF4-FFF2-40B4-BE49-F238E27FC236}">
                <a16:creationId xmlns:a16="http://schemas.microsoft.com/office/drawing/2014/main" id="{1731D9FF-7602-5F27-7A7F-F0CACFB17FFE}"/>
              </a:ext>
            </a:extLst>
          </p:cNvPr>
          <p:cNvSpPr>
            <a:spLocks noGrp="1"/>
          </p:cNvSpPr>
          <p:nvPr>
            <p:ph type="title"/>
          </p:nvPr>
        </p:nvSpPr>
        <p:spPr/>
        <p:txBody>
          <a:bodyPr/>
          <a:lstStyle/>
          <a:p>
            <a:r>
              <a:rPr lang="en-AU" dirty="0"/>
              <a:t>Quick Revision </a:t>
            </a:r>
          </a:p>
        </p:txBody>
      </p:sp>
      <p:pic>
        <p:nvPicPr>
          <p:cNvPr id="5" name="Picture 4" descr="A collage of drawings of buildings and buildings&#10;&#10;Description automatically generated">
            <a:extLst>
              <a:ext uri="{FF2B5EF4-FFF2-40B4-BE49-F238E27FC236}">
                <a16:creationId xmlns:a16="http://schemas.microsoft.com/office/drawing/2014/main" id="{A2BE2EAC-C055-FFB1-4D83-D9150FA8EB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6796" y="2749425"/>
            <a:ext cx="6351659" cy="3058206"/>
          </a:xfrm>
          <a:prstGeom prst="rect">
            <a:avLst/>
          </a:prstGeom>
        </p:spPr>
      </p:pic>
      <p:sp>
        <p:nvSpPr>
          <p:cNvPr id="4" name="TextBox 3">
            <a:extLst>
              <a:ext uri="{FF2B5EF4-FFF2-40B4-BE49-F238E27FC236}">
                <a16:creationId xmlns:a16="http://schemas.microsoft.com/office/drawing/2014/main" id="{E707E8F9-62D5-A77E-B1A6-B23F9E27169C}"/>
              </a:ext>
            </a:extLst>
          </p:cNvPr>
          <p:cNvSpPr txBox="1"/>
          <p:nvPr/>
        </p:nvSpPr>
        <p:spPr>
          <a:xfrm>
            <a:off x="8127461" y="5877079"/>
            <a:ext cx="2119992"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200" dirty="0"/>
              <a:t>Source: Pinterest</a:t>
            </a:r>
          </a:p>
        </p:txBody>
      </p:sp>
    </p:spTree>
    <p:extLst>
      <p:ext uri="{BB962C8B-B14F-4D97-AF65-F5344CB8AC3E}">
        <p14:creationId xmlns:p14="http://schemas.microsoft.com/office/powerpoint/2010/main" val="2766593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E9AB01-D5B5-CB5B-0576-B25DC0E3B2C1}"/>
              </a:ext>
            </a:extLst>
          </p:cNvPr>
          <p:cNvSpPr>
            <a:spLocks noGrp="1"/>
          </p:cNvSpPr>
          <p:nvPr>
            <p:ph type="body" sz="half" idx="2"/>
          </p:nvPr>
        </p:nvSpPr>
        <p:spPr>
          <a:xfrm>
            <a:off x="399737" y="1125375"/>
            <a:ext cx="11459536" cy="4437560"/>
          </a:xfrm>
        </p:spPr>
        <p:txBody>
          <a:bodyPr/>
          <a:lstStyle/>
          <a:p>
            <a:r>
              <a:rPr lang="en-US" b="1" dirty="0"/>
              <a:t>Traditional vs. Modern</a:t>
            </a:r>
            <a:r>
              <a:rPr lang="en-US" dirty="0"/>
              <a:t>: Traditional methods relied heavily on hand-drawing and physical models, while modern methods incorporate digital technologies.</a:t>
            </a:r>
            <a:endParaRPr lang="en-AU" dirty="0"/>
          </a:p>
        </p:txBody>
      </p:sp>
      <p:sp>
        <p:nvSpPr>
          <p:cNvPr id="2" name="Title 1">
            <a:extLst>
              <a:ext uri="{FF2B5EF4-FFF2-40B4-BE49-F238E27FC236}">
                <a16:creationId xmlns:a16="http://schemas.microsoft.com/office/drawing/2014/main" id="{7E9A43A8-2FF2-364D-2996-FD4F218C8FDC}"/>
              </a:ext>
            </a:extLst>
          </p:cNvPr>
          <p:cNvSpPr>
            <a:spLocks noGrp="1"/>
          </p:cNvSpPr>
          <p:nvPr>
            <p:ph type="title"/>
          </p:nvPr>
        </p:nvSpPr>
        <p:spPr/>
        <p:txBody>
          <a:bodyPr/>
          <a:lstStyle/>
          <a:p>
            <a:r>
              <a:rPr lang="en-AU" dirty="0"/>
              <a:t>Design Method</a:t>
            </a:r>
          </a:p>
        </p:txBody>
      </p:sp>
      <p:pic>
        <p:nvPicPr>
          <p:cNvPr id="7" name="Picture 6" descr="A group of people working on a long table&#10;&#10;Description automatically generated">
            <a:extLst>
              <a:ext uri="{FF2B5EF4-FFF2-40B4-BE49-F238E27FC236}">
                <a16:creationId xmlns:a16="http://schemas.microsoft.com/office/drawing/2014/main" id="{887E8970-5BED-AEA3-7AC2-86286245F4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0203" y="1841160"/>
            <a:ext cx="6331594" cy="3764144"/>
          </a:xfrm>
          <a:prstGeom prst="rect">
            <a:avLst/>
          </a:prstGeom>
        </p:spPr>
      </p:pic>
      <p:sp>
        <p:nvSpPr>
          <p:cNvPr id="4" name="TextBox 3">
            <a:extLst>
              <a:ext uri="{FF2B5EF4-FFF2-40B4-BE49-F238E27FC236}">
                <a16:creationId xmlns:a16="http://schemas.microsoft.com/office/drawing/2014/main" id="{FE19B840-CF42-5293-DEB3-E26DED4852B1}"/>
              </a:ext>
            </a:extLst>
          </p:cNvPr>
          <p:cNvSpPr txBox="1"/>
          <p:nvPr/>
        </p:nvSpPr>
        <p:spPr>
          <a:xfrm>
            <a:off x="7959093" y="5762775"/>
            <a:ext cx="2119992"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200" dirty="0"/>
              <a:t>Source: Pinterest</a:t>
            </a:r>
          </a:p>
        </p:txBody>
      </p:sp>
    </p:spTree>
    <p:extLst>
      <p:ext uri="{BB962C8B-B14F-4D97-AF65-F5344CB8AC3E}">
        <p14:creationId xmlns:p14="http://schemas.microsoft.com/office/powerpoint/2010/main" val="1778781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21438-62FE-7EE9-5E9F-3854265A2E13}"/>
              </a:ext>
            </a:extLst>
          </p:cNvPr>
          <p:cNvSpPr>
            <a:spLocks noGrp="1"/>
          </p:cNvSpPr>
          <p:nvPr>
            <p:ph type="body" sz="half" idx="2"/>
          </p:nvPr>
        </p:nvSpPr>
        <p:spPr>
          <a:xfrm>
            <a:off x="399737" y="1351503"/>
            <a:ext cx="5185048" cy="4383753"/>
          </a:xfrm>
        </p:spPr>
        <p:txBody>
          <a:bodyPr>
            <a:normAutofit/>
          </a:bodyPr>
          <a:lstStyle/>
          <a:p>
            <a:pPr marL="342900" indent="-342900">
              <a:buFont typeface="Arial" panose="020B0604020202020204" pitchFamily="34" charset="0"/>
              <a:buChar char="•"/>
            </a:pPr>
            <a:r>
              <a:rPr lang="en-US" dirty="0"/>
              <a:t>Brainstorming and ideation techniques.</a:t>
            </a:r>
          </a:p>
          <a:p>
            <a:pPr marL="342900" indent="-342900">
              <a:buFont typeface="Arial" panose="020B0604020202020204" pitchFamily="34" charset="0"/>
              <a:buChar char="•"/>
            </a:pPr>
            <a:r>
              <a:rPr lang="en-US" dirty="0"/>
              <a:t>Concept mapping and mood board with sketching.</a:t>
            </a:r>
          </a:p>
          <a:p>
            <a:pPr marL="342900" indent="-342900">
              <a:buFont typeface="Arial" panose="020B0604020202020204" pitchFamily="34" charset="0"/>
              <a:buChar char="•"/>
            </a:pPr>
            <a:r>
              <a:rPr lang="en-US" altLang="zh-CN" dirty="0"/>
              <a:t>Guggenheim Museum by Frank Gehry</a:t>
            </a:r>
            <a:endParaRPr lang="en-AU" dirty="0"/>
          </a:p>
        </p:txBody>
      </p:sp>
      <p:sp>
        <p:nvSpPr>
          <p:cNvPr id="2" name="Title 1">
            <a:extLst>
              <a:ext uri="{FF2B5EF4-FFF2-40B4-BE49-F238E27FC236}">
                <a16:creationId xmlns:a16="http://schemas.microsoft.com/office/drawing/2014/main" id="{89B7C694-C155-3F89-D66A-F6C19C74DDC1}"/>
              </a:ext>
            </a:extLst>
          </p:cNvPr>
          <p:cNvSpPr>
            <a:spLocks noGrp="1"/>
          </p:cNvSpPr>
          <p:nvPr>
            <p:ph type="title"/>
          </p:nvPr>
        </p:nvSpPr>
        <p:spPr/>
        <p:txBody>
          <a:bodyPr/>
          <a:lstStyle/>
          <a:p>
            <a:r>
              <a:rPr lang="en-AU" dirty="0"/>
              <a:t>Conceptual Design</a:t>
            </a:r>
          </a:p>
        </p:txBody>
      </p:sp>
      <p:pic>
        <p:nvPicPr>
          <p:cNvPr id="10" name="Picture 9" descr="A drawing of a building and a sketch of a building&#10;&#10;Description automatically generated">
            <a:extLst>
              <a:ext uri="{FF2B5EF4-FFF2-40B4-BE49-F238E27FC236}">
                <a16:creationId xmlns:a16="http://schemas.microsoft.com/office/drawing/2014/main" id="{A73B24CE-EFD0-2FD1-7A26-1D605B987A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5851" y="343837"/>
            <a:ext cx="5516747" cy="5516747"/>
          </a:xfrm>
          <a:prstGeom prst="rect">
            <a:avLst/>
          </a:prstGeom>
        </p:spPr>
      </p:pic>
      <p:sp>
        <p:nvSpPr>
          <p:cNvPr id="4" name="TextBox 3">
            <a:extLst>
              <a:ext uri="{FF2B5EF4-FFF2-40B4-BE49-F238E27FC236}">
                <a16:creationId xmlns:a16="http://schemas.microsoft.com/office/drawing/2014/main" id="{4743A80F-2FB6-5F0F-F3E2-A2967A368000}"/>
              </a:ext>
            </a:extLst>
          </p:cNvPr>
          <p:cNvSpPr txBox="1"/>
          <p:nvPr/>
        </p:nvSpPr>
        <p:spPr>
          <a:xfrm>
            <a:off x="10235018" y="5920059"/>
            <a:ext cx="2119992"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4192583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E196C-91C6-DDD0-C7AF-47BBB8D461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C405DC-CC99-7237-231A-96D39AE23E98}"/>
              </a:ext>
            </a:extLst>
          </p:cNvPr>
          <p:cNvSpPr>
            <a:spLocks noGrp="1"/>
          </p:cNvSpPr>
          <p:nvPr>
            <p:ph type="body" sz="half" idx="2"/>
          </p:nvPr>
        </p:nvSpPr>
        <p:spPr>
          <a:xfrm>
            <a:off x="433337" y="981856"/>
            <a:ext cx="5772463" cy="4843586"/>
          </a:xfrm>
        </p:spPr>
        <p:txBody>
          <a:bodyPr>
            <a:normAutofit/>
          </a:bodyPr>
          <a:lstStyle/>
          <a:p>
            <a:pPr marL="342900" indent="-342900">
              <a:buFont typeface="Arial" panose="020B0604020202020204" pitchFamily="34" charset="0"/>
              <a:buChar char="•"/>
            </a:pPr>
            <a:r>
              <a:rPr lang="en-US" dirty="0"/>
              <a:t>Design using model making as the primary tool.</a:t>
            </a:r>
          </a:p>
          <a:p>
            <a:pPr marL="342900" indent="-342900">
              <a:buFont typeface="Arial" panose="020B0604020202020204" pitchFamily="34" charset="0"/>
              <a:buChar char="•"/>
            </a:pPr>
            <a:r>
              <a:rPr lang="en-US" dirty="0"/>
              <a:t>Produce iterations of model and explore the design.</a:t>
            </a:r>
          </a:p>
          <a:p>
            <a:pPr marL="342900" indent="-342900">
              <a:buFont typeface="Arial" panose="020B0604020202020204" pitchFamily="34" charset="0"/>
              <a:buChar char="•"/>
            </a:pPr>
            <a:r>
              <a:rPr lang="en-US" altLang="zh-CN" dirty="0"/>
              <a:t>Zaha Hadid Design’s art installation on ‘City of Towers’ derives </a:t>
            </a:r>
            <a:r>
              <a:rPr lang="en-US" dirty="0"/>
              <a:t>from a singular concept, the many possibilities and iterations for a tower are showcased, mapping its adaptations and development process.</a:t>
            </a:r>
            <a:endParaRPr lang="en-AU" dirty="0"/>
          </a:p>
          <a:p>
            <a:endParaRPr lang="en-AU" dirty="0"/>
          </a:p>
        </p:txBody>
      </p:sp>
      <p:sp>
        <p:nvSpPr>
          <p:cNvPr id="2" name="Title 1">
            <a:extLst>
              <a:ext uri="{FF2B5EF4-FFF2-40B4-BE49-F238E27FC236}">
                <a16:creationId xmlns:a16="http://schemas.microsoft.com/office/drawing/2014/main" id="{B0A27BFA-42FF-A3B9-5370-725796137346}"/>
              </a:ext>
            </a:extLst>
          </p:cNvPr>
          <p:cNvSpPr>
            <a:spLocks noGrp="1"/>
          </p:cNvSpPr>
          <p:nvPr>
            <p:ph type="title"/>
          </p:nvPr>
        </p:nvSpPr>
        <p:spPr>
          <a:xfrm>
            <a:off x="399737" y="257285"/>
            <a:ext cx="11459535" cy="443198"/>
          </a:xfrm>
        </p:spPr>
        <p:txBody>
          <a:bodyPr/>
          <a:lstStyle/>
          <a:p>
            <a:r>
              <a:rPr lang="en-AU" dirty="0"/>
              <a:t>Design by Making</a:t>
            </a:r>
          </a:p>
        </p:txBody>
      </p:sp>
      <p:pic>
        <p:nvPicPr>
          <p:cNvPr id="5" name="Picture 4" descr="A diagram of a diagram of a block&#10;&#10;Description automatically generated with medium confidence">
            <a:extLst>
              <a:ext uri="{FF2B5EF4-FFF2-40B4-BE49-F238E27FC236}">
                <a16:creationId xmlns:a16="http://schemas.microsoft.com/office/drawing/2014/main" id="{6917B083-E50B-3C6E-70EC-C5B1B27AD2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6209" y="0"/>
            <a:ext cx="4524096" cy="3010580"/>
          </a:xfrm>
          <a:prstGeom prst="rect">
            <a:avLst/>
          </a:prstGeom>
        </p:spPr>
      </p:pic>
      <p:pic>
        <p:nvPicPr>
          <p:cNvPr id="6" name="Picture 5">
            <a:extLst>
              <a:ext uri="{FF2B5EF4-FFF2-40B4-BE49-F238E27FC236}">
                <a16:creationId xmlns:a16="http://schemas.microsoft.com/office/drawing/2014/main" id="{405F7A14-6D5F-EDED-6F6C-9370A03EA6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3215" y="3665876"/>
            <a:ext cx="3921658" cy="2426848"/>
          </a:xfrm>
          <a:prstGeom prst="rect">
            <a:avLst/>
          </a:prstGeom>
        </p:spPr>
      </p:pic>
      <p:pic>
        <p:nvPicPr>
          <p:cNvPr id="7" name="Picture 6" descr="A group of white objects&#10;&#10;Description automatically generated">
            <a:extLst>
              <a:ext uri="{FF2B5EF4-FFF2-40B4-BE49-F238E27FC236}">
                <a16:creationId xmlns:a16="http://schemas.microsoft.com/office/drawing/2014/main" id="{4D18D933-5544-E35D-6917-7B031EA9F9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2076" y="2944239"/>
            <a:ext cx="2672618" cy="2672618"/>
          </a:xfrm>
          <a:prstGeom prst="rect">
            <a:avLst/>
          </a:prstGeom>
        </p:spPr>
      </p:pic>
      <p:sp>
        <p:nvSpPr>
          <p:cNvPr id="4" name="TextBox 3">
            <a:extLst>
              <a:ext uri="{FF2B5EF4-FFF2-40B4-BE49-F238E27FC236}">
                <a16:creationId xmlns:a16="http://schemas.microsoft.com/office/drawing/2014/main" id="{DBCA2A6B-FC40-8EEF-0E1E-1054AD0543D0}"/>
              </a:ext>
            </a:extLst>
          </p:cNvPr>
          <p:cNvSpPr txBox="1"/>
          <p:nvPr/>
        </p:nvSpPr>
        <p:spPr>
          <a:xfrm>
            <a:off x="8060068" y="5879379"/>
            <a:ext cx="4452863"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200" dirty="0"/>
              <a:t>Source: Pinterest and Zaha Hadid Architects</a:t>
            </a:r>
          </a:p>
        </p:txBody>
      </p:sp>
    </p:spTree>
    <p:extLst>
      <p:ext uri="{BB962C8B-B14F-4D97-AF65-F5344CB8AC3E}">
        <p14:creationId xmlns:p14="http://schemas.microsoft.com/office/powerpoint/2010/main" val="3545574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C3F578-0C34-C24C-DF37-AFB9F098E955}"/>
              </a:ext>
            </a:extLst>
          </p:cNvPr>
          <p:cNvSpPr>
            <a:spLocks noGrp="1"/>
          </p:cNvSpPr>
          <p:nvPr>
            <p:ph type="body" sz="half" idx="2"/>
          </p:nvPr>
        </p:nvSpPr>
        <p:spPr>
          <a:xfrm>
            <a:off x="266628" y="1196343"/>
            <a:ext cx="6377240" cy="1500323"/>
          </a:xfrm>
        </p:spPr>
        <p:txBody>
          <a:bodyPr>
            <a:normAutofit/>
          </a:bodyPr>
          <a:lstStyle/>
          <a:p>
            <a:pPr marL="342900" indent="-342900">
              <a:buFont typeface="Arial" panose="020B0604020202020204" pitchFamily="34" charset="0"/>
              <a:buChar char="•"/>
            </a:pPr>
            <a:r>
              <a:rPr lang="en-US" dirty="0"/>
              <a:t>Use of diagrams and flowcharts to </a:t>
            </a:r>
            <a:r>
              <a:rPr lang="en-US" dirty="0" err="1"/>
              <a:t>analyse</a:t>
            </a:r>
            <a:r>
              <a:rPr lang="en-US" dirty="0"/>
              <a:t> site and user data.</a:t>
            </a:r>
          </a:p>
          <a:p>
            <a:pPr marL="342900" indent="-342900">
              <a:buFont typeface="Arial" panose="020B0604020202020204" pitchFamily="34" charset="0"/>
              <a:buChar char="•"/>
            </a:pPr>
            <a:r>
              <a:rPr lang="en-US" dirty="0"/>
              <a:t>Strategically place and incorporate all functions within the building.</a:t>
            </a:r>
          </a:p>
        </p:txBody>
      </p:sp>
      <p:sp>
        <p:nvSpPr>
          <p:cNvPr id="2" name="Title 1">
            <a:extLst>
              <a:ext uri="{FF2B5EF4-FFF2-40B4-BE49-F238E27FC236}">
                <a16:creationId xmlns:a16="http://schemas.microsoft.com/office/drawing/2014/main" id="{A39EDC39-CB73-6D10-B585-89645CD921A2}"/>
              </a:ext>
            </a:extLst>
          </p:cNvPr>
          <p:cNvSpPr>
            <a:spLocks noGrp="1"/>
          </p:cNvSpPr>
          <p:nvPr>
            <p:ph type="title"/>
          </p:nvPr>
        </p:nvSpPr>
        <p:spPr/>
        <p:txBody>
          <a:bodyPr/>
          <a:lstStyle/>
          <a:p>
            <a:r>
              <a:rPr lang="en-AU"/>
              <a:t>Analytical Design</a:t>
            </a:r>
            <a:endParaRPr lang="en-AU" dirty="0"/>
          </a:p>
        </p:txBody>
      </p:sp>
      <p:pic>
        <p:nvPicPr>
          <p:cNvPr id="11" name="Picture 10">
            <a:extLst>
              <a:ext uri="{FF2B5EF4-FFF2-40B4-BE49-F238E27FC236}">
                <a16:creationId xmlns:a16="http://schemas.microsoft.com/office/drawing/2014/main" id="{912B529D-12A8-EB27-61C1-E2AA8831D7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727" y="3100658"/>
            <a:ext cx="2801265" cy="2111464"/>
          </a:xfrm>
          <a:prstGeom prst="rect">
            <a:avLst/>
          </a:prstGeom>
        </p:spPr>
      </p:pic>
      <p:pic>
        <p:nvPicPr>
          <p:cNvPr id="14" name="Picture 13">
            <a:extLst>
              <a:ext uri="{FF2B5EF4-FFF2-40B4-BE49-F238E27FC236}">
                <a16:creationId xmlns:a16="http://schemas.microsoft.com/office/drawing/2014/main" id="{EBC00C4A-5AE3-EE02-FD17-7E553B0FB4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3992" y="3044925"/>
            <a:ext cx="2801266" cy="2819941"/>
          </a:xfrm>
          <a:prstGeom prst="rect">
            <a:avLst/>
          </a:prstGeom>
        </p:spPr>
      </p:pic>
      <p:pic>
        <p:nvPicPr>
          <p:cNvPr id="16" name="Picture 15">
            <a:extLst>
              <a:ext uri="{FF2B5EF4-FFF2-40B4-BE49-F238E27FC236}">
                <a16:creationId xmlns:a16="http://schemas.microsoft.com/office/drawing/2014/main" id="{DDEA9EB9-652D-4AAB-5643-35E593B1EF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5701" y="69180"/>
            <a:ext cx="4517735" cy="3283159"/>
          </a:xfrm>
          <a:prstGeom prst="rect">
            <a:avLst/>
          </a:prstGeom>
        </p:spPr>
      </p:pic>
      <p:pic>
        <p:nvPicPr>
          <p:cNvPr id="18" name="Picture 17" descr="A large building in a city&#10;&#10;Description automatically generated">
            <a:extLst>
              <a:ext uri="{FF2B5EF4-FFF2-40B4-BE49-F238E27FC236}">
                <a16:creationId xmlns:a16="http://schemas.microsoft.com/office/drawing/2014/main" id="{DFCFE1CA-729F-E053-EAE3-9B8C6BC1BD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4243" y="3352340"/>
            <a:ext cx="4660652" cy="2868094"/>
          </a:xfrm>
          <a:prstGeom prst="rect">
            <a:avLst/>
          </a:prstGeom>
        </p:spPr>
      </p:pic>
      <p:sp>
        <p:nvSpPr>
          <p:cNvPr id="4" name="TextBox 3">
            <a:extLst>
              <a:ext uri="{FF2B5EF4-FFF2-40B4-BE49-F238E27FC236}">
                <a16:creationId xmlns:a16="http://schemas.microsoft.com/office/drawing/2014/main" id="{6B149729-F3A5-1FC3-15F7-8F915EAD09E2}"/>
              </a:ext>
            </a:extLst>
          </p:cNvPr>
          <p:cNvSpPr txBox="1"/>
          <p:nvPr/>
        </p:nvSpPr>
        <p:spPr>
          <a:xfrm>
            <a:off x="266628" y="5568663"/>
            <a:ext cx="2119992"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200" dirty="0"/>
              <a:t>Source: OMA</a:t>
            </a:r>
          </a:p>
        </p:txBody>
      </p:sp>
    </p:spTree>
    <p:extLst>
      <p:ext uri="{BB962C8B-B14F-4D97-AF65-F5344CB8AC3E}">
        <p14:creationId xmlns:p14="http://schemas.microsoft.com/office/powerpoint/2010/main" val="2334119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3F96D3-1764-1E9F-BB81-43295E7862A2}"/>
              </a:ext>
            </a:extLst>
          </p:cNvPr>
          <p:cNvSpPr>
            <a:spLocks noGrp="1"/>
          </p:cNvSpPr>
          <p:nvPr>
            <p:ph type="body" sz="half" idx="2"/>
          </p:nvPr>
        </p:nvSpPr>
        <p:spPr>
          <a:xfrm>
            <a:off x="399737" y="1503307"/>
            <a:ext cx="2554478" cy="4141355"/>
          </a:xfrm>
        </p:spPr>
        <p:txBody>
          <a:bodyPr>
            <a:normAutofit/>
          </a:bodyPr>
          <a:lstStyle/>
          <a:p>
            <a:pPr marL="342900" indent="-342900">
              <a:buFont typeface="Arial" panose="020B0604020202020204" pitchFamily="34" charset="0"/>
              <a:buChar char="•"/>
            </a:pPr>
            <a:r>
              <a:rPr lang="en-US" dirty="0"/>
              <a:t>Parametric and algorithmic design for complex geometries and adaptive structures.</a:t>
            </a:r>
          </a:p>
          <a:p>
            <a:pPr marL="342900" indent="-342900">
              <a:buFont typeface="Arial" panose="020B0604020202020204" pitchFamily="34" charset="0"/>
              <a:buChar char="•"/>
            </a:pPr>
            <a:r>
              <a:rPr lang="en-US" dirty="0"/>
              <a:t>Simulation tools for energy modeling and structural analysis.</a:t>
            </a:r>
          </a:p>
          <a:p>
            <a:pPr marL="342900" indent="-342900">
              <a:buFont typeface="Arial" panose="020B0604020202020204" pitchFamily="34" charset="0"/>
              <a:buChar char="•"/>
            </a:pPr>
            <a:r>
              <a:rPr lang="en-US" dirty="0"/>
              <a:t>Sendai </a:t>
            </a:r>
            <a:r>
              <a:rPr lang="en-US" dirty="0" err="1"/>
              <a:t>Mediatheque</a:t>
            </a:r>
            <a:r>
              <a:rPr lang="en-US" dirty="0"/>
              <a:t> by Toyo Ito</a:t>
            </a:r>
            <a:endParaRPr lang="en-AU" dirty="0"/>
          </a:p>
        </p:txBody>
      </p:sp>
      <p:sp>
        <p:nvSpPr>
          <p:cNvPr id="2" name="Title 1">
            <a:extLst>
              <a:ext uri="{FF2B5EF4-FFF2-40B4-BE49-F238E27FC236}">
                <a16:creationId xmlns:a16="http://schemas.microsoft.com/office/drawing/2014/main" id="{3BCC642A-4CD3-C442-EA85-1E15419091BD}"/>
              </a:ext>
            </a:extLst>
          </p:cNvPr>
          <p:cNvSpPr>
            <a:spLocks noGrp="1"/>
          </p:cNvSpPr>
          <p:nvPr>
            <p:ph type="title"/>
          </p:nvPr>
        </p:nvSpPr>
        <p:spPr/>
        <p:txBody>
          <a:bodyPr/>
          <a:lstStyle/>
          <a:p>
            <a:r>
              <a:rPr lang="en-AU"/>
              <a:t>Computational Design</a:t>
            </a:r>
            <a:endParaRPr lang="en-AU" dirty="0"/>
          </a:p>
        </p:txBody>
      </p:sp>
      <p:pic>
        <p:nvPicPr>
          <p:cNvPr id="6" name="Picture 5">
            <a:extLst>
              <a:ext uri="{FF2B5EF4-FFF2-40B4-BE49-F238E27FC236}">
                <a16:creationId xmlns:a16="http://schemas.microsoft.com/office/drawing/2014/main" id="{F4DEA097-FA58-41E4-F41A-0A2EEEE49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9995" y="343837"/>
            <a:ext cx="3191003" cy="2128374"/>
          </a:xfrm>
          <a:prstGeom prst="rect">
            <a:avLst/>
          </a:prstGeom>
        </p:spPr>
      </p:pic>
      <p:pic>
        <p:nvPicPr>
          <p:cNvPr id="8" name="Picture 7">
            <a:extLst>
              <a:ext uri="{FF2B5EF4-FFF2-40B4-BE49-F238E27FC236}">
                <a16:creationId xmlns:a16="http://schemas.microsoft.com/office/drawing/2014/main" id="{A4ABC997-5F97-52BD-BBCB-C9FCB68C02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9995" y="2795523"/>
            <a:ext cx="3700718" cy="2768137"/>
          </a:xfrm>
          <a:prstGeom prst="rect">
            <a:avLst/>
          </a:prstGeom>
        </p:spPr>
      </p:pic>
      <p:pic>
        <p:nvPicPr>
          <p:cNvPr id="10" name="Picture 9">
            <a:extLst>
              <a:ext uri="{FF2B5EF4-FFF2-40B4-BE49-F238E27FC236}">
                <a16:creationId xmlns:a16="http://schemas.microsoft.com/office/drawing/2014/main" id="{F29ECDA3-7428-D5B6-C60E-3D5479C647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81722" y="1201266"/>
            <a:ext cx="4132814" cy="4501085"/>
          </a:xfrm>
          <a:prstGeom prst="rect">
            <a:avLst/>
          </a:prstGeom>
        </p:spPr>
      </p:pic>
      <p:sp>
        <p:nvSpPr>
          <p:cNvPr id="4" name="TextBox 3">
            <a:extLst>
              <a:ext uri="{FF2B5EF4-FFF2-40B4-BE49-F238E27FC236}">
                <a16:creationId xmlns:a16="http://schemas.microsoft.com/office/drawing/2014/main" id="{B4A4083F-A6C1-96B3-D310-00F05E218481}"/>
              </a:ext>
            </a:extLst>
          </p:cNvPr>
          <p:cNvSpPr txBox="1"/>
          <p:nvPr/>
        </p:nvSpPr>
        <p:spPr>
          <a:xfrm>
            <a:off x="10435860" y="5836940"/>
            <a:ext cx="2119992"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1416082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56A47A-B9C8-7E10-4B15-435EBCCB13D6}"/>
              </a:ext>
            </a:extLst>
          </p:cNvPr>
          <p:cNvSpPr>
            <a:spLocks noGrp="1"/>
          </p:cNvSpPr>
          <p:nvPr>
            <p:ph type="body" sz="half" idx="2"/>
          </p:nvPr>
        </p:nvSpPr>
        <p:spPr>
          <a:xfrm>
            <a:off x="399737" y="1173428"/>
            <a:ext cx="4270648" cy="4700724"/>
          </a:xfrm>
        </p:spPr>
        <p:txBody>
          <a:bodyPr>
            <a:normAutofit fontScale="92500" lnSpcReduction="10000"/>
          </a:bodyPr>
          <a:lstStyle/>
          <a:p>
            <a:pPr marL="342900" indent="-342900">
              <a:buFont typeface="Arial" panose="020B0604020202020204" pitchFamily="34" charset="0"/>
              <a:buChar char="•"/>
            </a:pPr>
            <a:r>
              <a:rPr lang="en-US" dirty="0"/>
              <a:t>Workshops and community engagement sessions.</a:t>
            </a:r>
          </a:p>
          <a:p>
            <a:pPr marL="342900" indent="-342900">
              <a:buFont typeface="Arial" panose="020B0604020202020204" pitchFamily="34" charset="0"/>
              <a:buChar char="•"/>
            </a:pPr>
            <a:r>
              <a:rPr lang="en-US" dirty="0"/>
              <a:t>Co-design practices that involve stakeholders in the design process.</a:t>
            </a:r>
          </a:p>
          <a:p>
            <a:pPr marL="342900" indent="-342900">
              <a:buFont typeface="Arial" panose="020B0604020202020204" pitchFamily="34" charset="0"/>
              <a:buChar char="•"/>
            </a:pPr>
            <a:r>
              <a:rPr lang="en-US" b="0" i="0" dirty="0">
                <a:solidFill>
                  <a:srgbClr val="303030"/>
                </a:solidFill>
                <a:effectLst/>
                <a:latin typeface="Source Sans Pro" panose="020B0503030403020204" pitchFamily="34" charset="0"/>
              </a:rPr>
              <a:t>The project for the </a:t>
            </a:r>
            <a:r>
              <a:rPr lang="en-US" b="0" i="0" u="none" strike="noStrike" dirty="0" err="1">
                <a:effectLst/>
                <a:latin typeface="Source Sans Pro" panose="020B0503030403020204" pitchFamily="34" charset="0"/>
                <a:hlinkClick r:id="rId2"/>
              </a:rPr>
              <a:t>Käpäcläjui</a:t>
            </a:r>
            <a:r>
              <a:rPr lang="en-US" b="0" i="0" u="none" strike="noStrike" dirty="0">
                <a:effectLst/>
                <a:latin typeface="Source Sans Pro" panose="020B0503030403020204" pitchFamily="34" charset="0"/>
                <a:hlinkClick r:id="rId2"/>
              </a:rPr>
              <a:t> Indigenous Training Center</a:t>
            </a:r>
            <a:r>
              <a:rPr lang="en-US" b="0" i="0" dirty="0">
                <a:solidFill>
                  <a:srgbClr val="303030"/>
                </a:solidFill>
                <a:effectLst/>
                <a:latin typeface="Source Sans Pro" panose="020B0503030403020204" pitchFamily="34" charset="0"/>
              </a:rPr>
              <a:t> in Costa Rica emerged from a series of proposals following participatory design workshops. These activities were key in fostering a sense of belonging in the community when it came to visualizing and making decisions. It was an opportunity to understand and co-create spaces that were more coherent with their surroundings and centered on the user's needs.</a:t>
            </a:r>
            <a:endParaRPr lang="en-AU" dirty="0"/>
          </a:p>
        </p:txBody>
      </p:sp>
      <p:sp>
        <p:nvSpPr>
          <p:cNvPr id="2" name="Title 1">
            <a:extLst>
              <a:ext uri="{FF2B5EF4-FFF2-40B4-BE49-F238E27FC236}">
                <a16:creationId xmlns:a16="http://schemas.microsoft.com/office/drawing/2014/main" id="{BF80274E-52D4-0A59-7768-E5EBB1D504DA}"/>
              </a:ext>
            </a:extLst>
          </p:cNvPr>
          <p:cNvSpPr>
            <a:spLocks noGrp="1"/>
          </p:cNvSpPr>
          <p:nvPr>
            <p:ph type="title"/>
          </p:nvPr>
        </p:nvSpPr>
        <p:spPr/>
        <p:txBody>
          <a:bodyPr/>
          <a:lstStyle/>
          <a:p>
            <a:r>
              <a:rPr lang="en-AU"/>
              <a:t>Participatory Design </a:t>
            </a:r>
            <a:endParaRPr lang="en-AU" dirty="0"/>
          </a:p>
        </p:txBody>
      </p:sp>
      <p:pic>
        <p:nvPicPr>
          <p:cNvPr id="5" name="Picture 4">
            <a:extLst>
              <a:ext uri="{FF2B5EF4-FFF2-40B4-BE49-F238E27FC236}">
                <a16:creationId xmlns:a16="http://schemas.microsoft.com/office/drawing/2014/main" id="{3F101303-2C5E-5173-C011-1194A343DD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5196" y="405114"/>
            <a:ext cx="3744976" cy="5660020"/>
          </a:xfrm>
          <a:prstGeom prst="rect">
            <a:avLst/>
          </a:prstGeom>
        </p:spPr>
      </p:pic>
      <p:pic>
        <p:nvPicPr>
          <p:cNvPr id="7" name="Picture 6">
            <a:extLst>
              <a:ext uri="{FF2B5EF4-FFF2-40B4-BE49-F238E27FC236}">
                <a16:creationId xmlns:a16="http://schemas.microsoft.com/office/drawing/2014/main" id="{0092FF33-5557-D871-C23E-798B41E9C9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5457" y="648182"/>
            <a:ext cx="3167743" cy="2387806"/>
          </a:xfrm>
          <a:prstGeom prst="rect">
            <a:avLst/>
          </a:prstGeom>
        </p:spPr>
      </p:pic>
      <p:pic>
        <p:nvPicPr>
          <p:cNvPr id="9" name="Picture 8">
            <a:extLst>
              <a:ext uri="{FF2B5EF4-FFF2-40B4-BE49-F238E27FC236}">
                <a16:creationId xmlns:a16="http://schemas.microsoft.com/office/drawing/2014/main" id="{62C29A5F-D344-59D8-115F-D702D9C872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46553" y="3486346"/>
            <a:ext cx="3167743" cy="2387806"/>
          </a:xfrm>
          <a:prstGeom prst="rect">
            <a:avLst/>
          </a:prstGeom>
        </p:spPr>
      </p:pic>
    </p:spTree>
    <p:extLst>
      <p:ext uri="{BB962C8B-B14F-4D97-AF65-F5344CB8AC3E}">
        <p14:creationId xmlns:p14="http://schemas.microsoft.com/office/powerpoint/2010/main" val="3594919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1F455C-3F09-8366-9C92-BF76FB4EFA82}"/>
              </a:ext>
            </a:extLst>
          </p:cNvPr>
          <p:cNvSpPr>
            <a:spLocks noGrp="1"/>
          </p:cNvSpPr>
          <p:nvPr>
            <p:ph type="body" sz="half" idx="2"/>
          </p:nvPr>
        </p:nvSpPr>
        <p:spPr>
          <a:xfrm>
            <a:off x="399737" y="1060108"/>
            <a:ext cx="4016005" cy="4814043"/>
          </a:xfrm>
        </p:spPr>
        <p:txBody>
          <a:bodyPr>
            <a:normAutofit lnSpcReduction="10000"/>
          </a:bodyPr>
          <a:lstStyle/>
          <a:p>
            <a:pPr marL="342900" indent="-342900">
              <a:buFont typeface="Arial" panose="020B0604020202020204" pitchFamily="34" charset="0"/>
              <a:buChar char="•"/>
            </a:pPr>
            <a:r>
              <a:rPr lang="en-AU" dirty="0"/>
              <a:t>Principles of sustainable design: reducing environmental impact, enhancing efficiency, and prioritizing user comfort.</a:t>
            </a:r>
          </a:p>
          <a:p>
            <a:pPr marL="342900" indent="-342900">
              <a:buFont typeface="Arial" panose="020B0604020202020204" pitchFamily="34" charset="0"/>
              <a:buChar char="•"/>
            </a:pPr>
            <a:r>
              <a:rPr lang="en-AU" dirty="0"/>
              <a:t>Techniques like passive solar design, green roofs, and sustainable material selection.</a:t>
            </a:r>
          </a:p>
          <a:p>
            <a:pPr marL="342900" indent="-342900">
              <a:buFont typeface="Arial" panose="020B0604020202020204" pitchFamily="34" charset="0"/>
              <a:buChar char="•"/>
            </a:pPr>
            <a:r>
              <a:rPr lang="en-AU" dirty="0"/>
              <a:t>Certification systems like LEED, BREEAM, or Green Star.</a:t>
            </a:r>
          </a:p>
          <a:p>
            <a:pPr marL="342900" indent="-342900">
              <a:buFont typeface="Arial" panose="020B0604020202020204" pitchFamily="34" charset="0"/>
              <a:buChar char="•"/>
            </a:pPr>
            <a:r>
              <a:rPr lang="en-AU" dirty="0"/>
              <a:t>One Central Park, Sydney by Jean Nouvel</a:t>
            </a:r>
          </a:p>
          <a:p>
            <a:pPr marL="342900" indent="-342900">
              <a:buFont typeface="Arial" panose="020B0604020202020204" pitchFamily="34" charset="0"/>
              <a:buChar char="•"/>
            </a:pPr>
            <a:r>
              <a:rPr lang="en-AU" dirty="0">
                <a:hlinkClick r:id="rId2"/>
              </a:rPr>
              <a:t>https://www.archdaily.com/551329/one-central-park-jean-nouvel-patrick-blanc</a:t>
            </a:r>
            <a:endParaRPr lang="en-AU" dirty="0"/>
          </a:p>
          <a:p>
            <a:pPr marL="342900" indent="-342900">
              <a:buFont typeface="Arial" panose="020B0604020202020204" pitchFamily="34" charset="0"/>
              <a:buChar char="•"/>
            </a:pPr>
            <a:r>
              <a:rPr lang="en-AU" dirty="0"/>
              <a:t>Vertical Garden</a:t>
            </a:r>
          </a:p>
        </p:txBody>
      </p:sp>
      <p:sp>
        <p:nvSpPr>
          <p:cNvPr id="2" name="Title 1">
            <a:extLst>
              <a:ext uri="{FF2B5EF4-FFF2-40B4-BE49-F238E27FC236}">
                <a16:creationId xmlns:a16="http://schemas.microsoft.com/office/drawing/2014/main" id="{5A122AB3-5DA4-669B-2E91-4EAA5A529D65}"/>
              </a:ext>
            </a:extLst>
          </p:cNvPr>
          <p:cNvSpPr>
            <a:spLocks noGrp="1"/>
          </p:cNvSpPr>
          <p:nvPr>
            <p:ph type="title"/>
          </p:nvPr>
        </p:nvSpPr>
        <p:spPr/>
        <p:txBody>
          <a:bodyPr/>
          <a:lstStyle/>
          <a:p>
            <a:r>
              <a:rPr lang="en-AU" dirty="0"/>
              <a:t>Sustainable Design</a:t>
            </a:r>
          </a:p>
        </p:txBody>
      </p:sp>
      <p:pic>
        <p:nvPicPr>
          <p:cNvPr id="5" name="Picture 4" descr="A tall buildings with plants on them&#10;&#10;Description automatically generated">
            <a:extLst>
              <a:ext uri="{FF2B5EF4-FFF2-40B4-BE49-F238E27FC236}">
                <a16:creationId xmlns:a16="http://schemas.microsoft.com/office/drawing/2014/main" id="{48684F23-9F05-3DA9-AA08-2693CA1288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3241" y="2409163"/>
            <a:ext cx="4179972" cy="3806442"/>
          </a:xfrm>
          <a:prstGeom prst="rect">
            <a:avLst/>
          </a:prstGeom>
        </p:spPr>
      </p:pic>
      <p:pic>
        <p:nvPicPr>
          <p:cNvPr id="7" name="Picture 6" descr="A building with plants growing on the windows&#10;&#10;Description automatically generated">
            <a:extLst>
              <a:ext uri="{FF2B5EF4-FFF2-40B4-BE49-F238E27FC236}">
                <a16:creationId xmlns:a16="http://schemas.microsoft.com/office/drawing/2014/main" id="{0F34E46C-491A-8138-ED2D-2135FC9663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10712" y="565436"/>
            <a:ext cx="3186112" cy="5062780"/>
          </a:xfrm>
          <a:prstGeom prst="rect">
            <a:avLst/>
          </a:prstGeom>
        </p:spPr>
      </p:pic>
      <p:pic>
        <p:nvPicPr>
          <p:cNvPr id="9" name="Picture 8" descr="A diagram of a building&#10;&#10;Description automatically generated">
            <a:extLst>
              <a:ext uri="{FF2B5EF4-FFF2-40B4-BE49-F238E27FC236}">
                <a16:creationId xmlns:a16="http://schemas.microsoft.com/office/drawing/2014/main" id="{1DD3F310-3C57-D5E5-7EDC-24124A3199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02052" y="98385"/>
            <a:ext cx="1472635" cy="2083443"/>
          </a:xfrm>
          <a:prstGeom prst="rect">
            <a:avLst/>
          </a:prstGeom>
        </p:spPr>
      </p:pic>
    </p:spTree>
    <p:extLst>
      <p:ext uri="{BB962C8B-B14F-4D97-AF65-F5344CB8AC3E}">
        <p14:creationId xmlns:p14="http://schemas.microsoft.com/office/powerpoint/2010/main" val="876894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A1B56-D499-EEAE-2127-6BA458836852}"/>
              </a:ext>
            </a:extLst>
          </p:cNvPr>
          <p:cNvSpPr>
            <a:spLocks noGrp="1"/>
          </p:cNvSpPr>
          <p:nvPr>
            <p:ph type="body" sz="half" idx="2"/>
          </p:nvPr>
        </p:nvSpPr>
        <p:spPr>
          <a:xfrm>
            <a:off x="312928" y="1220752"/>
            <a:ext cx="2580744" cy="4515528"/>
          </a:xfrm>
        </p:spPr>
        <p:txBody>
          <a:bodyPr>
            <a:normAutofit/>
          </a:bodyPr>
          <a:lstStyle/>
          <a:p>
            <a:pPr marL="342900" indent="-342900">
              <a:buFont typeface="Arial" panose="020B0604020202020204" pitchFamily="34" charset="0"/>
              <a:buChar char="•"/>
            </a:pPr>
            <a:r>
              <a:rPr lang="en-US" dirty="0"/>
              <a:t>Involves making design decisions based on credible research to achieve the best possible outcomes.</a:t>
            </a:r>
          </a:p>
          <a:p>
            <a:pPr marL="342900" indent="-342900">
              <a:buFont typeface="Arial" panose="020B0604020202020204" pitchFamily="34" charset="0"/>
              <a:buChar char="•"/>
            </a:pPr>
            <a:r>
              <a:rPr lang="en-US" dirty="0"/>
              <a:t>Commonly used in healthcare architecture to improve efficiency and user experience.</a:t>
            </a:r>
          </a:p>
          <a:p>
            <a:pPr marL="342900" indent="-342900">
              <a:buFont typeface="Arial" panose="020B0604020202020204" pitchFamily="34" charset="0"/>
              <a:buChar char="•"/>
            </a:pPr>
            <a:r>
              <a:rPr lang="en-US" dirty="0"/>
              <a:t>The Royal Children Hospital</a:t>
            </a:r>
            <a:endParaRPr lang="en-AU" dirty="0"/>
          </a:p>
        </p:txBody>
      </p:sp>
      <p:sp>
        <p:nvSpPr>
          <p:cNvPr id="2" name="Title 1">
            <a:extLst>
              <a:ext uri="{FF2B5EF4-FFF2-40B4-BE49-F238E27FC236}">
                <a16:creationId xmlns:a16="http://schemas.microsoft.com/office/drawing/2014/main" id="{6B1196D5-6B3A-C550-BA29-A0DB654D26E9}"/>
              </a:ext>
            </a:extLst>
          </p:cNvPr>
          <p:cNvSpPr>
            <a:spLocks noGrp="1"/>
          </p:cNvSpPr>
          <p:nvPr>
            <p:ph type="title"/>
          </p:nvPr>
        </p:nvSpPr>
        <p:spPr/>
        <p:txBody>
          <a:bodyPr/>
          <a:lstStyle/>
          <a:p>
            <a:r>
              <a:rPr lang="en-AU" dirty="0"/>
              <a:t>Evidence-Based Design</a:t>
            </a:r>
          </a:p>
        </p:txBody>
      </p:sp>
      <p:pic>
        <p:nvPicPr>
          <p:cNvPr id="7" name="Picture 6" descr="A collage of different rooms&#10;&#10;Description automatically generated">
            <a:extLst>
              <a:ext uri="{FF2B5EF4-FFF2-40B4-BE49-F238E27FC236}">
                <a16:creationId xmlns:a16="http://schemas.microsoft.com/office/drawing/2014/main" id="{C9BAA4CB-0BC7-1560-0117-F02C3F77B0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1895" y="1503307"/>
            <a:ext cx="4016873" cy="3330924"/>
          </a:xfrm>
          <a:prstGeom prst="rect">
            <a:avLst/>
          </a:prstGeom>
        </p:spPr>
      </p:pic>
      <p:pic>
        <p:nvPicPr>
          <p:cNvPr id="5" name="Picture 4" descr="A hospital room with beds and a reception desk&#10;&#10;Description automatically generated">
            <a:extLst>
              <a:ext uri="{FF2B5EF4-FFF2-40B4-BE49-F238E27FC236}">
                <a16:creationId xmlns:a16="http://schemas.microsoft.com/office/drawing/2014/main" id="{9D394BEF-33E6-AD47-F81D-4B89020BD9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6991" y="1503307"/>
            <a:ext cx="4441232" cy="3330924"/>
          </a:xfrm>
          <a:prstGeom prst="rect">
            <a:avLst/>
          </a:prstGeom>
        </p:spPr>
      </p:pic>
    </p:spTree>
    <p:extLst>
      <p:ext uri="{BB962C8B-B14F-4D97-AF65-F5344CB8AC3E}">
        <p14:creationId xmlns:p14="http://schemas.microsoft.com/office/powerpoint/2010/main" val="3449602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55F369-4E12-2440-AD2F-B88CB32690F2}"/>
              </a:ext>
            </a:extLst>
          </p:cNvPr>
          <p:cNvSpPr>
            <a:spLocks noGrp="1"/>
          </p:cNvSpPr>
          <p:nvPr>
            <p:ph type="body" sz="half" idx="2"/>
          </p:nvPr>
        </p:nvSpPr>
        <p:spPr>
          <a:xfrm>
            <a:off x="168243" y="1130872"/>
            <a:ext cx="4450055" cy="4677574"/>
          </a:xfrm>
        </p:spPr>
        <p:txBody>
          <a:bodyPr>
            <a:normAutofit/>
          </a:bodyPr>
          <a:lstStyle/>
          <a:p>
            <a:pPr marL="342900" indent="-342900">
              <a:buFont typeface="Arial" panose="020B0604020202020204" pitchFamily="34" charset="0"/>
              <a:buChar char="•"/>
            </a:pPr>
            <a:r>
              <a:rPr lang="en-US" dirty="0"/>
              <a:t>Focuses on incorporating natural elements into the design of the built environment to enhance human connection to nature.</a:t>
            </a:r>
          </a:p>
          <a:p>
            <a:pPr marL="342900" indent="-342900">
              <a:buFont typeface="Arial" panose="020B0604020202020204" pitchFamily="34" charset="0"/>
              <a:buChar char="•"/>
            </a:pPr>
            <a:r>
              <a:rPr lang="en-US" dirty="0"/>
              <a:t>Incorporating elements like natural lighting, vegetation, natural materials, and nature views to improve wellbeing.</a:t>
            </a:r>
          </a:p>
          <a:p>
            <a:pPr marL="342900" indent="-342900">
              <a:buFont typeface="Arial" panose="020B0604020202020204" pitchFamily="34" charset="0"/>
              <a:buChar char="•"/>
            </a:pPr>
            <a:r>
              <a:rPr lang="en-US" dirty="0">
                <a:hlinkClick r:id="rId2"/>
              </a:rPr>
              <a:t>https://gbdmagazine.com/singapore-hospital/</a:t>
            </a:r>
            <a:r>
              <a:rPr lang="en-US" dirty="0"/>
              <a:t> </a:t>
            </a:r>
          </a:p>
          <a:p>
            <a:pPr marL="342900" indent="-342900">
              <a:buFont typeface="Arial" panose="020B0604020202020204" pitchFamily="34" charset="0"/>
              <a:buChar char="•"/>
            </a:pPr>
            <a:r>
              <a:rPr lang="en-AU" dirty="0">
                <a:hlinkClick r:id="rId3"/>
              </a:rPr>
              <a:t>https://www.archdaily.com/923100/bringing-the-outdoors-inside-the-benefits-of-biophilia-in-architecture-and-interior-spaces?ad_campaign=normal-tag</a:t>
            </a:r>
            <a:endParaRPr lang="en-AU" dirty="0"/>
          </a:p>
          <a:p>
            <a:endParaRPr lang="en-AU" dirty="0"/>
          </a:p>
        </p:txBody>
      </p:sp>
      <p:sp>
        <p:nvSpPr>
          <p:cNvPr id="2" name="Title 1">
            <a:extLst>
              <a:ext uri="{FF2B5EF4-FFF2-40B4-BE49-F238E27FC236}">
                <a16:creationId xmlns:a16="http://schemas.microsoft.com/office/drawing/2014/main" id="{2B8DBDDB-A72D-95A9-09AE-AC425FE5FFD0}"/>
              </a:ext>
            </a:extLst>
          </p:cNvPr>
          <p:cNvSpPr>
            <a:spLocks noGrp="1"/>
          </p:cNvSpPr>
          <p:nvPr>
            <p:ph type="title"/>
          </p:nvPr>
        </p:nvSpPr>
        <p:spPr/>
        <p:txBody>
          <a:bodyPr/>
          <a:lstStyle/>
          <a:p>
            <a:r>
              <a:rPr lang="en-AU" dirty="0"/>
              <a:t>Biophilic Design</a:t>
            </a:r>
          </a:p>
        </p:txBody>
      </p:sp>
      <p:pic>
        <p:nvPicPr>
          <p:cNvPr id="5" name="Picture 4" descr="A waterfall in a building&#10;&#10;Description automatically generated">
            <a:extLst>
              <a:ext uri="{FF2B5EF4-FFF2-40B4-BE49-F238E27FC236}">
                <a16:creationId xmlns:a16="http://schemas.microsoft.com/office/drawing/2014/main" id="{8D2B9D0A-E167-9804-7DEA-6167C2551C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35164" y="3603320"/>
            <a:ext cx="4735836" cy="2439242"/>
          </a:xfrm>
          <a:prstGeom prst="rect">
            <a:avLst/>
          </a:prstGeom>
        </p:spPr>
      </p:pic>
      <p:pic>
        <p:nvPicPr>
          <p:cNvPr id="7" name="Picture 6" descr="A building with a walkway and trees&#10;&#10;Description automatically generated with medium confidence">
            <a:extLst>
              <a:ext uri="{FF2B5EF4-FFF2-40B4-BE49-F238E27FC236}">
                <a16:creationId xmlns:a16="http://schemas.microsoft.com/office/drawing/2014/main" id="{06448C4F-E445-62AC-2BA3-3CEECC3AA2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35164" y="85797"/>
            <a:ext cx="4735836" cy="3445321"/>
          </a:xfrm>
          <a:prstGeom prst="rect">
            <a:avLst/>
          </a:prstGeom>
        </p:spPr>
      </p:pic>
      <p:sp>
        <p:nvSpPr>
          <p:cNvPr id="8" name="Content Placeholder 2">
            <a:extLst>
              <a:ext uri="{FF2B5EF4-FFF2-40B4-BE49-F238E27FC236}">
                <a16:creationId xmlns:a16="http://schemas.microsoft.com/office/drawing/2014/main" id="{767F26EE-BF1C-4461-5610-688B393537A0}"/>
              </a:ext>
            </a:extLst>
          </p:cNvPr>
          <p:cNvSpPr txBox="1">
            <a:spLocks/>
          </p:cNvSpPr>
          <p:nvPr/>
        </p:nvSpPr>
        <p:spPr>
          <a:xfrm>
            <a:off x="7884289" y="6018146"/>
            <a:ext cx="3429965" cy="2742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Khoo Teck </a:t>
            </a:r>
            <a:r>
              <a:rPr lang="en-US" sz="1200" dirty="0" err="1"/>
              <a:t>Puat</a:t>
            </a:r>
            <a:r>
              <a:rPr lang="en-US" sz="1200" dirty="0"/>
              <a:t> Hospital in Singapore</a:t>
            </a:r>
            <a:endParaRPr lang="en-AU" sz="1200" dirty="0"/>
          </a:p>
        </p:txBody>
      </p:sp>
    </p:spTree>
    <p:extLst>
      <p:ext uri="{BB962C8B-B14F-4D97-AF65-F5344CB8AC3E}">
        <p14:creationId xmlns:p14="http://schemas.microsoft.com/office/powerpoint/2010/main" val="307948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C059D7-085B-329B-8127-7B260F6C1BCB}"/>
              </a:ext>
            </a:extLst>
          </p:cNvPr>
          <p:cNvSpPr>
            <a:spLocks noGrp="1"/>
          </p:cNvSpPr>
          <p:nvPr>
            <p:ph type="body" sz="half" idx="2"/>
          </p:nvPr>
        </p:nvSpPr>
        <p:spPr>
          <a:xfrm>
            <a:off x="237691" y="1146831"/>
            <a:ext cx="4073878" cy="4596551"/>
          </a:xfrm>
        </p:spPr>
        <p:txBody>
          <a:bodyPr>
            <a:normAutofit/>
          </a:bodyPr>
          <a:lstStyle/>
          <a:p>
            <a:pPr marL="342900" indent="-342900">
              <a:buFont typeface="Arial" panose="020B0604020202020204" pitchFamily="34" charset="0"/>
              <a:buChar char="•"/>
            </a:pPr>
            <a:r>
              <a:rPr lang="en-US" dirty="0"/>
              <a:t>Designing buildings and environments that are accessible to all people, regardless of age, disability, or other factors.</a:t>
            </a:r>
          </a:p>
          <a:p>
            <a:pPr marL="342900" indent="-342900">
              <a:buFont typeface="Arial" panose="020B0604020202020204" pitchFamily="34" charset="0"/>
              <a:buChar char="•"/>
            </a:pPr>
            <a:r>
              <a:rPr lang="en-US" dirty="0"/>
              <a:t>Features that enhance accessibility, such as wheelchair ramps, braille signs, and multi-sensory environments for a diverse range of users.</a:t>
            </a:r>
          </a:p>
          <a:p>
            <a:pPr marL="342900" indent="-342900">
              <a:buFont typeface="Arial" panose="020B0604020202020204" pitchFamily="34" charset="0"/>
              <a:buChar char="•"/>
            </a:pPr>
            <a:r>
              <a:rPr lang="en-AU" dirty="0">
                <a:hlinkClick r:id="rId2"/>
              </a:rPr>
              <a:t>https://www.archdaily.com/1019661/how-do-the-7-principles-of-universal-design-help-us-create-better-architecture?ad_campaign=normal-tag</a:t>
            </a:r>
            <a:endParaRPr lang="en-AU" dirty="0"/>
          </a:p>
          <a:p>
            <a:endParaRPr lang="en-AU" dirty="0"/>
          </a:p>
        </p:txBody>
      </p:sp>
      <p:sp>
        <p:nvSpPr>
          <p:cNvPr id="2" name="Title 1">
            <a:extLst>
              <a:ext uri="{FF2B5EF4-FFF2-40B4-BE49-F238E27FC236}">
                <a16:creationId xmlns:a16="http://schemas.microsoft.com/office/drawing/2014/main" id="{DCE386FE-9163-6AF4-09B4-C85D73396732}"/>
              </a:ext>
            </a:extLst>
          </p:cNvPr>
          <p:cNvSpPr>
            <a:spLocks noGrp="1"/>
          </p:cNvSpPr>
          <p:nvPr>
            <p:ph type="title"/>
          </p:nvPr>
        </p:nvSpPr>
        <p:spPr/>
        <p:txBody>
          <a:bodyPr/>
          <a:lstStyle/>
          <a:p>
            <a:r>
              <a:rPr lang="en-AU" dirty="0"/>
              <a:t>Universal Design</a:t>
            </a:r>
          </a:p>
        </p:txBody>
      </p:sp>
      <p:pic>
        <p:nvPicPr>
          <p:cNvPr id="5" name="Picture 4" descr="A person in a wheelchair next to a person in a room with a ladder&#10;&#10;Description automatically generated">
            <a:extLst>
              <a:ext uri="{FF2B5EF4-FFF2-40B4-BE49-F238E27FC236}">
                <a16:creationId xmlns:a16="http://schemas.microsoft.com/office/drawing/2014/main" id="{CC318649-92D7-C826-242E-3147E128EB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3278" y="3922703"/>
            <a:ext cx="2591461" cy="2591461"/>
          </a:xfrm>
          <a:prstGeom prst="rect">
            <a:avLst/>
          </a:prstGeom>
        </p:spPr>
      </p:pic>
      <p:pic>
        <p:nvPicPr>
          <p:cNvPr id="7" name="Picture 6" descr="A person pushing a stroller&#10;&#10;Description automatically generated">
            <a:extLst>
              <a:ext uri="{FF2B5EF4-FFF2-40B4-BE49-F238E27FC236}">
                <a16:creationId xmlns:a16="http://schemas.microsoft.com/office/drawing/2014/main" id="{578F799F-BC7E-90DC-8A95-C89C7161C3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3278" y="63661"/>
            <a:ext cx="6855994" cy="3804557"/>
          </a:xfrm>
          <a:prstGeom prst="rect">
            <a:avLst/>
          </a:prstGeom>
        </p:spPr>
      </p:pic>
      <p:pic>
        <p:nvPicPr>
          <p:cNvPr id="9" name="Picture 8" descr="A long corridor with a blue and red track&#10;&#10;Description automatically generated with medium confidence">
            <a:extLst>
              <a:ext uri="{FF2B5EF4-FFF2-40B4-BE49-F238E27FC236}">
                <a16:creationId xmlns:a16="http://schemas.microsoft.com/office/drawing/2014/main" id="{556515E2-2565-0E74-C437-239207ED51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77928" y="3918805"/>
            <a:ext cx="3881344" cy="2587563"/>
          </a:xfrm>
          <a:prstGeom prst="rect">
            <a:avLst/>
          </a:prstGeom>
        </p:spPr>
      </p:pic>
    </p:spTree>
    <p:extLst>
      <p:ext uri="{BB962C8B-B14F-4D97-AF65-F5344CB8AC3E}">
        <p14:creationId xmlns:p14="http://schemas.microsoft.com/office/powerpoint/2010/main" val="1331663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4831D1-284B-48B4-24B9-54418675FBC4}"/>
              </a:ext>
            </a:extLst>
          </p:cNvPr>
          <p:cNvSpPr>
            <a:spLocks noGrp="1"/>
          </p:cNvSpPr>
          <p:nvPr>
            <p:ph type="body" sz="half" idx="2"/>
          </p:nvPr>
        </p:nvSpPr>
        <p:spPr>
          <a:xfrm>
            <a:off x="266629" y="1048215"/>
            <a:ext cx="4073878" cy="4860661"/>
          </a:xfrm>
        </p:spPr>
        <p:txBody>
          <a:bodyPr>
            <a:normAutofit/>
          </a:bodyPr>
          <a:lstStyle/>
          <a:p>
            <a:pPr marL="342900" indent="-342900">
              <a:buFont typeface="Arial" panose="020B0604020202020204" pitchFamily="34" charset="0"/>
              <a:buChar char="•"/>
            </a:pPr>
            <a:r>
              <a:rPr lang="en-US" dirty="0"/>
              <a:t>Designing buildings or building components that are capable of movement, adapting to changes and interacting with users.</a:t>
            </a:r>
          </a:p>
          <a:p>
            <a:pPr marL="342900" indent="-342900">
              <a:buFont typeface="Arial" panose="020B0604020202020204" pitchFamily="34" charset="0"/>
              <a:buChar char="•"/>
            </a:pPr>
            <a:r>
              <a:rPr lang="en-US" dirty="0"/>
              <a:t>Dynamic structures that change in response to environmental conditions, user needs, or aesthetic purposes, such as responsive facades and retractable roofs.</a:t>
            </a:r>
          </a:p>
          <a:p>
            <a:pPr marL="342900" indent="-342900">
              <a:buFont typeface="Arial" panose="020B0604020202020204" pitchFamily="34" charset="0"/>
              <a:buChar char="•"/>
            </a:pPr>
            <a:r>
              <a:rPr lang="en-US" dirty="0">
                <a:hlinkClick r:id="rId2"/>
              </a:rPr>
              <a:t>https://www.archdaily.com/881511/bund-finance-centre-foster-plus-partners-plus-heatherwick-studio</a:t>
            </a:r>
            <a:endParaRPr lang="en-US" dirty="0"/>
          </a:p>
          <a:p>
            <a:pPr marL="342900" indent="-342900">
              <a:buFont typeface="Arial" panose="020B0604020202020204" pitchFamily="34" charset="0"/>
              <a:buChar char="•"/>
            </a:pPr>
            <a:r>
              <a:rPr lang="en-US" dirty="0"/>
              <a:t>Bund Finance Center by Foster Partners and Heatherwick Studio</a:t>
            </a:r>
          </a:p>
        </p:txBody>
      </p:sp>
      <p:sp>
        <p:nvSpPr>
          <p:cNvPr id="2" name="Title 1">
            <a:extLst>
              <a:ext uri="{FF2B5EF4-FFF2-40B4-BE49-F238E27FC236}">
                <a16:creationId xmlns:a16="http://schemas.microsoft.com/office/drawing/2014/main" id="{096278A2-E504-3317-7DFD-112A28AA3D2C}"/>
              </a:ext>
            </a:extLst>
          </p:cNvPr>
          <p:cNvSpPr>
            <a:spLocks noGrp="1"/>
          </p:cNvSpPr>
          <p:nvPr>
            <p:ph type="title"/>
          </p:nvPr>
        </p:nvSpPr>
        <p:spPr/>
        <p:txBody>
          <a:bodyPr/>
          <a:lstStyle/>
          <a:p>
            <a:r>
              <a:rPr lang="en-AU" dirty="0"/>
              <a:t>Kinetic Design</a:t>
            </a:r>
          </a:p>
        </p:txBody>
      </p:sp>
      <p:pic>
        <p:nvPicPr>
          <p:cNvPr id="9" name="Picture 8" descr="A building with a curved design&#10;&#10;Description automatically generated">
            <a:extLst>
              <a:ext uri="{FF2B5EF4-FFF2-40B4-BE49-F238E27FC236}">
                <a16:creationId xmlns:a16="http://schemas.microsoft.com/office/drawing/2014/main" id="{C2612684-E65C-93E9-23BF-E8AAA56758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3697" y="0"/>
            <a:ext cx="5448301" cy="3064669"/>
          </a:xfrm>
          <a:prstGeom prst="rect">
            <a:avLst/>
          </a:prstGeom>
        </p:spPr>
      </p:pic>
      <p:pic>
        <p:nvPicPr>
          <p:cNvPr id="11" name="Picture 10" descr="A group of people crossing a street&#10;&#10;Description automatically generated">
            <a:extLst>
              <a:ext uri="{FF2B5EF4-FFF2-40B4-BE49-F238E27FC236}">
                <a16:creationId xmlns:a16="http://schemas.microsoft.com/office/drawing/2014/main" id="{4BED45D6-D81E-791E-CF2A-54D720CD0A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3700" y="3236799"/>
            <a:ext cx="5448300" cy="3632200"/>
          </a:xfrm>
          <a:prstGeom prst="rect">
            <a:avLst/>
          </a:prstGeom>
        </p:spPr>
      </p:pic>
      <p:pic>
        <p:nvPicPr>
          <p:cNvPr id="13" name="Picture 12" descr="A drawing of a structure&#10;&#10;Description automatically generated with medium confidence">
            <a:extLst>
              <a:ext uri="{FF2B5EF4-FFF2-40B4-BE49-F238E27FC236}">
                <a16:creationId xmlns:a16="http://schemas.microsoft.com/office/drawing/2014/main" id="{CBFA62A5-0045-C8B7-000C-995B22D54A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69867" y="687674"/>
            <a:ext cx="1756874" cy="1276662"/>
          </a:xfrm>
          <a:prstGeom prst="rect">
            <a:avLst/>
          </a:prstGeom>
        </p:spPr>
      </p:pic>
      <p:pic>
        <p:nvPicPr>
          <p:cNvPr id="15" name="Picture 14" descr="A group of bamboo from a building&#10;&#10;Description automatically generated">
            <a:extLst>
              <a:ext uri="{FF2B5EF4-FFF2-40B4-BE49-F238E27FC236}">
                <a16:creationId xmlns:a16="http://schemas.microsoft.com/office/drawing/2014/main" id="{3574BBFF-C022-765E-3171-FDC261C6D3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29009" y="3216276"/>
            <a:ext cx="2417064" cy="3632200"/>
          </a:xfrm>
          <a:prstGeom prst="rect">
            <a:avLst/>
          </a:prstGeom>
        </p:spPr>
      </p:pic>
    </p:spTree>
    <p:extLst>
      <p:ext uri="{BB962C8B-B14F-4D97-AF65-F5344CB8AC3E}">
        <p14:creationId xmlns:p14="http://schemas.microsoft.com/office/powerpoint/2010/main" val="4042530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0D23C1-CCBA-C0E9-7862-7487A166A103}"/>
              </a:ext>
            </a:extLst>
          </p:cNvPr>
          <p:cNvSpPr>
            <a:spLocks noGrp="1"/>
          </p:cNvSpPr>
          <p:nvPr>
            <p:ph type="body" sz="half" idx="2"/>
          </p:nvPr>
        </p:nvSpPr>
        <p:spPr>
          <a:xfrm>
            <a:off x="399737" y="1076069"/>
            <a:ext cx="2731215" cy="4347696"/>
          </a:xfrm>
        </p:spPr>
        <p:txBody>
          <a:bodyPr>
            <a:normAutofit/>
          </a:bodyPr>
          <a:lstStyle/>
          <a:p>
            <a:pPr marL="342900" indent="-342900">
              <a:buFont typeface="Arial" panose="020B0604020202020204" pitchFamily="34" charset="0"/>
              <a:buChar char="•"/>
            </a:pPr>
            <a:r>
              <a:rPr lang="en-US" dirty="0"/>
              <a:t>Involves designing using </a:t>
            </a:r>
            <a:r>
              <a:rPr lang="en-US" dirty="0" err="1"/>
              <a:t>standardised</a:t>
            </a:r>
            <a:r>
              <a:rPr lang="en-US" dirty="0"/>
              <a:t> units or dimensions for easy construction and flexible arrangement.</a:t>
            </a:r>
          </a:p>
          <a:p>
            <a:pPr marL="342900" indent="-342900">
              <a:buFont typeface="Arial" panose="020B0604020202020204" pitchFamily="34" charset="0"/>
              <a:buChar char="•"/>
            </a:pPr>
            <a:r>
              <a:rPr lang="en-US" dirty="0"/>
              <a:t>Particularly useful in projects requiring scalability or mass production, such as modular homes and office spaces.</a:t>
            </a:r>
          </a:p>
          <a:p>
            <a:pPr marL="342900" indent="-342900">
              <a:buFont typeface="Arial" panose="020B0604020202020204" pitchFamily="34" charset="0"/>
              <a:buChar char="•"/>
            </a:pPr>
            <a:r>
              <a:rPr lang="en-US" dirty="0" err="1"/>
              <a:t>Nakagin</a:t>
            </a:r>
            <a:r>
              <a:rPr lang="en-US" dirty="0"/>
              <a:t> Capsule Tower in Japan</a:t>
            </a:r>
            <a:endParaRPr lang="en-AU" dirty="0"/>
          </a:p>
          <a:p>
            <a:pPr marL="0" indent="0">
              <a:buNone/>
            </a:pPr>
            <a:endParaRPr lang="en-AU" dirty="0"/>
          </a:p>
        </p:txBody>
      </p:sp>
      <p:sp>
        <p:nvSpPr>
          <p:cNvPr id="2" name="Title 1">
            <a:extLst>
              <a:ext uri="{FF2B5EF4-FFF2-40B4-BE49-F238E27FC236}">
                <a16:creationId xmlns:a16="http://schemas.microsoft.com/office/drawing/2014/main" id="{BB17BD15-13F8-54D6-267F-89B5062E7A0F}"/>
              </a:ext>
            </a:extLst>
          </p:cNvPr>
          <p:cNvSpPr>
            <a:spLocks noGrp="1"/>
          </p:cNvSpPr>
          <p:nvPr>
            <p:ph type="title"/>
          </p:nvPr>
        </p:nvSpPr>
        <p:spPr/>
        <p:txBody>
          <a:bodyPr/>
          <a:lstStyle/>
          <a:p>
            <a:r>
              <a:rPr lang="en-AU" dirty="0"/>
              <a:t>Modular Design</a:t>
            </a:r>
          </a:p>
        </p:txBody>
      </p:sp>
      <p:pic>
        <p:nvPicPr>
          <p:cNvPr id="7" name="Picture 6" descr="A tall building with many windows&#10;&#10;Description automatically generated">
            <a:extLst>
              <a:ext uri="{FF2B5EF4-FFF2-40B4-BE49-F238E27FC236}">
                <a16:creationId xmlns:a16="http://schemas.microsoft.com/office/drawing/2014/main" id="{69B5C425-D539-953A-94E9-B511C14E4A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0075" y="0"/>
            <a:ext cx="4897419" cy="6858000"/>
          </a:xfrm>
          <a:prstGeom prst="rect">
            <a:avLst/>
          </a:prstGeom>
        </p:spPr>
      </p:pic>
      <p:pic>
        <p:nvPicPr>
          <p:cNvPr id="5" name="Picture 4" descr="A close-up of a computer hardware&#10;&#10;Description automatically generated">
            <a:extLst>
              <a:ext uri="{FF2B5EF4-FFF2-40B4-BE49-F238E27FC236}">
                <a16:creationId xmlns:a16="http://schemas.microsoft.com/office/drawing/2014/main" id="{BE8ADC08-ED3C-CD0A-F820-70647C40D6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0576" y="1765139"/>
            <a:ext cx="4004045" cy="2831893"/>
          </a:xfrm>
          <a:prstGeom prst="rect">
            <a:avLst/>
          </a:prstGeom>
        </p:spPr>
      </p:pic>
    </p:spTree>
    <p:extLst>
      <p:ext uri="{BB962C8B-B14F-4D97-AF65-F5344CB8AC3E}">
        <p14:creationId xmlns:p14="http://schemas.microsoft.com/office/powerpoint/2010/main" val="2790700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BF60B1-8C4C-5DEB-70DC-1387AF855CAA}"/>
              </a:ext>
            </a:extLst>
          </p:cNvPr>
          <p:cNvSpPr>
            <a:spLocks noGrp="1"/>
          </p:cNvSpPr>
          <p:nvPr>
            <p:ph type="body" sz="half" idx="2"/>
          </p:nvPr>
        </p:nvSpPr>
        <p:spPr>
          <a:xfrm>
            <a:off x="197180" y="1052918"/>
            <a:ext cx="3554955" cy="4914520"/>
          </a:xfrm>
        </p:spPr>
        <p:txBody>
          <a:bodyPr>
            <a:normAutofit/>
          </a:bodyPr>
          <a:lstStyle/>
          <a:p>
            <a:pPr marL="342900" indent="-342900">
              <a:buFont typeface="Arial" panose="020B0604020202020204" pitchFamily="34" charset="0"/>
              <a:buChar char="•"/>
            </a:pPr>
            <a:r>
              <a:rPr lang="en-US" sz="1600" dirty="0"/>
              <a:t>Focuses on creating spaces that deliver specific sensory experiences or evoke particular emotions.</a:t>
            </a:r>
          </a:p>
          <a:p>
            <a:pPr marL="342900" indent="-342900">
              <a:buFont typeface="Arial" panose="020B0604020202020204" pitchFamily="34" charset="0"/>
              <a:buChar char="•"/>
            </a:pPr>
            <a:r>
              <a:rPr lang="en-US" sz="1600" dirty="0"/>
              <a:t>Common in retail and exhibition design where the interaction between the user and the environment is key to the project's success.</a:t>
            </a:r>
          </a:p>
          <a:p>
            <a:pPr marL="342900" indent="-342900">
              <a:buFont typeface="Arial" panose="020B0604020202020204" pitchFamily="34" charset="0"/>
              <a:buChar char="•"/>
            </a:pPr>
            <a:r>
              <a:rPr lang="en-AU" sz="1600" dirty="0">
                <a:hlinkClick r:id="rId2"/>
              </a:rPr>
              <a:t>https://www.archdaily.com/925219/steven-holl-i-am-interested-in-architecture-that-speaks-to-the-soul</a:t>
            </a:r>
            <a:endParaRPr lang="en-AU" sz="1600" dirty="0"/>
          </a:p>
          <a:p>
            <a:pPr marL="342900" indent="-342900">
              <a:buFont typeface="Arial" panose="020B0604020202020204" pitchFamily="34" charset="0"/>
              <a:buChar char="•"/>
            </a:pPr>
            <a:r>
              <a:rPr lang="en-AU" sz="1600" dirty="0">
                <a:hlinkClick r:id="rId3"/>
              </a:rPr>
              <a:t>https://www.stevenholl.com/architectonics-of-music/</a:t>
            </a:r>
            <a:endParaRPr lang="en-AU" sz="1600" dirty="0"/>
          </a:p>
          <a:p>
            <a:pPr marL="342900" indent="-342900">
              <a:buFont typeface="Arial" panose="020B0604020202020204" pitchFamily="34" charset="0"/>
              <a:buChar char="•"/>
            </a:pPr>
            <a:r>
              <a:rPr lang="en-AU" sz="1600" dirty="0"/>
              <a:t>Architectonics of Music</a:t>
            </a:r>
          </a:p>
          <a:p>
            <a:pPr marL="342900" indent="-342900">
              <a:buFont typeface="Arial" panose="020B0604020202020204" pitchFamily="34" charset="0"/>
              <a:buChar char="•"/>
            </a:pPr>
            <a:r>
              <a:rPr lang="en-AU" sz="1600" dirty="0"/>
              <a:t>Hangzhou Music Museum</a:t>
            </a:r>
          </a:p>
        </p:txBody>
      </p:sp>
      <p:sp>
        <p:nvSpPr>
          <p:cNvPr id="2" name="Title 1">
            <a:extLst>
              <a:ext uri="{FF2B5EF4-FFF2-40B4-BE49-F238E27FC236}">
                <a16:creationId xmlns:a16="http://schemas.microsoft.com/office/drawing/2014/main" id="{040B77A6-53D5-1927-07C5-F8394ADD5D70}"/>
              </a:ext>
            </a:extLst>
          </p:cNvPr>
          <p:cNvSpPr>
            <a:spLocks noGrp="1"/>
          </p:cNvSpPr>
          <p:nvPr>
            <p:ph type="title"/>
          </p:nvPr>
        </p:nvSpPr>
        <p:spPr/>
        <p:txBody>
          <a:bodyPr/>
          <a:lstStyle/>
          <a:p>
            <a:r>
              <a:rPr lang="en-AU" dirty="0"/>
              <a:t>Experiential Design</a:t>
            </a:r>
          </a:p>
        </p:txBody>
      </p:sp>
      <p:pic>
        <p:nvPicPr>
          <p:cNvPr id="5" name="Picture 4" descr="A drawing of a staircase&#10;&#10;Description automatically generated">
            <a:extLst>
              <a:ext uri="{FF2B5EF4-FFF2-40B4-BE49-F238E27FC236}">
                <a16:creationId xmlns:a16="http://schemas.microsoft.com/office/drawing/2014/main" id="{DE28E8EC-D266-71DE-7085-DF6CB5EB04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9371" y="214132"/>
            <a:ext cx="6702552" cy="2395728"/>
          </a:xfrm>
          <a:prstGeom prst="rect">
            <a:avLst/>
          </a:prstGeom>
        </p:spPr>
      </p:pic>
      <p:pic>
        <p:nvPicPr>
          <p:cNvPr id="7" name="Picture 6" descr="A white building next to a pond&#10;&#10;Description automatically generated">
            <a:extLst>
              <a:ext uri="{FF2B5EF4-FFF2-40B4-BE49-F238E27FC236}">
                <a16:creationId xmlns:a16="http://schemas.microsoft.com/office/drawing/2014/main" id="{6157692A-E945-9A6D-0F83-084869D858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80344" y="2922194"/>
            <a:ext cx="4241579" cy="2816674"/>
          </a:xfrm>
          <a:prstGeom prst="rect">
            <a:avLst/>
          </a:prstGeom>
        </p:spPr>
      </p:pic>
      <p:pic>
        <p:nvPicPr>
          <p:cNvPr id="9" name="Picture 8" descr="A close-up of a white building&#10;&#10;Description automatically generated">
            <a:extLst>
              <a:ext uri="{FF2B5EF4-FFF2-40B4-BE49-F238E27FC236}">
                <a16:creationId xmlns:a16="http://schemas.microsoft.com/office/drawing/2014/main" id="{9530CA75-4F0D-F230-514B-A2B8DDDB50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87564" y="3079097"/>
            <a:ext cx="3472469" cy="2314979"/>
          </a:xfrm>
          <a:prstGeom prst="rect">
            <a:avLst/>
          </a:prstGeom>
        </p:spPr>
      </p:pic>
    </p:spTree>
    <p:extLst>
      <p:ext uri="{BB962C8B-B14F-4D97-AF65-F5344CB8AC3E}">
        <p14:creationId xmlns:p14="http://schemas.microsoft.com/office/powerpoint/2010/main" val="13936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01B985D1-474E-44A1-0C8D-59A48F1BB2BE}"/>
              </a:ext>
            </a:extLst>
          </p:cNvPr>
          <p:cNvSpPr txBox="1">
            <a:spLocks/>
          </p:cNvSpPr>
          <p:nvPr/>
        </p:nvSpPr>
        <p:spPr>
          <a:xfrm>
            <a:off x="1055867" y="2824669"/>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Reflect on a Design Method</a:t>
            </a:r>
          </a:p>
        </p:txBody>
      </p:sp>
    </p:spTree>
    <p:extLst>
      <p:ext uri="{BB962C8B-B14F-4D97-AF65-F5344CB8AC3E}">
        <p14:creationId xmlns:p14="http://schemas.microsoft.com/office/powerpoint/2010/main" val="4129433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40563-8F11-D8B7-B179-DE01D166AB5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4D8721F2-16E7-F7E7-C4F0-E29555EAB987}"/>
              </a:ext>
            </a:extLst>
          </p:cNvPr>
          <p:cNvSpPr>
            <a:spLocks noGrp="1"/>
          </p:cNvSpPr>
          <p:nvPr>
            <p:ph type="ctrTitle"/>
          </p:nvPr>
        </p:nvSpPr>
        <p:spPr>
          <a:xfrm>
            <a:off x="599440" y="1832433"/>
            <a:ext cx="6291512" cy="1479648"/>
          </a:xfrm>
        </p:spPr>
        <p:txBody>
          <a:bodyPr lIns="0" tIns="0" rIns="0" bIns="0"/>
          <a:lstStyle/>
          <a:p>
            <a:r>
              <a:rPr lang="en-US" dirty="0"/>
              <a:t>Session 5</a:t>
            </a:r>
          </a:p>
        </p:txBody>
      </p:sp>
      <p:sp>
        <p:nvSpPr>
          <p:cNvPr id="10" name="Subtitle 2">
            <a:extLst>
              <a:ext uri="{FF2B5EF4-FFF2-40B4-BE49-F238E27FC236}">
                <a16:creationId xmlns:a16="http://schemas.microsoft.com/office/drawing/2014/main" id="{890FD5AC-1CCD-194C-0FBB-6E0233032571}"/>
              </a:ext>
            </a:extLst>
          </p:cNvPr>
          <p:cNvSpPr>
            <a:spLocks noGrp="1"/>
          </p:cNvSpPr>
          <p:nvPr>
            <p:ph type="subTitle" idx="1"/>
          </p:nvPr>
        </p:nvSpPr>
        <p:spPr>
          <a:xfrm>
            <a:off x="599441" y="2817023"/>
            <a:ext cx="5069840" cy="990115"/>
          </a:xfrm>
        </p:spPr>
        <p:txBody>
          <a:bodyPr lIns="0" tIns="0" rIns="0" bIns="0"/>
          <a:lstStyle/>
          <a:p>
            <a:r>
              <a:rPr lang="en-US" dirty="0"/>
              <a:t>Floor Plan</a:t>
            </a:r>
          </a:p>
        </p:txBody>
      </p:sp>
    </p:spTree>
    <p:extLst>
      <p:ext uri="{BB962C8B-B14F-4D97-AF65-F5344CB8AC3E}">
        <p14:creationId xmlns:p14="http://schemas.microsoft.com/office/powerpoint/2010/main" val="3342532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ED40D-395F-7C54-8E35-18884D05F30C}"/>
              </a:ext>
            </a:extLst>
          </p:cNvPr>
          <p:cNvSpPr>
            <a:spLocks noGrp="1"/>
          </p:cNvSpPr>
          <p:nvPr>
            <p:ph type="title"/>
          </p:nvPr>
        </p:nvSpPr>
        <p:spPr/>
        <p:txBody>
          <a:bodyPr>
            <a:normAutofit/>
          </a:bodyPr>
          <a:lstStyle/>
          <a:p>
            <a:r>
              <a:rPr lang="en-US" altLang="zh-CN" dirty="0"/>
              <a:t>Floor Plan and Other Drawings</a:t>
            </a:r>
            <a:endParaRPr lang="en-AU" dirty="0"/>
          </a:p>
        </p:txBody>
      </p:sp>
      <p:pic>
        <p:nvPicPr>
          <p:cNvPr id="5" name="Content Placeholder 4">
            <a:extLst>
              <a:ext uri="{FF2B5EF4-FFF2-40B4-BE49-F238E27FC236}">
                <a16:creationId xmlns:a16="http://schemas.microsoft.com/office/drawing/2014/main" id="{B0A95B06-AB09-4D62-8762-2423FA07ADFD}"/>
              </a:ext>
            </a:extLst>
          </p:cNvPr>
          <p:cNvPicPr>
            <a:picLocks noGrp="1" noChangeAspect="1"/>
          </p:cNvPicPr>
          <p:nvPr>
            <p:ph idx="4294967295"/>
          </p:nvPr>
        </p:nvPicPr>
        <p:blipFill>
          <a:blip r:embed="rId2"/>
          <a:stretch>
            <a:fillRect/>
          </a:stretch>
        </p:blipFill>
        <p:spPr>
          <a:xfrm>
            <a:off x="3331922" y="837887"/>
            <a:ext cx="5210729" cy="5282262"/>
          </a:xfrm>
        </p:spPr>
      </p:pic>
      <p:sp>
        <p:nvSpPr>
          <p:cNvPr id="4" name="TextBox 3">
            <a:extLst>
              <a:ext uri="{FF2B5EF4-FFF2-40B4-BE49-F238E27FC236}">
                <a16:creationId xmlns:a16="http://schemas.microsoft.com/office/drawing/2014/main" id="{FB62A179-06DC-26F2-F21C-2EEC4B4FBD7E}"/>
              </a:ext>
            </a:extLst>
          </p:cNvPr>
          <p:cNvSpPr txBox="1"/>
          <p:nvPr/>
        </p:nvSpPr>
        <p:spPr>
          <a:xfrm>
            <a:off x="8245566" y="5838478"/>
            <a:ext cx="3946434" cy="276999"/>
          </a:xfrm>
          <a:prstGeom prst="rect">
            <a:avLst/>
          </a:prstGeom>
          <a:noFill/>
        </p:spPr>
        <p:txBody>
          <a:bodyPr wrap="square">
            <a:spAutoFit/>
          </a:bodyPr>
          <a:lstStyle/>
          <a:p>
            <a:pPr algn="l">
              <a:spcAft>
                <a:spcPts val="375"/>
              </a:spcAft>
            </a:pPr>
            <a:r>
              <a:rPr lang="en-US" sz="1200" i="0" dirty="0">
                <a:solidFill>
                  <a:srgbClr val="000000"/>
                </a:solidFill>
                <a:effectLst/>
                <a:latin typeface="var(--font-geller,&quot;GellerHeadline-Bold&quot;,Georgia-Bold)"/>
              </a:rPr>
              <a:t>Source: Design Drawing by </a:t>
            </a:r>
            <a:r>
              <a:rPr lang="en-US" sz="1200" i="0" u="none" strike="noStrike" dirty="0">
                <a:solidFill>
                  <a:srgbClr val="000000"/>
                </a:solidFill>
                <a:effectLst/>
                <a:latin typeface="var(--font-manrope,&quot;Manrope&quot;,Helvetica)"/>
              </a:rPr>
              <a:t>Francis D. K. Ching</a:t>
            </a:r>
            <a:endParaRPr lang="en-US" sz="1200" i="0" dirty="0">
              <a:solidFill>
                <a:srgbClr val="000000"/>
              </a:solidFill>
              <a:effectLst/>
              <a:latin typeface="__Inter_d65c78"/>
            </a:endParaRPr>
          </a:p>
        </p:txBody>
      </p:sp>
    </p:spTree>
    <p:extLst>
      <p:ext uri="{BB962C8B-B14F-4D97-AF65-F5344CB8AC3E}">
        <p14:creationId xmlns:p14="http://schemas.microsoft.com/office/powerpoint/2010/main" val="978035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BEF9AA6-CFC1-82AC-AD09-E469A14628A2}"/>
              </a:ext>
            </a:extLst>
          </p:cNvPr>
          <p:cNvPicPr>
            <a:picLocks noGrp="1" noChangeAspect="1"/>
          </p:cNvPicPr>
          <p:nvPr>
            <p:ph idx="1"/>
          </p:nvPr>
        </p:nvPicPr>
        <p:blipFill>
          <a:blip r:embed="rId2"/>
          <a:stretch>
            <a:fillRect/>
          </a:stretch>
        </p:blipFill>
        <p:spPr>
          <a:xfrm>
            <a:off x="5766825" y="-1"/>
            <a:ext cx="4520175" cy="6755111"/>
          </a:xfrm>
        </p:spPr>
      </p:pic>
      <p:pic>
        <p:nvPicPr>
          <p:cNvPr id="6" name="Content Placeholder 4">
            <a:extLst>
              <a:ext uri="{FF2B5EF4-FFF2-40B4-BE49-F238E27FC236}">
                <a16:creationId xmlns:a16="http://schemas.microsoft.com/office/drawing/2014/main" id="{F8146070-D686-5C08-19C5-A815E41FDE7B}"/>
              </a:ext>
            </a:extLst>
          </p:cNvPr>
          <p:cNvPicPr>
            <a:picLocks noChangeAspect="1"/>
          </p:cNvPicPr>
          <p:nvPr/>
        </p:nvPicPr>
        <p:blipFill>
          <a:blip r:embed="rId3"/>
          <a:stretch>
            <a:fillRect/>
          </a:stretch>
        </p:blipFill>
        <p:spPr>
          <a:xfrm>
            <a:off x="0" y="0"/>
            <a:ext cx="5633357" cy="6842973"/>
          </a:xfrm>
          <a:prstGeom prst="rect">
            <a:avLst/>
          </a:prstGeom>
        </p:spPr>
      </p:pic>
      <p:sp>
        <p:nvSpPr>
          <p:cNvPr id="3" name="TextBox 2">
            <a:extLst>
              <a:ext uri="{FF2B5EF4-FFF2-40B4-BE49-F238E27FC236}">
                <a16:creationId xmlns:a16="http://schemas.microsoft.com/office/drawing/2014/main" id="{90FF3890-E99E-F8C2-2E49-A8C62AAFF810}"/>
              </a:ext>
            </a:extLst>
          </p:cNvPr>
          <p:cNvSpPr txBox="1"/>
          <p:nvPr/>
        </p:nvSpPr>
        <p:spPr>
          <a:xfrm>
            <a:off x="9008534" y="314868"/>
            <a:ext cx="3183466" cy="276999"/>
          </a:xfrm>
          <a:prstGeom prst="rect">
            <a:avLst/>
          </a:prstGeom>
          <a:noFill/>
        </p:spPr>
        <p:txBody>
          <a:bodyPr wrap="square">
            <a:spAutoFit/>
          </a:bodyPr>
          <a:lstStyle/>
          <a:p>
            <a:r>
              <a:rPr lang="en-AU" sz="1200" i="0" dirty="0">
                <a:solidFill>
                  <a:srgbClr val="000000"/>
                </a:solidFill>
                <a:effectLst/>
                <a:latin typeface="ff2"/>
              </a:rPr>
              <a:t>Source: VCE Technical Drawing Speciﬁcations</a:t>
            </a:r>
            <a:endParaRPr lang="en-AU" sz="1200" dirty="0"/>
          </a:p>
        </p:txBody>
      </p:sp>
    </p:spTree>
    <p:extLst>
      <p:ext uri="{BB962C8B-B14F-4D97-AF65-F5344CB8AC3E}">
        <p14:creationId xmlns:p14="http://schemas.microsoft.com/office/powerpoint/2010/main" val="40288699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19177C6-E196-5861-4400-B2D3A867D57F}"/>
              </a:ext>
            </a:extLst>
          </p:cNvPr>
          <p:cNvPicPr>
            <a:picLocks noGrp="1" noChangeAspect="1"/>
          </p:cNvPicPr>
          <p:nvPr>
            <p:ph idx="1"/>
          </p:nvPr>
        </p:nvPicPr>
        <p:blipFill>
          <a:blip r:embed="rId2"/>
          <a:stretch>
            <a:fillRect/>
          </a:stretch>
        </p:blipFill>
        <p:spPr>
          <a:xfrm>
            <a:off x="66822" y="644978"/>
            <a:ext cx="5150067" cy="5568043"/>
          </a:xfrm>
        </p:spPr>
      </p:pic>
      <p:pic>
        <p:nvPicPr>
          <p:cNvPr id="7" name="Picture 6">
            <a:extLst>
              <a:ext uri="{FF2B5EF4-FFF2-40B4-BE49-F238E27FC236}">
                <a16:creationId xmlns:a16="http://schemas.microsoft.com/office/drawing/2014/main" id="{C0C43CF6-C9E7-FA99-B4BE-82E659B718CC}"/>
              </a:ext>
            </a:extLst>
          </p:cNvPr>
          <p:cNvPicPr>
            <a:picLocks noChangeAspect="1"/>
          </p:cNvPicPr>
          <p:nvPr/>
        </p:nvPicPr>
        <p:blipFill>
          <a:blip r:embed="rId3"/>
          <a:stretch>
            <a:fillRect/>
          </a:stretch>
        </p:blipFill>
        <p:spPr>
          <a:xfrm>
            <a:off x="5772003" y="1185861"/>
            <a:ext cx="6353175" cy="4486275"/>
          </a:xfrm>
          <a:prstGeom prst="rect">
            <a:avLst/>
          </a:prstGeom>
        </p:spPr>
      </p:pic>
      <p:sp>
        <p:nvSpPr>
          <p:cNvPr id="2" name="TextBox 1">
            <a:extLst>
              <a:ext uri="{FF2B5EF4-FFF2-40B4-BE49-F238E27FC236}">
                <a16:creationId xmlns:a16="http://schemas.microsoft.com/office/drawing/2014/main" id="{7BC04588-FFAC-7AD4-A402-FFD4B30BE290}"/>
              </a:ext>
            </a:extLst>
          </p:cNvPr>
          <p:cNvSpPr txBox="1"/>
          <p:nvPr/>
        </p:nvSpPr>
        <p:spPr>
          <a:xfrm>
            <a:off x="9008534" y="314868"/>
            <a:ext cx="3183466" cy="276999"/>
          </a:xfrm>
          <a:prstGeom prst="rect">
            <a:avLst/>
          </a:prstGeom>
          <a:noFill/>
        </p:spPr>
        <p:txBody>
          <a:bodyPr wrap="square">
            <a:spAutoFit/>
          </a:bodyPr>
          <a:lstStyle/>
          <a:p>
            <a:r>
              <a:rPr lang="en-AU" sz="1200" i="0" dirty="0">
                <a:solidFill>
                  <a:srgbClr val="000000"/>
                </a:solidFill>
                <a:effectLst/>
                <a:latin typeface="ff2"/>
              </a:rPr>
              <a:t>Source: VCE Technical Drawing Speciﬁcations</a:t>
            </a:r>
            <a:endParaRPr lang="en-AU" sz="1200" dirty="0"/>
          </a:p>
        </p:txBody>
      </p:sp>
    </p:spTree>
    <p:extLst>
      <p:ext uri="{BB962C8B-B14F-4D97-AF65-F5344CB8AC3E}">
        <p14:creationId xmlns:p14="http://schemas.microsoft.com/office/powerpoint/2010/main" val="2623595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C56BDA8-037B-5AC8-3972-0F26E7057CE8}"/>
              </a:ext>
            </a:extLst>
          </p:cNvPr>
          <p:cNvPicPr>
            <a:picLocks noGrp="1" noChangeAspect="1"/>
          </p:cNvPicPr>
          <p:nvPr>
            <p:ph idx="1"/>
          </p:nvPr>
        </p:nvPicPr>
        <p:blipFill>
          <a:blip r:embed="rId2"/>
          <a:stretch>
            <a:fillRect/>
          </a:stretch>
        </p:blipFill>
        <p:spPr>
          <a:xfrm>
            <a:off x="743682" y="0"/>
            <a:ext cx="5126440" cy="6858000"/>
          </a:xfrm>
        </p:spPr>
      </p:pic>
      <p:pic>
        <p:nvPicPr>
          <p:cNvPr id="7" name="Picture 6">
            <a:extLst>
              <a:ext uri="{FF2B5EF4-FFF2-40B4-BE49-F238E27FC236}">
                <a16:creationId xmlns:a16="http://schemas.microsoft.com/office/drawing/2014/main" id="{F0C9D98A-5449-3B78-2A30-5428831866E2}"/>
              </a:ext>
            </a:extLst>
          </p:cNvPr>
          <p:cNvPicPr>
            <a:picLocks noChangeAspect="1"/>
          </p:cNvPicPr>
          <p:nvPr/>
        </p:nvPicPr>
        <p:blipFill>
          <a:blip r:embed="rId3"/>
          <a:stretch>
            <a:fillRect/>
          </a:stretch>
        </p:blipFill>
        <p:spPr>
          <a:xfrm>
            <a:off x="5870122" y="1119188"/>
            <a:ext cx="5810250" cy="5057775"/>
          </a:xfrm>
          <a:prstGeom prst="rect">
            <a:avLst/>
          </a:prstGeom>
        </p:spPr>
      </p:pic>
      <p:sp>
        <p:nvSpPr>
          <p:cNvPr id="2" name="TextBox 1">
            <a:extLst>
              <a:ext uri="{FF2B5EF4-FFF2-40B4-BE49-F238E27FC236}">
                <a16:creationId xmlns:a16="http://schemas.microsoft.com/office/drawing/2014/main" id="{8EAEBB20-E960-449B-BBB0-932A40878D3C}"/>
              </a:ext>
            </a:extLst>
          </p:cNvPr>
          <p:cNvSpPr txBox="1"/>
          <p:nvPr/>
        </p:nvSpPr>
        <p:spPr>
          <a:xfrm>
            <a:off x="9008534" y="314868"/>
            <a:ext cx="3183466" cy="276999"/>
          </a:xfrm>
          <a:prstGeom prst="rect">
            <a:avLst/>
          </a:prstGeom>
          <a:noFill/>
        </p:spPr>
        <p:txBody>
          <a:bodyPr wrap="square">
            <a:spAutoFit/>
          </a:bodyPr>
          <a:lstStyle/>
          <a:p>
            <a:r>
              <a:rPr lang="en-AU" sz="1200" i="0" dirty="0">
                <a:solidFill>
                  <a:srgbClr val="000000"/>
                </a:solidFill>
                <a:effectLst/>
                <a:latin typeface="ff2"/>
              </a:rPr>
              <a:t>Source: VCE Technical Drawing Speciﬁcations</a:t>
            </a:r>
            <a:endParaRPr lang="en-AU" sz="1200" dirty="0"/>
          </a:p>
        </p:txBody>
      </p:sp>
    </p:spTree>
    <p:extLst>
      <p:ext uri="{BB962C8B-B14F-4D97-AF65-F5344CB8AC3E}">
        <p14:creationId xmlns:p14="http://schemas.microsoft.com/office/powerpoint/2010/main" val="1600809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185640A-1152-A094-35F2-5E27428898B2}"/>
              </a:ext>
            </a:extLst>
          </p:cNvPr>
          <p:cNvPicPr>
            <a:picLocks noGrp="1" noChangeAspect="1"/>
          </p:cNvPicPr>
          <p:nvPr>
            <p:ph idx="1"/>
          </p:nvPr>
        </p:nvPicPr>
        <p:blipFill>
          <a:blip r:embed="rId2"/>
          <a:stretch>
            <a:fillRect/>
          </a:stretch>
        </p:blipFill>
        <p:spPr>
          <a:xfrm>
            <a:off x="5188005" y="162301"/>
            <a:ext cx="4785727" cy="6603092"/>
          </a:xfrm>
        </p:spPr>
      </p:pic>
      <p:pic>
        <p:nvPicPr>
          <p:cNvPr id="7" name="Picture 6">
            <a:extLst>
              <a:ext uri="{FF2B5EF4-FFF2-40B4-BE49-F238E27FC236}">
                <a16:creationId xmlns:a16="http://schemas.microsoft.com/office/drawing/2014/main" id="{49F16E75-3431-9598-7605-1B7EB4E59C35}"/>
              </a:ext>
            </a:extLst>
          </p:cNvPr>
          <p:cNvPicPr>
            <a:picLocks noChangeAspect="1"/>
          </p:cNvPicPr>
          <p:nvPr/>
        </p:nvPicPr>
        <p:blipFill>
          <a:blip r:embed="rId3"/>
          <a:stretch>
            <a:fillRect/>
          </a:stretch>
        </p:blipFill>
        <p:spPr>
          <a:xfrm>
            <a:off x="181466" y="67734"/>
            <a:ext cx="4560052" cy="6595533"/>
          </a:xfrm>
          <a:prstGeom prst="rect">
            <a:avLst/>
          </a:prstGeom>
        </p:spPr>
      </p:pic>
      <p:sp>
        <p:nvSpPr>
          <p:cNvPr id="2" name="TextBox 1">
            <a:extLst>
              <a:ext uri="{FF2B5EF4-FFF2-40B4-BE49-F238E27FC236}">
                <a16:creationId xmlns:a16="http://schemas.microsoft.com/office/drawing/2014/main" id="{86D0D622-9199-EF04-F1EE-A60A0AF1D07B}"/>
              </a:ext>
            </a:extLst>
          </p:cNvPr>
          <p:cNvSpPr txBox="1"/>
          <p:nvPr/>
        </p:nvSpPr>
        <p:spPr>
          <a:xfrm>
            <a:off x="9008534" y="162301"/>
            <a:ext cx="3183466" cy="276999"/>
          </a:xfrm>
          <a:prstGeom prst="rect">
            <a:avLst/>
          </a:prstGeom>
          <a:noFill/>
        </p:spPr>
        <p:txBody>
          <a:bodyPr wrap="square">
            <a:spAutoFit/>
          </a:bodyPr>
          <a:lstStyle/>
          <a:p>
            <a:r>
              <a:rPr lang="en-AU" sz="1200" i="0" dirty="0">
                <a:solidFill>
                  <a:srgbClr val="000000"/>
                </a:solidFill>
                <a:effectLst/>
                <a:latin typeface="ff2"/>
              </a:rPr>
              <a:t>Source: VCE Technical Drawing Speciﬁcations</a:t>
            </a:r>
            <a:endParaRPr lang="en-AU" sz="1200" dirty="0"/>
          </a:p>
        </p:txBody>
      </p:sp>
    </p:spTree>
    <p:extLst>
      <p:ext uri="{BB962C8B-B14F-4D97-AF65-F5344CB8AC3E}">
        <p14:creationId xmlns:p14="http://schemas.microsoft.com/office/powerpoint/2010/main" val="1300572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26B65BD-6089-6307-3040-5F7251AA0A64}"/>
              </a:ext>
            </a:extLst>
          </p:cNvPr>
          <p:cNvPicPr>
            <a:picLocks noGrp="1" noChangeAspect="1"/>
          </p:cNvPicPr>
          <p:nvPr>
            <p:ph idx="1"/>
          </p:nvPr>
        </p:nvPicPr>
        <p:blipFill>
          <a:blip r:embed="rId2"/>
          <a:stretch>
            <a:fillRect/>
          </a:stretch>
        </p:blipFill>
        <p:spPr>
          <a:xfrm>
            <a:off x="559297" y="0"/>
            <a:ext cx="4869106" cy="6802216"/>
          </a:xfrm>
        </p:spPr>
      </p:pic>
      <p:pic>
        <p:nvPicPr>
          <p:cNvPr id="7" name="Picture 6">
            <a:extLst>
              <a:ext uri="{FF2B5EF4-FFF2-40B4-BE49-F238E27FC236}">
                <a16:creationId xmlns:a16="http://schemas.microsoft.com/office/drawing/2014/main" id="{3EF885BE-8A0A-6C52-DEE2-5AF9BE3858D5}"/>
              </a:ext>
            </a:extLst>
          </p:cNvPr>
          <p:cNvPicPr>
            <a:picLocks noChangeAspect="1"/>
          </p:cNvPicPr>
          <p:nvPr/>
        </p:nvPicPr>
        <p:blipFill>
          <a:blip r:embed="rId3"/>
          <a:stretch>
            <a:fillRect/>
          </a:stretch>
        </p:blipFill>
        <p:spPr>
          <a:xfrm>
            <a:off x="6273799" y="0"/>
            <a:ext cx="4869106" cy="6858000"/>
          </a:xfrm>
          <a:prstGeom prst="rect">
            <a:avLst/>
          </a:prstGeom>
        </p:spPr>
      </p:pic>
      <p:sp>
        <p:nvSpPr>
          <p:cNvPr id="2" name="TextBox 1">
            <a:extLst>
              <a:ext uri="{FF2B5EF4-FFF2-40B4-BE49-F238E27FC236}">
                <a16:creationId xmlns:a16="http://schemas.microsoft.com/office/drawing/2014/main" id="{2A5014D4-75AD-B40C-9892-DA97CA35D360}"/>
              </a:ext>
            </a:extLst>
          </p:cNvPr>
          <p:cNvSpPr txBox="1"/>
          <p:nvPr/>
        </p:nvSpPr>
        <p:spPr>
          <a:xfrm>
            <a:off x="9008534" y="314868"/>
            <a:ext cx="3183466" cy="276999"/>
          </a:xfrm>
          <a:prstGeom prst="rect">
            <a:avLst/>
          </a:prstGeom>
          <a:noFill/>
        </p:spPr>
        <p:txBody>
          <a:bodyPr wrap="square">
            <a:spAutoFit/>
          </a:bodyPr>
          <a:lstStyle/>
          <a:p>
            <a:r>
              <a:rPr lang="en-AU" sz="1200" i="0" dirty="0">
                <a:solidFill>
                  <a:srgbClr val="000000"/>
                </a:solidFill>
                <a:effectLst/>
                <a:latin typeface="ff2"/>
              </a:rPr>
              <a:t>Source: VCE Technical Drawing Speciﬁcations</a:t>
            </a:r>
            <a:endParaRPr lang="en-AU" sz="1200" dirty="0"/>
          </a:p>
        </p:txBody>
      </p:sp>
    </p:spTree>
    <p:extLst>
      <p:ext uri="{BB962C8B-B14F-4D97-AF65-F5344CB8AC3E}">
        <p14:creationId xmlns:p14="http://schemas.microsoft.com/office/powerpoint/2010/main" val="4173118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C6ECE-918B-ECE9-9581-2CA22F085163}"/>
              </a:ext>
            </a:extLst>
          </p:cNvPr>
          <p:cNvSpPr>
            <a:spLocks noGrp="1"/>
          </p:cNvSpPr>
          <p:nvPr>
            <p:ph type="title"/>
          </p:nvPr>
        </p:nvSpPr>
        <p:spPr/>
        <p:txBody>
          <a:bodyPr/>
          <a:lstStyle/>
          <a:p>
            <a:r>
              <a:rPr lang="en-AU" dirty="0"/>
              <a:t>Steps of Setting Up a Floor Plan</a:t>
            </a:r>
          </a:p>
        </p:txBody>
      </p:sp>
      <p:pic>
        <p:nvPicPr>
          <p:cNvPr id="5" name="Content Placeholder 4">
            <a:extLst>
              <a:ext uri="{FF2B5EF4-FFF2-40B4-BE49-F238E27FC236}">
                <a16:creationId xmlns:a16="http://schemas.microsoft.com/office/drawing/2014/main" id="{24D58026-B706-C3DD-52A5-9F08FD24E557}"/>
              </a:ext>
            </a:extLst>
          </p:cNvPr>
          <p:cNvPicPr>
            <a:picLocks noGrp="1" noChangeAspect="1"/>
          </p:cNvPicPr>
          <p:nvPr>
            <p:ph idx="4294967295"/>
          </p:nvPr>
        </p:nvPicPr>
        <p:blipFill>
          <a:blip r:embed="rId2"/>
          <a:stretch>
            <a:fillRect/>
          </a:stretch>
        </p:blipFill>
        <p:spPr>
          <a:xfrm>
            <a:off x="1360306" y="1081168"/>
            <a:ext cx="9674225" cy="4954587"/>
          </a:xfrm>
        </p:spPr>
      </p:pic>
    </p:spTree>
    <p:extLst>
      <p:ext uri="{BB962C8B-B14F-4D97-AF65-F5344CB8AC3E}">
        <p14:creationId xmlns:p14="http://schemas.microsoft.com/office/powerpoint/2010/main" val="3131567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1F1C2E2-0603-19DD-3467-E7FECA63D71D}"/>
              </a:ext>
            </a:extLst>
          </p:cNvPr>
          <p:cNvPicPr>
            <a:picLocks noGrp="1" noChangeAspect="1"/>
          </p:cNvPicPr>
          <p:nvPr>
            <p:ph idx="4294967295"/>
          </p:nvPr>
        </p:nvPicPr>
        <p:blipFill>
          <a:blip r:embed="rId2"/>
          <a:stretch>
            <a:fillRect/>
          </a:stretch>
        </p:blipFill>
        <p:spPr>
          <a:xfrm>
            <a:off x="306227" y="1303297"/>
            <a:ext cx="5657850" cy="3533775"/>
          </a:xfrm>
        </p:spPr>
      </p:pic>
      <p:pic>
        <p:nvPicPr>
          <p:cNvPr id="7" name="Picture 6">
            <a:extLst>
              <a:ext uri="{FF2B5EF4-FFF2-40B4-BE49-F238E27FC236}">
                <a16:creationId xmlns:a16="http://schemas.microsoft.com/office/drawing/2014/main" id="{51BF770F-2353-53F1-D663-78D139DE8587}"/>
              </a:ext>
            </a:extLst>
          </p:cNvPr>
          <p:cNvPicPr>
            <a:picLocks noChangeAspect="1"/>
          </p:cNvPicPr>
          <p:nvPr/>
        </p:nvPicPr>
        <p:blipFill>
          <a:blip r:embed="rId3"/>
          <a:stretch>
            <a:fillRect/>
          </a:stretch>
        </p:blipFill>
        <p:spPr>
          <a:xfrm>
            <a:off x="6462933" y="1303296"/>
            <a:ext cx="5422840" cy="3533775"/>
          </a:xfrm>
          <a:prstGeom prst="rect">
            <a:avLst/>
          </a:prstGeom>
        </p:spPr>
      </p:pic>
    </p:spTree>
    <p:extLst>
      <p:ext uri="{BB962C8B-B14F-4D97-AF65-F5344CB8AC3E}">
        <p14:creationId xmlns:p14="http://schemas.microsoft.com/office/powerpoint/2010/main" val="24251005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52BB159-CE8A-20CF-E1E6-5EED4FA977A7}"/>
              </a:ext>
            </a:extLst>
          </p:cNvPr>
          <p:cNvPicPr>
            <a:picLocks noGrp="1" noChangeAspect="1"/>
          </p:cNvPicPr>
          <p:nvPr>
            <p:ph idx="4294967295"/>
          </p:nvPr>
        </p:nvPicPr>
        <p:blipFill>
          <a:blip r:embed="rId2"/>
          <a:stretch>
            <a:fillRect/>
          </a:stretch>
        </p:blipFill>
        <p:spPr>
          <a:xfrm>
            <a:off x="536897" y="1657350"/>
            <a:ext cx="5229225" cy="3406781"/>
          </a:xfrm>
        </p:spPr>
      </p:pic>
      <p:pic>
        <p:nvPicPr>
          <p:cNvPr id="7" name="Picture 6">
            <a:extLst>
              <a:ext uri="{FF2B5EF4-FFF2-40B4-BE49-F238E27FC236}">
                <a16:creationId xmlns:a16="http://schemas.microsoft.com/office/drawing/2014/main" id="{B477F503-7C89-62A7-1A5B-57ADA142F124}"/>
              </a:ext>
            </a:extLst>
          </p:cNvPr>
          <p:cNvPicPr>
            <a:picLocks noChangeAspect="1"/>
          </p:cNvPicPr>
          <p:nvPr/>
        </p:nvPicPr>
        <p:blipFill>
          <a:blip r:embed="rId3"/>
          <a:stretch>
            <a:fillRect/>
          </a:stretch>
        </p:blipFill>
        <p:spPr>
          <a:xfrm>
            <a:off x="6362217" y="1635131"/>
            <a:ext cx="5229225" cy="3429000"/>
          </a:xfrm>
          <a:prstGeom prst="rect">
            <a:avLst/>
          </a:prstGeom>
        </p:spPr>
      </p:pic>
    </p:spTree>
    <p:extLst>
      <p:ext uri="{BB962C8B-B14F-4D97-AF65-F5344CB8AC3E}">
        <p14:creationId xmlns:p14="http://schemas.microsoft.com/office/powerpoint/2010/main" val="4736225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7DC1A04-0244-9E0A-07C1-0839E9774B0B}"/>
              </a:ext>
            </a:extLst>
          </p:cNvPr>
          <p:cNvPicPr>
            <a:picLocks noGrp="1" noChangeAspect="1"/>
          </p:cNvPicPr>
          <p:nvPr>
            <p:ph idx="4294967295"/>
          </p:nvPr>
        </p:nvPicPr>
        <p:blipFill>
          <a:blip r:embed="rId2"/>
          <a:stretch>
            <a:fillRect/>
          </a:stretch>
        </p:blipFill>
        <p:spPr>
          <a:xfrm>
            <a:off x="449717" y="1657582"/>
            <a:ext cx="5359078" cy="3538305"/>
          </a:xfrm>
        </p:spPr>
      </p:pic>
      <p:pic>
        <p:nvPicPr>
          <p:cNvPr id="7" name="Picture 6">
            <a:extLst>
              <a:ext uri="{FF2B5EF4-FFF2-40B4-BE49-F238E27FC236}">
                <a16:creationId xmlns:a16="http://schemas.microsoft.com/office/drawing/2014/main" id="{D92B3CEB-2131-E7EC-E928-38C734F51133}"/>
              </a:ext>
            </a:extLst>
          </p:cNvPr>
          <p:cNvPicPr>
            <a:picLocks noChangeAspect="1"/>
          </p:cNvPicPr>
          <p:nvPr/>
        </p:nvPicPr>
        <p:blipFill>
          <a:blip r:embed="rId3"/>
          <a:stretch>
            <a:fillRect/>
          </a:stretch>
        </p:blipFill>
        <p:spPr>
          <a:xfrm>
            <a:off x="6313033" y="1662112"/>
            <a:ext cx="5429250" cy="3533775"/>
          </a:xfrm>
          <a:prstGeom prst="rect">
            <a:avLst/>
          </a:prstGeom>
        </p:spPr>
      </p:pic>
    </p:spTree>
    <p:extLst>
      <p:ext uri="{BB962C8B-B14F-4D97-AF65-F5344CB8AC3E}">
        <p14:creationId xmlns:p14="http://schemas.microsoft.com/office/powerpoint/2010/main" val="2487227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B929FD3-1BE2-7A62-76BE-B3B5E9D82127}"/>
              </a:ext>
            </a:extLst>
          </p:cNvPr>
          <p:cNvPicPr>
            <a:picLocks noGrp="1" noChangeAspect="1"/>
          </p:cNvPicPr>
          <p:nvPr>
            <p:ph idx="4294967295"/>
          </p:nvPr>
        </p:nvPicPr>
        <p:blipFill>
          <a:blip r:embed="rId2"/>
          <a:stretch>
            <a:fillRect/>
          </a:stretch>
        </p:blipFill>
        <p:spPr>
          <a:xfrm>
            <a:off x="3068654" y="1414304"/>
            <a:ext cx="6054692" cy="4029392"/>
          </a:xfrm>
        </p:spPr>
      </p:pic>
    </p:spTree>
    <p:extLst>
      <p:ext uri="{BB962C8B-B14F-4D97-AF65-F5344CB8AC3E}">
        <p14:creationId xmlns:p14="http://schemas.microsoft.com/office/powerpoint/2010/main" val="4098876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35D40-DAF3-B255-CFB8-C443FF0EF71E}"/>
              </a:ext>
            </a:extLst>
          </p:cNvPr>
          <p:cNvSpPr>
            <a:spLocks noGrp="1"/>
          </p:cNvSpPr>
          <p:nvPr>
            <p:ph type="body" sz="half" idx="2"/>
          </p:nvPr>
        </p:nvSpPr>
        <p:spPr>
          <a:xfrm>
            <a:off x="399737" y="1503307"/>
            <a:ext cx="4008978" cy="3884708"/>
          </a:xfrm>
        </p:spPr>
        <p:txBody>
          <a:bodyPr>
            <a:normAutofit/>
          </a:bodyPr>
          <a:lstStyle/>
          <a:p>
            <a:pPr marL="342900" indent="-342900">
              <a:buFont typeface="Arial" panose="020B0604020202020204" pitchFamily="34" charset="0"/>
              <a:buChar char="•"/>
            </a:pPr>
            <a:r>
              <a:rPr lang="en-AU" dirty="0"/>
              <a:t>Setting up a floor plan can be done by hand or using digital software. However, for documentation, digital software is required.</a:t>
            </a:r>
          </a:p>
        </p:txBody>
      </p:sp>
      <p:sp>
        <p:nvSpPr>
          <p:cNvPr id="2" name="Title 1">
            <a:extLst>
              <a:ext uri="{FF2B5EF4-FFF2-40B4-BE49-F238E27FC236}">
                <a16:creationId xmlns:a16="http://schemas.microsoft.com/office/drawing/2014/main" id="{625581AA-E42F-5B94-C437-E4246EFF4437}"/>
              </a:ext>
            </a:extLst>
          </p:cNvPr>
          <p:cNvSpPr>
            <a:spLocks noGrp="1"/>
          </p:cNvSpPr>
          <p:nvPr>
            <p:ph type="title"/>
          </p:nvPr>
        </p:nvSpPr>
        <p:spPr/>
        <p:txBody>
          <a:bodyPr/>
          <a:lstStyle/>
          <a:p>
            <a:r>
              <a:rPr lang="en-AU" dirty="0"/>
              <a:t>Steps of Documenting a Floor Plan</a:t>
            </a:r>
          </a:p>
        </p:txBody>
      </p:sp>
      <p:pic>
        <p:nvPicPr>
          <p:cNvPr id="5" name="Picture 4">
            <a:extLst>
              <a:ext uri="{FF2B5EF4-FFF2-40B4-BE49-F238E27FC236}">
                <a16:creationId xmlns:a16="http://schemas.microsoft.com/office/drawing/2014/main" id="{7BED1475-8902-5E09-8174-7D95385FCF1F}"/>
              </a:ext>
            </a:extLst>
          </p:cNvPr>
          <p:cNvPicPr>
            <a:picLocks noChangeAspect="1"/>
          </p:cNvPicPr>
          <p:nvPr/>
        </p:nvPicPr>
        <p:blipFill>
          <a:blip r:embed="rId2"/>
          <a:stretch>
            <a:fillRect/>
          </a:stretch>
        </p:blipFill>
        <p:spPr>
          <a:xfrm>
            <a:off x="4617059" y="1140890"/>
            <a:ext cx="6567924" cy="4947267"/>
          </a:xfrm>
          <a:prstGeom prst="rect">
            <a:avLst/>
          </a:prstGeom>
        </p:spPr>
      </p:pic>
    </p:spTree>
    <p:extLst>
      <p:ext uri="{BB962C8B-B14F-4D97-AF65-F5344CB8AC3E}">
        <p14:creationId xmlns:p14="http://schemas.microsoft.com/office/powerpoint/2010/main" val="2846684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D737B02-12C2-E10B-A2FF-13F0D7810D82}"/>
              </a:ext>
            </a:extLst>
          </p:cNvPr>
          <p:cNvPicPr>
            <a:picLocks noGrp="1" noChangeAspect="1"/>
          </p:cNvPicPr>
          <p:nvPr>
            <p:ph idx="4294967295"/>
          </p:nvPr>
        </p:nvPicPr>
        <p:blipFill>
          <a:blip r:embed="rId2"/>
          <a:stretch>
            <a:fillRect/>
          </a:stretch>
        </p:blipFill>
        <p:spPr>
          <a:xfrm>
            <a:off x="451413" y="1130300"/>
            <a:ext cx="5861050" cy="4597400"/>
          </a:xfrm>
        </p:spPr>
      </p:pic>
      <p:pic>
        <p:nvPicPr>
          <p:cNvPr id="9" name="Picture 8">
            <a:extLst>
              <a:ext uri="{FF2B5EF4-FFF2-40B4-BE49-F238E27FC236}">
                <a16:creationId xmlns:a16="http://schemas.microsoft.com/office/drawing/2014/main" id="{10820F0F-9AFA-CA92-C8A7-8607DB3A48C8}"/>
              </a:ext>
            </a:extLst>
          </p:cNvPr>
          <p:cNvPicPr>
            <a:picLocks noChangeAspect="1"/>
          </p:cNvPicPr>
          <p:nvPr/>
        </p:nvPicPr>
        <p:blipFill>
          <a:blip r:embed="rId3"/>
          <a:stretch>
            <a:fillRect/>
          </a:stretch>
        </p:blipFill>
        <p:spPr>
          <a:xfrm>
            <a:off x="6310471" y="1130300"/>
            <a:ext cx="5881529" cy="4841813"/>
          </a:xfrm>
          <a:prstGeom prst="rect">
            <a:avLst/>
          </a:prstGeom>
        </p:spPr>
      </p:pic>
    </p:spTree>
    <p:extLst>
      <p:ext uri="{BB962C8B-B14F-4D97-AF65-F5344CB8AC3E}">
        <p14:creationId xmlns:p14="http://schemas.microsoft.com/office/powerpoint/2010/main" val="861052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1968A-CF7B-8B0C-0023-6F717954AE00}"/>
              </a:ext>
            </a:extLst>
          </p:cNvPr>
          <p:cNvSpPr>
            <a:spLocks noGrp="1"/>
          </p:cNvSpPr>
          <p:nvPr>
            <p:ph type="title"/>
          </p:nvPr>
        </p:nvSpPr>
        <p:spPr/>
        <p:txBody>
          <a:bodyPr/>
          <a:lstStyle/>
          <a:p>
            <a:r>
              <a:rPr lang="en-AU" dirty="0"/>
              <a:t>Other Components in Floor Plan</a:t>
            </a:r>
          </a:p>
        </p:txBody>
      </p:sp>
      <p:pic>
        <p:nvPicPr>
          <p:cNvPr id="5" name="Content Placeholder 4">
            <a:extLst>
              <a:ext uri="{FF2B5EF4-FFF2-40B4-BE49-F238E27FC236}">
                <a16:creationId xmlns:a16="http://schemas.microsoft.com/office/drawing/2014/main" id="{2731B230-6055-F568-69ED-001A62F12ECC}"/>
              </a:ext>
            </a:extLst>
          </p:cNvPr>
          <p:cNvPicPr>
            <a:picLocks noGrp="1" noChangeAspect="1"/>
          </p:cNvPicPr>
          <p:nvPr>
            <p:ph idx="4294967295"/>
          </p:nvPr>
        </p:nvPicPr>
        <p:blipFill>
          <a:blip r:embed="rId2"/>
          <a:stretch>
            <a:fillRect/>
          </a:stretch>
        </p:blipFill>
        <p:spPr>
          <a:xfrm>
            <a:off x="648183" y="1555148"/>
            <a:ext cx="6210300" cy="4162425"/>
          </a:xfrm>
        </p:spPr>
      </p:pic>
      <p:pic>
        <p:nvPicPr>
          <p:cNvPr id="7" name="Picture 6">
            <a:extLst>
              <a:ext uri="{FF2B5EF4-FFF2-40B4-BE49-F238E27FC236}">
                <a16:creationId xmlns:a16="http://schemas.microsoft.com/office/drawing/2014/main" id="{A0C24DEC-E530-BFA5-93CE-9BAF0F8A4825}"/>
              </a:ext>
            </a:extLst>
          </p:cNvPr>
          <p:cNvPicPr>
            <a:picLocks noChangeAspect="1"/>
          </p:cNvPicPr>
          <p:nvPr/>
        </p:nvPicPr>
        <p:blipFill>
          <a:blip r:embed="rId3"/>
          <a:stretch>
            <a:fillRect/>
          </a:stretch>
        </p:blipFill>
        <p:spPr>
          <a:xfrm>
            <a:off x="6706280" y="1555148"/>
            <a:ext cx="5343525" cy="4333875"/>
          </a:xfrm>
          <a:prstGeom prst="rect">
            <a:avLst/>
          </a:prstGeom>
        </p:spPr>
      </p:pic>
      <p:sp>
        <p:nvSpPr>
          <p:cNvPr id="3" name="TextBox 2">
            <a:extLst>
              <a:ext uri="{FF2B5EF4-FFF2-40B4-BE49-F238E27FC236}">
                <a16:creationId xmlns:a16="http://schemas.microsoft.com/office/drawing/2014/main" id="{786F4B20-ADB1-1F56-27B7-CDF707E7F499}"/>
              </a:ext>
            </a:extLst>
          </p:cNvPr>
          <p:cNvSpPr txBox="1"/>
          <p:nvPr/>
        </p:nvSpPr>
        <p:spPr>
          <a:xfrm>
            <a:off x="9008534" y="314868"/>
            <a:ext cx="3183466" cy="276999"/>
          </a:xfrm>
          <a:prstGeom prst="rect">
            <a:avLst/>
          </a:prstGeom>
          <a:noFill/>
        </p:spPr>
        <p:txBody>
          <a:bodyPr wrap="square">
            <a:spAutoFit/>
          </a:bodyPr>
          <a:lstStyle/>
          <a:p>
            <a:r>
              <a:rPr lang="en-AU" sz="1200" i="0" dirty="0">
                <a:solidFill>
                  <a:srgbClr val="000000"/>
                </a:solidFill>
                <a:effectLst/>
                <a:latin typeface="ff2"/>
              </a:rPr>
              <a:t>Source: VCE Technical Drawing Speciﬁcations</a:t>
            </a:r>
            <a:endParaRPr lang="en-AU" sz="1200" dirty="0"/>
          </a:p>
        </p:txBody>
      </p:sp>
    </p:spTree>
    <p:extLst>
      <p:ext uri="{BB962C8B-B14F-4D97-AF65-F5344CB8AC3E}">
        <p14:creationId xmlns:p14="http://schemas.microsoft.com/office/powerpoint/2010/main" val="12864275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C5854-5390-D99A-DACC-9CDAD2CBA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B3912B-EFEB-73CD-7533-35603A374366}"/>
              </a:ext>
            </a:extLst>
          </p:cNvPr>
          <p:cNvSpPr>
            <a:spLocks noGrp="1"/>
          </p:cNvSpPr>
          <p:nvPr>
            <p:ph type="title"/>
          </p:nvPr>
        </p:nvSpPr>
        <p:spPr/>
        <p:txBody>
          <a:bodyPr/>
          <a:lstStyle/>
          <a:p>
            <a:r>
              <a:rPr lang="en-AU" dirty="0"/>
              <a:t>Other Components in Floor Plan View</a:t>
            </a:r>
          </a:p>
        </p:txBody>
      </p:sp>
      <p:pic>
        <p:nvPicPr>
          <p:cNvPr id="8" name="Content Placeholder 7">
            <a:extLst>
              <a:ext uri="{FF2B5EF4-FFF2-40B4-BE49-F238E27FC236}">
                <a16:creationId xmlns:a16="http://schemas.microsoft.com/office/drawing/2014/main" id="{25858D16-086E-5756-46BD-B55D7CA80075}"/>
              </a:ext>
            </a:extLst>
          </p:cNvPr>
          <p:cNvPicPr>
            <a:picLocks noGrp="1" noChangeAspect="1"/>
          </p:cNvPicPr>
          <p:nvPr>
            <p:ph idx="4294967295"/>
          </p:nvPr>
        </p:nvPicPr>
        <p:blipFill>
          <a:blip r:embed="rId2"/>
          <a:stretch>
            <a:fillRect/>
          </a:stretch>
        </p:blipFill>
        <p:spPr>
          <a:xfrm>
            <a:off x="515073" y="1803681"/>
            <a:ext cx="5676900" cy="3638550"/>
          </a:xfrm>
        </p:spPr>
      </p:pic>
      <p:pic>
        <p:nvPicPr>
          <p:cNvPr id="7" name="Picture 6">
            <a:extLst>
              <a:ext uri="{FF2B5EF4-FFF2-40B4-BE49-F238E27FC236}">
                <a16:creationId xmlns:a16="http://schemas.microsoft.com/office/drawing/2014/main" id="{222437D7-926D-8664-B794-B1A0BADD78DF}"/>
              </a:ext>
            </a:extLst>
          </p:cNvPr>
          <p:cNvPicPr>
            <a:picLocks noChangeAspect="1"/>
          </p:cNvPicPr>
          <p:nvPr/>
        </p:nvPicPr>
        <p:blipFill>
          <a:blip r:embed="rId3"/>
          <a:stretch>
            <a:fillRect/>
          </a:stretch>
        </p:blipFill>
        <p:spPr>
          <a:xfrm>
            <a:off x="6515747" y="1456018"/>
            <a:ext cx="5343525" cy="4333875"/>
          </a:xfrm>
          <a:prstGeom prst="rect">
            <a:avLst/>
          </a:prstGeom>
        </p:spPr>
      </p:pic>
    </p:spTree>
    <p:extLst>
      <p:ext uri="{BB962C8B-B14F-4D97-AF65-F5344CB8AC3E}">
        <p14:creationId xmlns:p14="http://schemas.microsoft.com/office/powerpoint/2010/main" val="1845157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BEECC-3FD5-272F-0F4A-63C35A84BB41}"/>
              </a:ext>
            </a:extLst>
          </p:cNvPr>
          <p:cNvSpPr>
            <a:spLocks noGrp="1"/>
          </p:cNvSpPr>
          <p:nvPr>
            <p:ph type="title"/>
          </p:nvPr>
        </p:nvSpPr>
        <p:spPr/>
        <p:txBody>
          <a:bodyPr/>
          <a:lstStyle/>
          <a:p>
            <a:r>
              <a:rPr lang="en-AU" dirty="0"/>
              <a:t>Other Components in Floor Plan View</a:t>
            </a:r>
          </a:p>
        </p:txBody>
      </p:sp>
      <p:pic>
        <p:nvPicPr>
          <p:cNvPr id="5" name="Content Placeholder 4">
            <a:extLst>
              <a:ext uri="{FF2B5EF4-FFF2-40B4-BE49-F238E27FC236}">
                <a16:creationId xmlns:a16="http://schemas.microsoft.com/office/drawing/2014/main" id="{373CE63B-034D-6754-495B-EF1036AAF938}"/>
              </a:ext>
            </a:extLst>
          </p:cNvPr>
          <p:cNvPicPr>
            <a:picLocks noGrp="1" noChangeAspect="1"/>
          </p:cNvPicPr>
          <p:nvPr>
            <p:ph idx="4294967295"/>
          </p:nvPr>
        </p:nvPicPr>
        <p:blipFill>
          <a:blip r:embed="rId2"/>
          <a:stretch>
            <a:fillRect/>
          </a:stretch>
        </p:blipFill>
        <p:spPr>
          <a:xfrm>
            <a:off x="332727" y="1362638"/>
            <a:ext cx="4849813" cy="4351338"/>
          </a:xfrm>
        </p:spPr>
      </p:pic>
      <p:pic>
        <p:nvPicPr>
          <p:cNvPr id="7" name="Picture 6">
            <a:extLst>
              <a:ext uri="{FF2B5EF4-FFF2-40B4-BE49-F238E27FC236}">
                <a16:creationId xmlns:a16="http://schemas.microsoft.com/office/drawing/2014/main" id="{70EF75AE-6A9A-9F87-2E12-650D7E42DC40}"/>
              </a:ext>
            </a:extLst>
          </p:cNvPr>
          <p:cNvPicPr>
            <a:picLocks noChangeAspect="1"/>
          </p:cNvPicPr>
          <p:nvPr/>
        </p:nvPicPr>
        <p:blipFill>
          <a:blip r:embed="rId3"/>
          <a:stretch>
            <a:fillRect/>
          </a:stretch>
        </p:blipFill>
        <p:spPr>
          <a:xfrm>
            <a:off x="5543961" y="1790356"/>
            <a:ext cx="6216927" cy="3923620"/>
          </a:xfrm>
          <a:prstGeom prst="rect">
            <a:avLst/>
          </a:prstGeom>
        </p:spPr>
      </p:pic>
      <p:sp>
        <p:nvSpPr>
          <p:cNvPr id="3" name="TextBox 2">
            <a:extLst>
              <a:ext uri="{FF2B5EF4-FFF2-40B4-BE49-F238E27FC236}">
                <a16:creationId xmlns:a16="http://schemas.microsoft.com/office/drawing/2014/main" id="{151AFED3-B572-EE92-98C7-F72E319C8354}"/>
              </a:ext>
            </a:extLst>
          </p:cNvPr>
          <p:cNvSpPr txBox="1"/>
          <p:nvPr/>
        </p:nvSpPr>
        <p:spPr>
          <a:xfrm>
            <a:off x="8840701" y="5841779"/>
            <a:ext cx="3183466" cy="276999"/>
          </a:xfrm>
          <a:prstGeom prst="rect">
            <a:avLst/>
          </a:prstGeom>
          <a:noFill/>
        </p:spPr>
        <p:txBody>
          <a:bodyPr wrap="square">
            <a:spAutoFit/>
          </a:bodyPr>
          <a:lstStyle/>
          <a:p>
            <a:r>
              <a:rPr lang="en-AU" sz="1200" i="0" dirty="0">
                <a:solidFill>
                  <a:srgbClr val="000000"/>
                </a:solidFill>
                <a:effectLst/>
                <a:latin typeface="ff2"/>
              </a:rPr>
              <a:t>Source: VCE Technical Drawing Speciﬁcations</a:t>
            </a:r>
            <a:endParaRPr lang="en-AU" sz="1200" dirty="0"/>
          </a:p>
        </p:txBody>
      </p:sp>
    </p:spTree>
    <p:extLst>
      <p:ext uri="{BB962C8B-B14F-4D97-AF65-F5344CB8AC3E}">
        <p14:creationId xmlns:p14="http://schemas.microsoft.com/office/powerpoint/2010/main" val="22738078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0B38D-8F12-32A7-5A82-5EDEF7803909}"/>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1CBF893D-D60F-72D6-5AFC-CCD85F00F8E4}"/>
              </a:ext>
            </a:extLst>
          </p:cNvPr>
          <p:cNvSpPr txBox="1">
            <a:spLocks/>
          </p:cNvSpPr>
          <p:nvPr/>
        </p:nvSpPr>
        <p:spPr>
          <a:xfrm>
            <a:off x="1055867" y="2824669"/>
            <a:ext cx="7156371"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a:t>
            </a:r>
            <a:r>
              <a:rPr lang="en-AU" dirty="0"/>
              <a:t>Refine the Group Floor Plan</a:t>
            </a:r>
            <a:endParaRPr lang="en-US" dirty="0"/>
          </a:p>
        </p:txBody>
      </p:sp>
    </p:spTree>
    <p:extLst>
      <p:ext uri="{BB962C8B-B14F-4D97-AF65-F5344CB8AC3E}">
        <p14:creationId xmlns:p14="http://schemas.microsoft.com/office/powerpoint/2010/main" val="352976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927E1C-4143-2566-E0EA-966D81F18937}"/>
              </a:ext>
            </a:extLst>
          </p:cNvPr>
          <p:cNvSpPr>
            <a:spLocks noGrp="1"/>
          </p:cNvSpPr>
          <p:nvPr>
            <p:ph type="body" sz="half" idx="2"/>
          </p:nvPr>
        </p:nvSpPr>
        <p:spPr>
          <a:xfrm>
            <a:off x="399737" y="1210220"/>
            <a:ext cx="11459536" cy="4437560"/>
          </a:xfrm>
        </p:spPr>
        <p:txBody>
          <a:bodyPr/>
          <a:lstStyle/>
          <a:p>
            <a:pPr marL="285750" indent="-285750">
              <a:lnSpc>
                <a:spcPct val="107000"/>
              </a:lnSpc>
              <a:spcAft>
                <a:spcPts val="800"/>
              </a:spcAft>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Zaha Hadid Architects. (2025).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Zaha Hadid Archives.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2"/>
              </a:rPr>
              <a:t>https://www.zaha-hadid.com/archive/?type=architecture</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OMA. (2025).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OMA Projects.</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3"/>
              </a:rPr>
              <a:t>https://www.oma.com/projects</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Pinterest. (2025).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Pinterest Image.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4"/>
              </a:rPr>
              <a:t>https://www.pinterest.com/</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Arch Daily. (2025).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Arch Daily Image</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5"/>
              </a:rPr>
              <a:t>https://www.archdaily.com/</a:t>
            </a:r>
            <a:endParaRPr lang="en-AU" sz="1800" kern="100" dirty="0">
              <a:latin typeface="Calibri" panose="020F0502020204030204" pitchFamily="34" charset="0"/>
              <a:ea typeface="DengXian" panose="02010600030101010101" pitchFamily="2" charset="-122"/>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Ching, F. (2023).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Design Drawing</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Wiley</a:t>
            </a:r>
          </a:p>
          <a:p>
            <a:pPr marL="285750" indent="-285750">
              <a:lnSpc>
                <a:spcPct val="107000"/>
              </a:lnSpc>
              <a:spcAft>
                <a:spcPts val="800"/>
              </a:spcAft>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Victorian Curriculum and Assessment Authority. (2018).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Technical Drawing Specifications Resource: A guide to support VCE Visual Communication Design study design 2018–22.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6"/>
              </a:rPr>
              <a:t>https://www.scribd.com/document/383339569/VCE-Technical-Drawing-Specs</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Pinterest. (2025).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Pinterest Image.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4"/>
              </a:rPr>
              <a:t>https://www.pinterest.com/</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AU" dirty="0"/>
          </a:p>
        </p:txBody>
      </p:sp>
      <p:sp>
        <p:nvSpPr>
          <p:cNvPr id="2" name="Title 1">
            <a:extLst>
              <a:ext uri="{FF2B5EF4-FFF2-40B4-BE49-F238E27FC236}">
                <a16:creationId xmlns:a16="http://schemas.microsoft.com/office/drawing/2014/main" id="{81DE7ECB-BF10-A917-8A0A-87FA4D5B7AB1}"/>
              </a:ext>
            </a:extLst>
          </p:cNvPr>
          <p:cNvSpPr>
            <a:spLocks noGrp="1"/>
          </p:cNvSpPr>
          <p:nvPr>
            <p:ph type="title"/>
          </p:nvPr>
        </p:nvSpPr>
        <p:spPr/>
        <p:txBody>
          <a:bodyPr/>
          <a:lstStyle/>
          <a:p>
            <a:r>
              <a:rPr lang="en-AU" dirty="0"/>
              <a:t>Reference</a:t>
            </a:r>
          </a:p>
        </p:txBody>
      </p:sp>
    </p:spTree>
    <p:extLst>
      <p:ext uri="{BB962C8B-B14F-4D97-AF65-F5344CB8AC3E}">
        <p14:creationId xmlns:p14="http://schemas.microsoft.com/office/powerpoint/2010/main" val="38167763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2A4B707-13BF-4B4F-A3D8-BB605AB10BC5}"/>
              </a:ext>
            </a:extLst>
          </p:cNvPr>
          <p:cNvSpPr>
            <a:spLocks noGrp="1"/>
          </p:cNvSpPr>
          <p:nvPr>
            <p:ph type="ctrTitle" idx="4294967295"/>
          </p:nvPr>
        </p:nvSpPr>
        <p:spPr>
          <a:xfrm>
            <a:off x="1196322" y="1680966"/>
            <a:ext cx="5077440" cy="1052596"/>
          </a:xfrm>
        </p:spPr>
        <p:txBody>
          <a:bodyPr/>
          <a:lstStyle/>
          <a:p>
            <a:r>
              <a:rPr lang="en-US" sz="4400" dirty="0"/>
              <a:t>Thank you</a:t>
            </a:r>
            <a:br>
              <a:rPr lang="en-US" dirty="0"/>
            </a:br>
            <a:r>
              <a:rPr lang="en-US" b="0" dirty="0"/>
              <a:t>Questions?</a:t>
            </a:r>
            <a:endParaRPr lang="en-US" dirty="0"/>
          </a:p>
        </p:txBody>
      </p:sp>
    </p:spTree>
    <p:extLst>
      <p:ext uri="{BB962C8B-B14F-4D97-AF65-F5344CB8AC3E}">
        <p14:creationId xmlns:p14="http://schemas.microsoft.com/office/powerpoint/2010/main" val="1915363159"/>
      </p:ext>
    </p:extLst>
  </p:cSld>
  <p:clrMapOvr>
    <a:masterClrMapping/>
  </p:clrMapOvr>
</p:sld>
</file>

<file path=ppt/theme/theme1.xml><?xml version="1.0" encoding="utf-8"?>
<a:theme xmlns:a="http://schemas.openxmlformats.org/drawingml/2006/main" name="Office Theme">
  <a:themeElements>
    <a:clrScheme name="VU 2024">
      <a:dk1>
        <a:srgbClr val="000000"/>
      </a:dk1>
      <a:lt1>
        <a:srgbClr val="FFFFFF"/>
      </a:lt1>
      <a:dk2>
        <a:srgbClr val="262626"/>
      </a:dk2>
      <a:lt2>
        <a:srgbClr val="FFFFFF"/>
      </a:lt2>
      <a:accent1>
        <a:srgbClr val="5BC2E7"/>
      </a:accent1>
      <a:accent2>
        <a:srgbClr val="1E1248"/>
      </a:accent2>
      <a:accent3>
        <a:srgbClr val="ED6B5E"/>
      </a:accent3>
      <a:accent4>
        <a:srgbClr val="B39AD2"/>
      </a:accent4>
      <a:accent5>
        <a:srgbClr val="EEEEEE"/>
      </a:accent5>
      <a:accent6>
        <a:srgbClr val="6E6E6E"/>
      </a:accent6>
      <a:hlink>
        <a:srgbClr val="0C71AC"/>
      </a:hlink>
      <a:folHlink>
        <a:srgbClr val="6E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FCAF70F-E073-BF40-A79D-4081DC7CE9D1}" vid="{806BC320-17C3-6546-81D5-5AF729563D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a9cb1d79-f99f-49bb-8e2a-e2312126c491">
      <UserInfo>
        <DisplayName>Kate Hitchins</DisplayName>
        <AccountId>727</AccountId>
        <AccountType/>
      </UserInfo>
    </SharedWithUsers>
    <MediaLengthInSeconds xmlns="f38d7cb2-8266-40dc-9c80-5a14c72951d4" xsi:nil="true"/>
    <_activity xmlns="f38d7cb2-8266-40dc-9c80-5a14c72951d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9F76110527CE0478E6091AB5EC74898" ma:contentTypeVersion="15" ma:contentTypeDescription="Create a new document." ma:contentTypeScope="" ma:versionID="c1c5edefc9e02eae2714aa09383da356">
  <xsd:schema xmlns:xsd="http://www.w3.org/2001/XMLSchema" xmlns:xs="http://www.w3.org/2001/XMLSchema" xmlns:p="http://schemas.microsoft.com/office/2006/metadata/properties" xmlns:ns3="f38d7cb2-8266-40dc-9c80-5a14c72951d4" xmlns:ns4="a9cb1d79-f99f-49bb-8e2a-e2312126c491" targetNamespace="http://schemas.microsoft.com/office/2006/metadata/properties" ma:root="true" ma:fieldsID="843b90cf4550736d6ca05ee9401f6042" ns3:_="" ns4:_="">
    <xsd:import namespace="f38d7cb2-8266-40dc-9c80-5a14c72951d4"/>
    <xsd:import namespace="a9cb1d79-f99f-49bb-8e2a-e2312126c49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_activity" minOccurs="0"/>
                <xsd:element ref="ns3:MediaLengthInSeconds" minOccurs="0"/>
                <xsd:element ref="ns3:MediaServiceSearchProperties" minOccurs="0"/>
                <xsd:element ref="ns3:MediaServiceSystemTag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8d7cb2-8266-40dc-9c80-5a14c72951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cb1d79-f99f-49bb-8e2a-e2312126c49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9109AC-3400-4D6C-BF7D-EE9E1DA1F086}">
  <ds:schemaRefs>
    <ds:schemaRef ds:uri="http://schemas.microsoft.com/sharepoint/v3/contenttype/forms"/>
  </ds:schemaRefs>
</ds:datastoreItem>
</file>

<file path=customXml/itemProps2.xml><?xml version="1.0" encoding="utf-8"?>
<ds:datastoreItem xmlns:ds="http://schemas.openxmlformats.org/officeDocument/2006/customXml" ds:itemID="{FA9BFBAB-54D8-4D2B-81F7-50E6F7501764}">
  <ds:schemaRefs>
    <ds:schemaRef ds:uri="http://purl.org/dc/elements/1.1/"/>
    <ds:schemaRef ds:uri="http://purl.org/dc/terms/"/>
    <ds:schemaRef ds:uri="f38d7cb2-8266-40dc-9c80-5a14c72951d4"/>
    <ds:schemaRef ds:uri="a9cb1d79-f99f-49bb-8e2a-e2312126c491"/>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9744AE7C-1058-4C5F-8244-E3C6339272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8d7cb2-8266-40dc-9c80-5a14c72951d4"/>
    <ds:schemaRef ds:uri="a9cb1d79-f99f-49bb-8e2a-e2312126c4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VU_PPT Template</Template>
  <TotalTime>26</TotalTime>
  <Words>1000</Words>
  <Application>Microsoft Office PowerPoint</Application>
  <PresentationFormat>Widescreen</PresentationFormat>
  <Paragraphs>98</Paragraphs>
  <Slides>37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.Lucida Grande UI Regular</vt:lpstr>
      <vt:lpstr>__Inter_d65c78</vt:lpstr>
      <vt:lpstr>Arial</vt:lpstr>
      <vt:lpstr>Calibri</vt:lpstr>
      <vt:lpstr>ff2</vt:lpstr>
      <vt:lpstr>Helvetica Neue</vt:lpstr>
      <vt:lpstr>Source Sans Pro</vt:lpstr>
      <vt:lpstr>var(--font-geller,"GellerHeadline-Bold",Georgia-Bold)</vt:lpstr>
      <vt:lpstr>var(--font-manrope,"Manrope",Helvetica)</vt:lpstr>
      <vt:lpstr>Office Theme</vt:lpstr>
      <vt:lpstr>Session 5</vt:lpstr>
      <vt:lpstr>PowerPoint Presentation</vt:lpstr>
      <vt:lpstr>Quick Revision </vt:lpstr>
      <vt:lpstr>Design Method</vt:lpstr>
      <vt:lpstr>Conceptual Design</vt:lpstr>
      <vt:lpstr>Design by Making</vt:lpstr>
      <vt:lpstr>Analytical Design</vt:lpstr>
      <vt:lpstr>Computational Design</vt:lpstr>
      <vt:lpstr>Participatory Design </vt:lpstr>
      <vt:lpstr>Sustainable Design</vt:lpstr>
      <vt:lpstr>Evidence-Based Design</vt:lpstr>
      <vt:lpstr>Biophilic Design</vt:lpstr>
      <vt:lpstr>Universal Design</vt:lpstr>
      <vt:lpstr>Kinetic Design</vt:lpstr>
      <vt:lpstr>Modular Design</vt:lpstr>
      <vt:lpstr>Experiential Design</vt:lpstr>
      <vt:lpstr>PowerPoint Presentation</vt:lpstr>
      <vt:lpstr>Session 5</vt:lpstr>
      <vt:lpstr>Floor Plan and Other Drawings</vt:lpstr>
      <vt:lpstr>PowerPoint Presentation</vt:lpstr>
      <vt:lpstr>PowerPoint Presentation</vt:lpstr>
      <vt:lpstr>PowerPoint Presentation</vt:lpstr>
      <vt:lpstr>PowerPoint Presentation</vt:lpstr>
      <vt:lpstr>PowerPoint Presentation</vt:lpstr>
      <vt:lpstr>Steps of Setting Up a Floor Plan</vt:lpstr>
      <vt:lpstr>PowerPoint Presentation</vt:lpstr>
      <vt:lpstr>PowerPoint Presentation</vt:lpstr>
      <vt:lpstr>PowerPoint Presentation</vt:lpstr>
      <vt:lpstr>PowerPoint Presentation</vt:lpstr>
      <vt:lpstr>Steps of Documenting a Floor Plan</vt:lpstr>
      <vt:lpstr>PowerPoint Presentation</vt:lpstr>
      <vt:lpstr>Other Components in Floor Plan</vt:lpstr>
      <vt:lpstr>Other Components in Floor Plan View</vt:lpstr>
      <vt:lpstr>Other Components in Floor Plan View</vt:lpstr>
      <vt:lpstr>PowerPoint Presentation</vt:lpstr>
      <vt:lpstr>Reference</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Axnick</dc:creator>
  <cp:lastModifiedBy>Daniel Axnick</cp:lastModifiedBy>
  <cp:revision>4</cp:revision>
  <dcterms:created xsi:type="dcterms:W3CDTF">2025-01-30T23:38:47Z</dcterms:created>
  <dcterms:modified xsi:type="dcterms:W3CDTF">2025-02-03T01:38:11Z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0x010100D9F76110527CE0478E6091AB5EC74898</vt:lpwstr>
  </property>
  <property fmtid="{D5CDD505-2E9C-101B-9397-08002B2CF9AE}" pid="4" name="_dlc_DocIdItemGuid">
    <vt:lpwstr>c455dfeb-16d0-4085-bac7-566eeb3c23ee</vt:lpwstr>
  </property>
  <property fmtid="{D5CDD505-2E9C-101B-9397-08002B2CF9AE}" pid="5" name="MSIP_Label_d7dc88d9-fa17-47eb-a208-3e66f59d50e5_Enabled">
    <vt:lpwstr>true</vt:lpwstr>
  </property>
  <property fmtid="{D5CDD505-2E9C-101B-9397-08002B2CF9AE}" pid="6" name="MSIP_Label_d7dc88d9-fa17-47eb-a208-3e66f59d50e5_SetDate">
    <vt:lpwstr>2023-08-16T02:10:42Z</vt:lpwstr>
  </property>
  <property fmtid="{D5CDD505-2E9C-101B-9397-08002B2CF9AE}" pid="7" name="MSIP_Label_d7dc88d9-fa17-47eb-a208-3e66f59d50e5_Method">
    <vt:lpwstr>Standard</vt:lpwstr>
  </property>
  <property fmtid="{D5CDD505-2E9C-101B-9397-08002B2CF9AE}" pid="8" name="MSIP_Label_d7dc88d9-fa17-47eb-a208-3e66f59d50e5_Name">
    <vt:lpwstr>Internal</vt:lpwstr>
  </property>
  <property fmtid="{D5CDD505-2E9C-101B-9397-08002B2CF9AE}" pid="9" name="MSIP_Label_d7dc88d9-fa17-47eb-a208-3e66f59d50e5_SiteId">
    <vt:lpwstr>d51ba343-9258-4ea6-9907-426d8c84ec12</vt:lpwstr>
  </property>
  <property fmtid="{D5CDD505-2E9C-101B-9397-08002B2CF9AE}" pid="10" name="MSIP_Label_d7dc88d9-fa17-47eb-a208-3e66f59d50e5_ActionId">
    <vt:lpwstr>988a31dd-b6e9-4136-86c0-f7d1a748cb73</vt:lpwstr>
  </property>
  <property fmtid="{D5CDD505-2E9C-101B-9397-08002B2CF9AE}" pid="11" name="MSIP_Label_d7dc88d9-fa17-47eb-a208-3e66f59d50e5_ContentBits">
    <vt:lpwstr>0</vt:lpwstr>
  </property>
  <property fmtid="{D5CDD505-2E9C-101B-9397-08002B2CF9AE}" pid="12" name="Order">
    <vt:lpwstr>20776600.0000000</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lpwstr/>
  </property>
</Properties>
</file>