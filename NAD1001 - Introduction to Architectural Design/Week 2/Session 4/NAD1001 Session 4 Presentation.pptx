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1"/>
  </p:notesMasterIdLst>
  <p:sldIdLst>
    <p:sldId id="257" r:id="rId5"/>
    <p:sldId id="329" r:id="rId6"/>
    <p:sldId id="330" r:id="rId7"/>
    <p:sldId id="259" r:id="rId8"/>
    <p:sldId id="258" r:id="rId9"/>
    <p:sldId id="260" r:id="rId10"/>
    <p:sldId id="261" r:id="rId11"/>
    <p:sldId id="264" r:id="rId12"/>
    <p:sldId id="265" r:id="rId13"/>
    <p:sldId id="262" r:id="rId14"/>
    <p:sldId id="268" r:id="rId15"/>
    <p:sldId id="267" r:id="rId16"/>
    <p:sldId id="283" r:id="rId17"/>
    <p:sldId id="332" r:id="rId18"/>
    <p:sldId id="333" r:id="rId19"/>
    <p:sldId id="334" r:id="rId20"/>
    <p:sldId id="263" r:id="rId21"/>
    <p:sldId id="335" r:id="rId22"/>
    <p:sldId id="336" r:id="rId23"/>
    <p:sldId id="337" r:id="rId24"/>
    <p:sldId id="338" r:id="rId25"/>
    <p:sldId id="339" r:id="rId26"/>
    <p:sldId id="266" r:id="rId27"/>
    <p:sldId id="331" r:id="rId28"/>
    <p:sldId id="341" r:id="rId29"/>
    <p:sldId id="318" r:id="rId30"/>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165" d="100"/>
          <a:sy n="165" d="100"/>
        </p:scale>
        <p:origin x="34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B10B2-1B03-B484-43A6-622D747D5D5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B5695E9-794E-23D5-2F1E-16D859289C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4F420BE-37C0-434B-8976-3327FCD6EE14}"/>
              </a:ext>
            </a:extLst>
          </p:cNvPr>
          <p:cNvSpPr>
            <a:spLocks noGrp="1"/>
          </p:cNvSpPr>
          <p:nvPr>
            <p:ph type="dt" sz="half" idx="10"/>
          </p:nvPr>
        </p:nvSpPr>
        <p:spPr/>
        <p:txBody>
          <a:bodyPr/>
          <a:lstStyle/>
          <a:p>
            <a:fld id="{17AF54B5-A822-4066-AE98-0B4DB028E678}" type="datetimeFigureOut">
              <a:rPr lang="en-AU" smtClean="0"/>
              <a:t>3/02/2025</a:t>
            </a:fld>
            <a:endParaRPr lang="en-AU"/>
          </a:p>
        </p:txBody>
      </p:sp>
      <p:sp>
        <p:nvSpPr>
          <p:cNvPr id="5" name="Footer Placeholder 4">
            <a:extLst>
              <a:ext uri="{FF2B5EF4-FFF2-40B4-BE49-F238E27FC236}">
                <a16:creationId xmlns:a16="http://schemas.microsoft.com/office/drawing/2014/main" id="{42058F8D-0778-5D9C-D5AC-FA4CB522C4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871E945-DC46-5266-94E5-92337B5ECABD}"/>
              </a:ext>
            </a:extLst>
          </p:cNvPr>
          <p:cNvSpPr>
            <a:spLocks noGrp="1"/>
          </p:cNvSpPr>
          <p:nvPr>
            <p:ph type="sldNum" sz="quarter" idx="12"/>
          </p:nvPr>
        </p:nvSpPr>
        <p:spPr/>
        <p:txBody>
          <a:bodyPr/>
          <a:lstStyle/>
          <a:p>
            <a:fld id="{81BAC8D0-A8B4-4B86-8311-B3F01EA4EC29}" type="slidenum">
              <a:rPr lang="en-AU" smtClean="0"/>
              <a:t>‹#›</a:t>
            </a:fld>
            <a:endParaRPr lang="en-AU"/>
          </a:p>
        </p:txBody>
      </p:sp>
    </p:spTree>
    <p:extLst>
      <p:ext uri="{BB962C8B-B14F-4D97-AF65-F5344CB8AC3E}">
        <p14:creationId xmlns:p14="http://schemas.microsoft.com/office/powerpoint/2010/main" val="28543462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42.xml"/><Relationship Id="rId1" Type="http://schemas.openxmlformats.org/officeDocument/2006/relationships/video" Target="https://www.youtube.com/embed/0lent3mq6CE?feature=oembed"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16.xml"/><Relationship Id="rId4" Type="http://schemas.openxmlformats.org/officeDocument/2006/relationships/image" Target="../media/image29.jp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16.xml"/><Relationship Id="rId5" Type="http://schemas.openxmlformats.org/officeDocument/2006/relationships/image" Target="../media/image35.jpg"/><Relationship Id="rId4" Type="http://schemas.openxmlformats.org/officeDocument/2006/relationships/image" Target="../media/image34.jpeg"/></Relationships>
</file>

<file path=ppt/slides/_rels/slide1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16.xml"/><Relationship Id="rId5" Type="http://schemas.openxmlformats.org/officeDocument/2006/relationships/image" Target="../media/image39.jpg"/><Relationship Id="rId4" Type="http://schemas.openxmlformats.org/officeDocument/2006/relationships/image" Target="../media/image3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42.xml"/><Relationship Id="rId6" Type="http://schemas.openxmlformats.org/officeDocument/2006/relationships/image" Target="../media/image44.jpg"/><Relationship Id="rId5" Type="http://schemas.openxmlformats.org/officeDocument/2006/relationships/image" Target="../media/image43.jpg"/><Relationship Id="rId4" Type="http://schemas.openxmlformats.org/officeDocument/2006/relationships/image" Target="../media/image42.jpg"/></Relationships>
</file>

<file path=ppt/slides/_rels/slide1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42.xml"/><Relationship Id="rId6" Type="http://schemas.openxmlformats.org/officeDocument/2006/relationships/hyperlink" Target="https://www.archdaily.com/tag/china" TargetMode="External"/><Relationship Id="rId5" Type="http://schemas.openxmlformats.org/officeDocument/2006/relationships/hyperlink" Target="https://www.archdaily.com/tag/shenzhen" TargetMode="External"/><Relationship Id="rId4" Type="http://schemas.openxmlformats.org/officeDocument/2006/relationships/hyperlink" Target="http://www.archdaily.com/329005/oma-wins-skyscraper-competition-in-china/"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42.xml"/><Relationship Id="rId5" Type="http://schemas.openxmlformats.org/officeDocument/2006/relationships/image" Target="../media/image56.jpg"/><Relationship Id="rId4" Type="http://schemas.openxmlformats.org/officeDocument/2006/relationships/image" Target="../media/image5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hyperlink" Target="https://www.oma.com/projects" TargetMode="External"/><Relationship Id="rId2" Type="http://schemas.openxmlformats.org/officeDocument/2006/relationships/hyperlink" Target="https://www.zaha-hadid.com/archive/?type=architecture" TargetMode="External"/><Relationship Id="rId1" Type="http://schemas.openxmlformats.org/officeDocument/2006/relationships/slideLayout" Target="../slideLayouts/slideLayout16.xml"/><Relationship Id="rId4" Type="http://schemas.openxmlformats.org/officeDocument/2006/relationships/hyperlink" Target="https://www.pinterest.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4</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6CE74A-C891-F486-46DB-BD62A5C5F1F3}"/>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An architectural design concept is a foundational idea that </a:t>
            </a:r>
            <a:r>
              <a:rPr lang="en-US" b="1" dirty="0"/>
              <a:t>guides the overall design process of a building or an architectural project</a:t>
            </a:r>
            <a:r>
              <a:rPr lang="en-US" dirty="0"/>
              <a:t>. It represents the </a:t>
            </a:r>
            <a:r>
              <a:rPr lang="en-US" b="1" dirty="0"/>
              <a:t>core principles that shape the approach to the building's design</a:t>
            </a:r>
            <a:r>
              <a:rPr lang="en-US" dirty="0"/>
              <a:t>, including its function, form, and interactions with its surroundings. This concept typically </a:t>
            </a:r>
            <a:r>
              <a:rPr lang="en-US" b="1" dirty="0"/>
              <a:t>manifests through a theme, a central idea, or a metaphor</a:t>
            </a:r>
            <a:r>
              <a:rPr lang="en-US" dirty="0"/>
              <a:t> that directs all design decisions, aiming to create a coherent and functional aesthetic and practical output.</a:t>
            </a:r>
          </a:p>
          <a:p>
            <a:pPr marL="342900" indent="-342900">
              <a:buFont typeface="Arial" panose="020B0604020202020204" pitchFamily="34" charset="0"/>
              <a:buChar char="•"/>
            </a:pPr>
            <a:r>
              <a:rPr lang="en-US" dirty="0"/>
              <a:t>The underlaying idea that guides the project.</a:t>
            </a:r>
            <a:endParaRPr lang="en-AU" dirty="0"/>
          </a:p>
        </p:txBody>
      </p:sp>
      <p:sp>
        <p:nvSpPr>
          <p:cNvPr id="2" name="Title 1">
            <a:extLst>
              <a:ext uri="{FF2B5EF4-FFF2-40B4-BE49-F238E27FC236}">
                <a16:creationId xmlns:a16="http://schemas.microsoft.com/office/drawing/2014/main" id="{4F862B1D-394E-547D-7E62-83812EB92035}"/>
              </a:ext>
            </a:extLst>
          </p:cNvPr>
          <p:cNvSpPr>
            <a:spLocks noGrp="1"/>
          </p:cNvSpPr>
          <p:nvPr>
            <p:ph type="title"/>
          </p:nvPr>
        </p:nvSpPr>
        <p:spPr/>
        <p:txBody>
          <a:bodyPr/>
          <a:lstStyle/>
          <a:p>
            <a:r>
              <a:rPr lang="en-AU" dirty="0"/>
              <a:t>Introduction to Architectural Design Concept </a:t>
            </a:r>
          </a:p>
        </p:txBody>
      </p:sp>
    </p:spTree>
    <p:extLst>
      <p:ext uri="{BB962C8B-B14F-4D97-AF65-F5344CB8AC3E}">
        <p14:creationId xmlns:p14="http://schemas.microsoft.com/office/powerpoint/2010/main" val="2747721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E1ACE-853B-A9ED-41B4-BA20FA246BAD}"/>
              </a:ext>
            </a:extLst>
          </p:cNvPr>
          <p:cNvSpPr>
            <a:spLocks noGrp="1"/>
          </p:cNvSpPr>
          <p:nvPr>
            <p:ph type="title"/>
          </p:nvPr>
        </p:nvSpPr>
        <p:spPr/>
        <p:txBody>
          <a:bodyPr/>
          <a:lstStyle/>
          <a:p>
            <a:r>
              <a:rPr lang="en-AU" dirty="0"/>
              <a:t>Developing a Design Concept</a:t>
            </a:r>
          </a:p>
        </p:txBody>
      </p:sp>
      <p:pic>
        <p:nvPicPr>
          <p:cNvPr id="4" name="Online Media 3" title="How to Develop Innovative Architectural Concepts">
            <a:hlinkClick r:id="" action="ppaction://media"/>
            <a:extLst>
              <a:ext uri="{FF2B5EF4-FFF2-40B4-BE49-F238E27FC236}">
                <a16:creationId xmlns:a16="http://schemas.microsoft.com/office/drawing/2014/main" id="{54078642-A4B6-6776-1E8C-8DCD5F73AA66}"/>
              </a:ext>
            </a:extLst>
          </p:cNvPr>
          <p:cNvPicPr>
            <a:picLocks noRot="1" noChangeAspect="1"/>
          </p:cNvPicPr>
          <p:nvPr>
            <a:videoFile r:link="rId1"/>
          </p:nvPr>
        </p:nvPicPr>
        <p:blipFill>
          <a:blip r:embed="rId3"/>
          <a:stretch>
            <a:fillRect/>
          </a:stretch>
        </p:blipFill>
        <p:spPr>
          <a:xfrm>
            <a:off x="1361731" y="1093265"/>
            <a:ext cx="9148013" cy="5168639"/>
          </a:xfrm>
          <a:prstGeom prst="rect">
            <a:avLst/>
          </a:prstGeom>
        </p:spPr>
      </p:pic>
    </p:spTree>
    <p:extLst>
      <p:ext uri="{BB962C8B-B14F-4D97-AF65-F5344CB8AC3E}">
        <p14:creationId xmlns:p14="http://schemas.microsoft.com/office/powerpoint/2010/main" val="318389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2BD27-9C02-1F6A-F4CE-6EF661956B6F}"/>
              </a:ext>
            </a:extLst>
          </p:cNvPr>
          <p:cNvSpPr>
            <a:spLocks noGrp="1"/>
          </p:cNvSpPr>
          <p:nvPr>
            <p:ph type="body" sz="half" idx="2"/>
          </p:nvPr>
        </p:nvSpPr>
        <p:spPr>
          <a:xfrm>
            <a:off x="492335" y="1329687"/>
            <a:ext cx="4397969" cy="4351961"/>
          </a:xfrm>
        </p:spPr>
        <p:txBody>
          <a:bodyPr>
            <a:normAutofit/>
          </a:bodyPr>
          <a:lstStyle/>
          <a:p>
            <a:pPr marL="285750" indent="-285750">
              <a:buFont typeface="Arial" panose="020B0604020202020204" pitchFamily="34" charset="0"/>
              <a:buChar char="•"/>
            </a:pPr>
            <a:r>
              <a:rPr lang="en-AU" dirty="0"/>
              <a:t>Form </a:t>
            </a:r>
          </a:p>
          <a:p>
            <a:pPr marL="285750" indent="-285750">
              <a:buFont typeface="Arial" panose="020B0604020202020204" pitchFamily="34" charset="0"/>
              <a:buChar char="•"/>
            </a:pPr>
            <a:r>
              <a:rPr lang="en-AU" dirty="0"/>
              <a:t>Space</a:t>
            </a:r>
          </a:p>
          <a:p>
            <a:pPr marL="285750" indent="-285750">
              <a:buFont typeface="Arial" panose="020B0604020202020204" pitchFamily="34" charset="0"/>
              <a:buChar char="•"/>
            </a:pPr>
            <a:r>
              <a:rPr lang="en-AU" dirty="0"/>
              <a:t>Function</a:t>
            </a:r>
          </a:p>
          <a:p>
            <a:pPr marL="285750" indent="-285750">
              <a:buFont typeface="Arial" panose="020B0604020202020204" pitchFamily="34" charset="0"/>
              <a:buChar char="•"/>
            </a:pPr>
            <a:r>
              <a:rPr lang="en-AU" dirty="0"/>
              <a:t>Aesthetics</a:t>
            </a:r>
          </a:p>
          <a:p>
            <a:pPr marL="285750" indent="-285750">
              <a:buFont typeface="Arial" panose="020B0604020202020204" pitchFamily="34" charset="0"/>
              <a:buChar char="•"/>
            </a:pPr>
            <a:r>
              <a:rPr lang="en-AU" dirty="0"/>
              <a:t>And many more inspirations…</a:t>
            </a:r>
          </a:p>
          <a:p>
            <a:pPr marL="285750" indent="-285750">
              <a:buFont typeface="Arial" panose="020B0604020202020204" pitchFamily="34" charset="0"/>
              <a:buChar char="•"/>
            </a:pPr>
            <a:r>
              <a:rPr lang="en-AU" dirty="0"/>
              <a:t>Refer to the Seattle Library concept diagram by OMA to see how a concept is developed to a building … which type of concept do you think it is? </a:t>
            </a:r>
          </a:p>
          <a:p>
            <a:endParaRPr lang="en-AU" sz="1700" dirty="0"/>
          </a:p>
        </p:txBody>
      </p:sp>
      <p:sp>
        <p:nvSpPr>
          <p:cNvPr id="2" name="Title 1">
            <a:extLst>
              <a:ext uri="{FF2B5EF4-FFF2-40B4-BE49-F238E27FC236}">
                <a16:creationId xmlns:a16="http://schemas.microsoft.com/office/drawing/2014/main" id="{21364202-6674-7609-F5A4-10A2C5F31C68}"/>
              </a:ext>
            </a:extLst>
          </p:cNvPr>
          <p:cNvSpPr>
            <a:spLocks noGrp="1"/>
          </p:cNvSpPr>
          <p:nvPr>
            <p:ph type="title"/>
          </p:nvPr>
        </p:nvSpPr>
        <p:spPr/>
        <p:txBody>
          <a:bodyPr>
            <a:normAutofit fontScale="90000"/>
          </a:bodyPr>
          <a:lstStyle/>
          <a:p>
            <a:r>
              <a:rPr lang="en-AU" sz="4000"/>
              <a:t>Elements of Design Concept</a:t>
            </a:r>
          </a:p>
        </p:txBody>
      </p:sp>
      <p:pic>
        <p:nvPicPr>
          <p:cNvPr id="15" name="Picture 14" descr="A diagram of a building&#10;&#10;Description automatically generated with medium confidence">
            <a:extLst>
              <a:ext uri="{FF2B5EF4-FFF2-40B4-BE49-F238E27FC236}">
                <a16:creationId xmlns:a16="http://schemas.microsoft.com/office/drawing/2014/main" id="{525D587D-1C8A-2A88-A339-207712DFA777}"/>
              </a:ext>
            </a:extLst>
          </p:cNvPr>
          <p:cNvPicPr>
            <a:picLocks noChangeAspect="1"/>
          </p:cNvPicPr>
          <p:nvPr/>
        </p:nvPicPr>
        <p:blipFill>
          <a:blip r:embed="rId2">
            <a:extLst>
              <a:ext uri="{28A0092B-C50C-407E-A947-70E740481C1C}">
                <a14:useLocalDpi xmlns:a14="http://schemas.microsoft.com/office/drawing/2010/main" val="0"/>
              </a:ext>
            </a:extLst>
          </a:blip>
          <a:srcRect b="1553"/>
          <a:stretch/>
        </p:blipFill>
        <p:spPr>
          <a:xfrm>
            <a:off x="6129504" y="1049203"/>
            <a:ext cx="5144765" cy="4912928"/>
          </a:xfrm>
          <a:prstGeom prst="rect">
            <a:avLst/>
          </a:prstGeom>
          <a:effectLst/>
        </p:spPr>
      </p:pic>
      <p:sp>
        <p:nvSpPr>
          <p:cNvPr id="4" name="TextBox 3">
            <a:extLst>
              <a:ext uri="{FF2B5EF4-FFF2-40B4-BE49-F238E27FC236}">
                <a16:creationId xmlns:a16="http://schemas.microsoft.com/office/drawing/2014/main" id="{EB79CC18-C093-E0FB-455C-2387BCDEF97E}"/>
              </a:ext>
            </a:extLst>
          </p:cNvPr>
          <p:cNvSpPr txBox="1"/>
          <p:nvPr/>
        </p:nvSpPr>
        <p:spPr>
          <a:xfrm>
            <a:off x="10160790" y="5962131"/>
            <a:ext cx="121133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OMA</a:t>
            </a:r>
          </a:p>
        </p:txBody>
      </p:sp>
    </p:spTree>
    <p:extLst>
      <p:ext uri="{BB962C8B-B14F-4D97-AF65-F5344CB8AC3E}">
        <p14:creationId xmlns:p14="http://schemas.microsoft.com/office/powerpoint/2010/main" val="282797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3C514-263B-7BFD-4100-ED0941DE61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6C8304-AE71-4A16-F631-2A65DD43DA69}"/>
              </a:ext>
            </a:extLst>
          </p:cNvPr>
          <p:cNvSpPr>
            <a:spLocks noGrp="1"/>
          </p:cNvSpPr>
          <p:nvPr>
            <p:ph type="body" sz="half" idx="2"/>
          </p:nvPr>
        </p:nvSpPr>
        <p:spPr>
          <a:xfrm>
            <a:off x="366232" y="1097502"/>
            <a:ext cx="11459536" cy="4437560"/>
          </a:xfrm>
        </p:spPr>
        <p:txBody>
          <a:bodyPr>
            <a:normAutofit/>
          </a:bodyPr>
          <a:lstStyle/>
          <a:p>
            <a:r>
              <a:rPr lang="en-AU" dirty="0"/>
              <a:t>Function as a key concept - OMA Seattle Library</a:t>
            </a:r>
          </a:p>
        </p:txBody>
      </p:sp>
      <p:sp>
        <p:nvSpPr>
          <p:cNvPr id="2" name="Title 1">
            <a:extLst>
              <a:ext uri="{FF2B5EF4-FFF2-40B4-BE49-F238E27FC236}">
                <a16:creationId xmlns:a16="http://schemas.microsoft.com/office/drawing/2014/main" id="{7850CB54-A9A3-BF01-506A-FFD123B57637}"/>
              </a:ext>
            </a:extLst>
          </p:cNvPr>
          <p:cNvSpPr>
            <a:spLocks noGrp="1"/>
          </p:cNvSpPr>
          <p:nvPr>
            <p:ph type="title"/>
          </p:nvPr>
        </p:nvSpPr>
        <p:spPr/>
        <p:txBody>
          <a:bodyPr/>
          <a:lstStyle/>
          <a:p>
            <a:r>
              <a:rPr lang="en-AU" dirty="0"/>
              <a:t>Examples of Architectural Design Concepts</a:t>
            </a:r>
          </a:p>
        </p:txBody>
      </p:sp>
      <p:pic>
        <p:nvPicPr>
          <p:cNvPr id="4" name="Picture 3">
            <a:extLst>
              <a:ext uri="{FF2B5EF4-FFF2-40B4-BE49-F238E27FC236}">
                <a16:creationId xmlns:a16="http://schemas.microsoft.com/office/drawing/2014/main" id="{422117A4-E4A7-F491-C7A1-3B9CA0EE3AB4}"/>
              </a:ext>
            </a:extLst>
          </p:cNvPr>
          <p:cNvPicPr>
            <a:picLocks noChangeAspect="1"/>
          </p:cNvPicPr>
          <p:nvPr/>
        </p:nvPicPr>
        <p:blipFill>
          <a:blip r:embed="rId2">
            <a:extLst>
              <a:ext uri="{28A0092B-C50C-407E-A947-70E740481C1C}">
                <a14:useLocalDpi xmlns:a14="http://schemas.microsoft.com/office/drawing/2010/main" val="0"/>
              </a:ext>
            </a:extLst>
          </a:blip>
          <a:srcRect t="23799" b="28448"/>
          <a:stretch/>
        </p:blipFill>
        <p:spPr>
          <a:xfrm>
            <a:off x="858868" y="1518557"/>
            <a:ext cx="4727311" cy="1502228"/>
          </a:xfrm>
          <a:prstGeom prst="rect">
            <a:avLst/>
          </a:prstGeom>
        </p:spPr>
      </p:pic>
      <p:pic>
        <p:nvPicPr>
          <p:cNvPr id="5" name="Picture 4">
            <a:extLst>
              <a:ext uri="{FF2B5EF4-FFF2-40B4-BE49-F238E27FC236}">
                <a16:creationId xmlns:a16="http://schemas.microsoft.com/office/drawing/2014/main" id="{D51145EF-DB58-7F73-9F4E-3DFFD1C9CE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1125" y="1752669"/>
            <a:ext cx="6085114" cy="4056743"/>
          </a:xfrm>
          <a:prstGeom prst="rect">
            <a:avLst/>
          </a:prstGeom>
        </p:spPr>
      </p:pic>
      <p:pic>
        <p:nvPicPr>
          <p:cNvPr id="13" name="Picture 12" descr="A diagram of a building&#10;&#10;Description automatically generated with medium confidence">
            <a:extLst>
              <a:ext uri="{FF2B5EF4-FFF2-40B4-BE49-F238E27FC236}">
                <a16:creationId xmlns:a16="http://schemas.microsoft.com/office/drawing/2014/main" id="{6223F217-E58E-41F8-26B8-8AE64E98D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646" y="3183173"/>
            <a:ext cx="2987674" cy="2900589"/>
          </a:xfrm>
          <a:prstGeom prst="rect">
            <a:avLst/>
          </a:prstGeom>
        </p:spPr>
      </p:pic>
      <p:sp>
        <p:nvSpPr>
          <p:cNvPr id="6" name="TextBox 5">
            <a:extLst>
              <a:ext uri="{FF2B5EF4-FFF2-40B4-BE49-F238E27FC236}">
                <a16:creationId xmlns:a16="http://schemas.microsoft.com/office/drawing/2014/main" id="{ED1C89D0-A0EB-FFB9-E133-8406501FC781}"/>
              </a:ext>
            </a:extLst>
          </p:cNvPr>
          <p:cNvSpPr txBox="1"/>
          <p:nvPr/>
        </p:nvSpPr>
        <p:spPr>
          <a:xfrm>
            <a:off x="10915531" y="5897959"/>
            <a:ext cx="116995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OMA</a:t>
            </a:r>
          </a:p>
        </p:txBody>
      </p:sp>
    </p:spTree>
    <p:extLst>
      <p:ext uri="{BB962C8B-B14F-4D97-AF65-F5344CB8AC3E}">
        <p14:creationId xmlns:p14="http://schemas.microsoft.com/office/powerpoint/2010/main" val="2109014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26317-F0A7-EAC4-AD02-6550FF3ACA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13B6FC-04AA-C255-219D-2C49CEA9DC40}"/>
              </a:ext>
            </a:extLst>
          </p:cNvPr>
          <p:cNvSpPr>
            <a:spLocks noGrp="1"/>
          </p:cNvSpPr>
          <p:nvPr>
            <p:ph type="body" sz="half" idx="2"/>
          </p:nvPr>
        </p:nvSpPr>
        <p:spPr>
          <a:xfrm>
            <a:off x="399737" y="1161854"/>
            <a:ext cx="11459536" cy="4437560"/>
          </a:xfrm>
        </p:spPr>
        <p:txBody>
          <a:bodyPr/>
          <a:lstStyle/>
          <a:p>
            <a:r>
              <a:rPr lang="en-AU" dirty="0"/>
              <a:t>Form as a key concept - Frank Gehry Walt Disney Concert Hall </a:t>
            </a:r>
          </a:p>
        </p:txBody>
      </p:sp>
      <p:sp>
        <p:nvSpPr>
          <p:cNvPr id="2" name="Title 1">
            <a:extLst>
              <a:ext uri="{FF2B5EF4-FFF2-40B4-BE49-F238E27FC236}">
                <a16:creationId xmlns:a16="http://schemas.microsoft.com/office/drawing/2014/main" id="{F60AA9C6-16B1-7B56-462E-D750AB4CF462}"/>
              </a:ext>
            </a:extLst>
          </p:cNvPr>
          <p:cNvSpPr>
            <a:spLocks noGrp="1"/>
          </p:cNvSpPr>
          <p:nvPr>
            <p:ph type="title"/>
          </p:nvPr>
        </p:nvSpPr>
        <p:spPr/>
        <p:txBody>
          <a:bodyPr/>
          <a:lstStyle/>
          <a:p>
            <a:r>
              <a:rPr lang="en-AU" dirty="0"/>
              <a:t>Examples of Architectural Design Concepts</a:t>
            </a:r>
          </a:p>
        </p:txBody>
      </p:sp>
      <p:pic>
        <p:nvPicPr>
          <p:cNvPr id="5" name="Picture 4">
            <a:extLst>
              <a:ext uri="{FF2B5EF4-FFF2-40B4-BE49-F238E27FC236}">
                <a16:creationId xmlns:a16="http://schemas.microsoft.com/office/drawing/2014/main" id="{A777EA47-0E03-C98F-90BF-BF31E1DD54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727" y="1883580"/>
            <a:ext cx="5414247" cy="4042638"/>
          </a:xfrm>
          <a:prstGeom prst="rect">
            <a:avLst/>
          </a:prstGeom>
        </p:spPr>
      </p:pic>
      <p:pic>
        <p:nvPicPr>
          <p:cNvPr id="7" name="Picture 6">
            <a:extLst>
              <a:ext uri="{FF2B5EF4-FFF2-40B4-BE49-F238E27FC236}">
                <a16:creationId xmlns:a16="http://schemas.microsoft.com/office/drawing/2014/main" id="{236708C7-1FA8-0AB8-478C-A2C25FC54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8127" y="1883580"/>
            <a:ext cx="6075002" cy="4042638"/>
          </a:xfrm>
          <a:prstGeom prst="rect">
            <a:avLst/>
          </a:prstGeom>
        </p:spPr>
      </p:pic>
      <p:sp>
        <p:nvSpPr>
          <p:cNvPr id="4" name="TextBox 3">
            <a:extLst>
              <a:ext uri="{FF2B5EF4-FFF2-40B4-BE49-F238E27FC236}">
                <a16:creationId xmlns:a16="http://schemas.microsoft.com/office/drawing/2014/main" id="{B28EF6A3-A97B-5617-E74A-1362A754D8F3}"/>
              </a:ext>
            </a:extLst>
          </p:cNvPr>
          <p:cNvSpPr txBox="1"/>
          <p:nvPr/>
        </p:nvSpPr>
        <p:spPr>
          <a:xfrm>
            <a:off x="10724694" y="5926218"/>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108198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2AF8-7AEB-7512-1AAD-985FE79A79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23C40-72CF-61C8-3CB0-67C4D04CE40A}"/>
              </a:ext>
            </a:extLst>
          </p:cNvPr>
          <p:cNvSpPr>
            <a:spLocks noGrp="1"/>
          </p:cNvSpPr>
          <p:nvPr>
            <p:ph type="body" sz="half" idx="2"/>
          </p:nvPr>
        </p:nvSpPr>
        <p:spPr>
          <a:xfrm>
            <a:off x="332728" y="999070"/>
            <a:ext cx="11459536" cy="4437560"/>
          </a:xfrm>
        </p:spPr>
        <p:txBody>
          <a:bodyPr/>
          <a:lstStyle/>
          <a:p>
            <a:r>
              <a:rPr lang="en-AU" dirty="0"/>
              <a:t>Space as a key concept – Peter </a:t>
            </a:r>
            <a:r>
              <a:rPr lang="en-AU" dirty="0" err="1"/>
              <a:t>Zumthor</a:t>
            </a:r>
            <a:r>
              <a:rPr lang="en-AU" dirty="0"/>
              <a:t> Thermal </a:t>
            </a:r>
            <a:r>
              <a:rPr lang="en-AU" dirty="0" err="1"/>
              <a:t>Vals</a:t>
            </a:r>
            <a:endParaRPr lang="en-AU" dirty="0"/>
          </a:p>
        </p:txBody>
      </p:sp>
      <p:sp>
        <p:nvSpPr>
          <p:cNvPr id="2" name="Title 1">
            <a:extLst>
              <a:ext uri="{FF2B5EF4-FFF2-40B4-BE49-F238E27FC236}">
                <a16:creationId xmlns:a16="http://schemas.microsoft.com/office/drawing/2014/main" id="{522A357F-D37F-4064-74CF-503A7119A690}"/>
              </a:ext>
            </a:extLst>
          </p:cNvPr>
          <p:cNvSpPr>
            <a:spLocks noGrp="1"/>
          </p:cNvSpPr>
          <p:nvPr>
            <p:ph type="title"/>
          </p:nvPr>
        </p:nvSpPr>
        <p:spPr/>
        <p:txBody>
          <a:bodyPr/>
          <a:lstStyle/>
          <a:p>
            <a:r>
              <a:rPr lang="en-AU" dirty="0"/>
              <a:t>Examples of Architectural Design Concepts</a:t>
            </a:r>
          </a:p>
        </p:txBody>
      </p:sp>
      <p:pic>
        <p:nvPicPr>
          <p:cNvPr id="6" name="Picture 5">
            <a:extLst>
              <a:ext uri="{FF2B5EF4-FFF2-40B4-BE49-F238E27FC236}">
                <a16:creationId xmlns:a16="http://schemas.microsoft.com/office/drawing/2014/main" id="{8315302D-BF1B-DA55-D32C-3879642ACE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645" y="1950198"/>
            <a:ext cx="5120431" cy="3225872"/>
          </a:xfrm>
          <a:prstGeom prst="rect">
            <a:avLst/>
          </a:prstGeom>
        </p:spPr>
      </p:pic>
      <p:pic>
        <p:nvPicPr>
          <p:cNvPr id="9" name="Picture 8" descr="A floor plan of a building&#10;&#10;Description automatically generated">
            <a:extLst>
              <a:ext uri="{FF2B5EF4-FFF2-40B4-BE49-F238E27FC236}">
                <a16:creationId xmlns:a16="http://schemas.microsoft.com/office/drawing/2014/main" id="{945595F6-61FA-27FA-F1A1-C03CBB6AA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9386" y="3516518"/>
            <a:ext cx="3247345" cy="2613218"/>
          </a:xfrm>
          <a:prstGeom prst="rect">
            <a:avLst/>
          </a:prstGeom>
        </p:spPr>
      </p:pic>
      <p:pic>
        <p:nvPicPr>
          <p:cNvPr id="11" name="Picture 10">
            <a:extLst>
              <a:ext uri="{FF2B5EF4-FFF2-40B4-BE49-F238E27FC236}">
                <a16:creationId xmlns:a16="http://schemas.microsoft.com/office/drawing/2014/main" id="{5098781F-95D4-5AC0-8E16-DF00857FB2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3733" y="999070"/>
            <a:ext cx="3738652" cy="2803639"/>
          </a:xfrm>
          <a:prstGeom prst="rect">
            <a:avLst/>
          </a:prstGeom>
        </p:spPr>
      </p:pic>
      <p:sp>
        <p:nvSpPr>
          <p:cNvPr id="4" name="TextBox 3">
            <a:extLst>
              <a:ext uri="{FF2B5EF4-FFF2-40B4-BE49-F238E27FC236}">
                <a16:creationId xmlns:a16="http://schemas.microsoft.com/office/drawing/2014/main" id="{ABB03652-DFBE-5E20-E46A-18C4D6D6C5C1}"/>
              </a:ext>
            </a:extLst>
          </p:cNvPr>
          <p:cNvSpPr txBox="1"/>
          <p:nvPr/>
        </p:nvSpPr>
        <p:spPr>
          <a:xfrm>
            <a:off x="480645" y="5203613"/>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1721631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F70B-3D05-4677-C7DF-50ED34BF9C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53BDD-9BEF-1649-F1ED-3A0FC48D8A33}"/>
              </a:ext>
            </a:extLst>
          </p:cNvPr>
          <p:cNvSpPr>
            <a:spLocks noGrp="1"/>
          </p:cNvSpPr>
          <p:nvPr>
            <p:ph type="body" sz="half" idx="2"/>
          </p:nvPr>
        </p:nvSpPr>
        <p:spPr/>
        <p:txBody>
          <a:bodyPr>
            <a:normAutofit/>
          </a:bodyPr>
          <a:lstStyle/>
          <a:p>
            <a:r>
              <a:rPr lang="en-AU" dirty="0"/>
              <a:t>Aesthetics/Symbolism as a key concept Tadao Ando Church of Light </a:t>
            </a:r>
          </a:p>
        </p:txBody>
      </p:sp>
      <p:sp>
        <p:nvSpPr>
          <p:cNvPr id="2" name="Title 1">
            <a:extLst>
              <a:ext uri="{FF2B5EF4-FFF2-40B4-BE49-F238E27FC236}">
                <a16:creationId xmlns:a16="http://schemas.microsoft.com/office/drawing/2014/main" id="{B92D3611-9794-F4B4-DCCD-904EB7F61DC7}"/>
              </a:ext>
            </a:extLst>
          </p:cNvPr>
          <p:cNvSpPr>
            <a:spLocks noGrp="1"/>
          </p:cNvSpPr>
          <p:nvPr>
            <p:ph type="title"/>
          </p:nvPr>
        </p:nvSpPr>
        <p:spPr/>
        <p:txBody>
          <a:bodyPr/>
          <a:lstStyle/>
          <a:p>
            <a:r>
              <a:rPr lang="en-AU" dirty="0"/>
              <a:t>Examples of Architectural Design Concepts</a:t>
            </a:r>
          </a:p>
        </p:txBody>
      </p:sp>
      <p:pic>
        <p:nvPicPr>
          <p:cNvPr id="5" name="Picture 4">
            <a:extLst>
              <a:ext uri="{FF2B5EF4-FFF2-40B4-BE49-F238E27FC236}">
                <a16:creationId xmlns:a16="http://schemas.microsoft.com/office/drawing/2014/main" id="{95794329-3E55-26CE-B1B8-531BCC5AA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551793"/>
            <a:ext cx="5838298" cy="3575958"/>
          </a:xfrm>
          <a:prstGeom prst="rect">
            <a:avLst/>
          </a:prstGeom>
        </p:spPr>
      </p:pic>
      <p:pic>
        <p:nvPicPr>
          <p:cNvPr id="8" name="Picture 7" descr="A collage of different images of stairs&#10;&#10;Description automatically generated">
            <a:extLst>
              <a:ext uri="{FF2B5EF4-FFF2-40B4-BE49-F238E27FC236}">
                <a16:creationId xmlns:a16="http://schemas.microsoft.com/office/drawing/2014/main" id="{E2AC2C40-DB39-F60A-9347-D03DA64AD2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4743" y="2551794"/>
            <a:ext cx="6357256" cy="3575957"/>
          </a:xfrm>
          <a:prstGeom prst="rect">
            <a:avLst/>
          </a:prstGeom>
        </p:spPr>
      </p:pic>
      <p:sp>
        <p:nvSpPr>
          <p:cNvPr id="4" name="TextBox 3">
            <a:extLst>
              <a:ext uri="{FF2B5EF4-FFF2-40B4-BE49-F238E27FC236}">
                <a16:creationId xmlns:a16="http://schemas.microsoft.com/office/drawing/2014/main" id="{E707E8F9-62D5-A77E-B1A6-B23F9E27169C}"/>
              </a:ext>
            </a:extLst>
          </p:cNvPr>
          <p:cNvSpPr txBox="1"/>
          <p:nvPr/>
        </p:nvSpPr>
        <p:spPr>
          <a:xfrm>
            <a:off x="10139017" y="2180244"/>
            <a:ext cx="211999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a:t>
            </a:r>
            <a:r>
              <a:rPr lang="en-AU" sz="1800" dirty="0" err="1"/>
              <a:t>ArchDaily</a:t>
            </a:r>
            <a:endParaRPr lang="en-AU" sz="1800" dirty="0"/>
          </a:p>
        </p:txBody>
      </p:sp>
    </p:spTree>
    <p:extLst>
      <p:ext uri="{BB962C8B-B14F-4D97-AF65-F5344CB8AC3E}">
        <p14:creationId xmlns:p14="http://schemas.microsoft.com/office/powerpoint/2010/main" val="2353786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06BCA-A7EE-3AE1-613A-2B42C3099A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C943C-27ED-7EC2-537A-921CDCB19C29}"/>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AU" dirty="0"/>
              <a:t>Concept V.S. Manifesto</a:t>
            </a:r>
          </a:p>
          <a:p>
            <a:pPr marL="342900" indent="-342900">
              <a:buFont typeface="Arial" panose="020B0604020202020204" pitchFamily="34" charset="0"/>
              <a:buChar char="•"/>
            </a:pPr>
            <a:r>
              <a:rPr lang="en-US" dirty="0"/>
              <a:t>Scope and Application: Concepts are applied to individual projects and are essential for practical design development. Manifestos have a broader cultural or theoretical scope and aim to influence the field of architecture at large.</a:t>
            </a:r>
          </a:p>
          <a:p>
            <a:pPr marL="342900" indent="-342900">
              <a:buFont typeface="Arial" panose="020B0604020202020204" pitchFamily="34" charset="0"/>
              <a:buChar char="•"/>
            </a:pPr>
            <a:r>
              <a:rPr lang="en-US" dirty="0"/>
              <a:t>Content: Concepts deal with practical and aesthetic considerations specific to a project, whereas manifestos address broader philosophical or ethical issues.</a:t>
            </a:r>
          </a:p>
          <a:p>
            <a:pPr marL="342900" indent="-342900">
              <a:buFont typeface="Arial" panose="020B0604020202020204" pitchFamily="34" charset="0"/>
              <a:buChar char="•"/>
            </a:pPr>
            <a:r>
              <a:rPr lang="en-US" dirty="0"/>
              <a:t>Impact: While a design concept influences the outcome of a specific architectural project, a manifesto seeks to impact the architectural community and practices globally, often pushing for shifts in approach or thinking.</a:t>
            </a:r>
            <a:endParaRPr lang="en-AU" dirty="0"/>
          </a:p>
        </p:txBody>
      </p:sp>
      <p:sp>
        <p:nvSpPr>
          <p:cNvPr id="2" name="Title 1">
            <a:extLst>
              <a:ext uri="{FF2B5EF4-FFF2-40B4-BE49-F238E27FC236}">
                <a16:creationId xmlns:a16="http://schemas.microsoft.com/office/drawing/2014/main" id="{00C4F65F-F5B0-407B-7BC5-2911A8B3C0A9}"/>
              </a:ext>
            </a:extLst>
          </p:cNvPr>
          <p:cNvSpPr>
            <a:spLocks noGrp="1"/>
          </p:cNvSpPr>
          <p:nvPr>
            <p:ph type="title"/>
          </p:nvPr>
        </p:nvSpPr>
        <p:spPr/>
        <p:txBody>
          <a:bodyPr/>
          <a:lstStyle/>
          <a:p>
            <a:r>
              <a:rPr lang="en-AU" dirty="0"/>
              <a:t>Manifesto in Architecture</a:t>
            </a:r>
          </a:p>
        </p:txBody>
      </p:sp>
    </p:spTree>
    <p:extLst>
      <p:ext uri="{BB962C8B-B14F-4D97-AF65-F5344CB8AC3E}">
        <p14:creationId xmlns:p14="http://schemas.microsoft.com/office/powerpoint/2010/main" val="3162421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36F9C-9A89-6919-54EE-E9B540DB602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E120021-B4FC-D8BB-1DD4-213B87D81245}"/>
              </a:ext>
            </a:extLst>
          </p:cNvPr>
          <p:cNvSpPr>
            <a:spLocks noGrp="1"/>
          </p:cNvSpPr>
          <p:nvPr>
            <p:ph type="body" sz="half" idx="2"/>
          </p:nvPr>
        </p:nvSpPr>
        <p:spPr>
          <a:xfrm>
            <a:off x="341841" y="1130872"/>
            <a:ext cx="3379397" cy="4208799"/>
          </a:xfrm>
        </p:spPr>
        <p:txBody>
          <a:bodyPr>
            <a:normAutofit fontScale="77500" lnSpcReduction="20000"/>
          </a:bodyPr>
          <a:lstStyle/>
          <a:p>
            <a:pPr marL="342900" indent="-342900">
              <a:buFont typeface="Arial" panose="020B0604020202020204" pitchFamily="34" charset="0"/>
              <a:buChar char="•"/>
            </a:pPr>
            <a:r>
              <a:rPr lang="en-US" dirty="0"/>
              <a:t>Author: Le Corbusier</a:t>
            </a:r>
          </a:p>
          <a:p>
            <a:pPr marL="342900" indent="-342900">
              <a:buFont typeface="Arial" panose="020B0604020202020204" pitchFamily="34" charset="0"/>
              <a:buChar char="•"/>
            </a:pPr>
            <a:r>
              <a:rPr lang="en-US" dirty="0"/>
              <a:t>Year	: 1926</a:t>
            </a:r>
          </a:p>
          <a:p>
            <a:pPr marL="342900" indent="-342900">
              <a:buFont typeface="Arial" panose="020B0604020202020204" pitchFamily="34" charset="0"/>
              <a:buChar char="•"/>
            </a:pPr>
            <a:r>
              <a:rPr lang="en-US" dirty="0"/>
              <a:t>Summary: Le Corbusier’s “</a:t>
            </a:r>
            <a:r>
              <a:rPr lang="en-US" b="1" dirty="0"/>
              <a:t>Five Points towards a New Architecture</a:t>
            </a:r>
            <a:r>
              <a:rPr lang="en-US" dirty="0"/>
              <a:t>,” 1926 manifesto, advocate for elevating buildings on </a:t>
            </a:r>
            <a:r>
              <a:rPr lang="en-US" dirty="0" err="1"/>
              <a:t>pilotis</a:t>
            </a:r>
            <a:r>
              <a:rPr lang="en-US" dirty="0"/>
              <a:t> (columns) to create open space, employing a free façade through load-bearing columns for design flexibility, adopting open floor plans for adaptability, using continuous ribbon windows for uniform light distribution, and incorporating rooftop gardens for green space and comfort. These principles encapsulate his vision for a modern, functional, and harmonious architectural approach that continues to impact design philosophy.</a:t>
            </a:r>
            <a:endParaRPr lang="en-AU" dirty="0"/>
          </a:p>
        </p:txBody>
      </p:sp>
      <p:sp>
        <p:nvSpPr>
          <p:cNvPr id="2" name="Title 1">
            <a:extLst>
              <a:ext uri="{FF2B5EF4-FFF2-40B4-BE49-F238E27FC236}">
                <a16:creationId xmlns:a16="http://schemas.microsoft.com/office/drawing/2014/main" id="{F75F61AE-649D-B8AD-85EA-62493356D622}"/>
              </a:ext>
            </a:extLst>
          </p:cNvPr>
          <p:cNvSpPr>
            <a:spLocks noGrp="1"/>
          </p:cNvSpPr>
          <p:nvPr>
            <p:ph type="title"/>
          </p:nvPr>
        </p:nvSpPr>
        <p:spPr/>
        <p:txBody>
          <a:bodyPr/>
          <a:lstStyle/>
          <a:p>
            <a:r>
              <a:rPr lang="en-AU" dirty="0"/>
              <a:t>Example Manifesto in Architecture</a:t>
            </a:r>
          </a:p>
        </p:txBody>
      </p:sp>
      <p:pic>
        <p:nvPicPr>
          <p:cNvPr id="7" name="Picture 6">
            <a:extLst>
              <a:ext uri="{FF2B5EF4-FFF2-40B4-BE49-F238E27FC236}">
                <a16:creationId xmlns:a16="http://schemas.microsoft.com/office/drawing/2014/main" id="{9B43D000-1DB3-6B9F-0453-231894387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0248" y="2951781"/>
            <a:ext cx="4158511" cy="2962940"/>
          </a:xfrm>
          <a:prstGeom prst="rect">
            <a:avLst/>
          </a:prstGeom>
        </p:spPr>
      </p:pic>
      <p:pic>
        <p:nvPicPr>
          <p:cNvPr id="4" name="Picture 3" descr="A white building with a round tower&#10;&#10;Description automatically generated">
            <a:extLst>
              <a:ext uri="{FF2B5EF4-FFF2-40B4-BE49-F238E27FC236}">
                <a16:creationId xmlns:a16="http://schemas.microsoft.com/office/drawing/2014/main" id="{70BE8F43-05A1-9E2E-7F10-F4815272A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4872" y="1048310"/>
            <a:ext cx="3543904" cy="1352550"/>
          </a:xfrm>
          <a:prstGeom prst="rect">
            <a:avLst/>
          </a:prstGeom>
        </p:spPr>
      </p:pic>
      <p:pic>
        <p:nvPicPr>
          <p:cNvPr id="8" name="Picture 7" descr="A diagram of a house&#10;&#10;Description automatically generated">
            <a:extLst>
              <a:ext uri="{FF2B5EF4-FFF2-40B4-BE49-F238E27FC236}">
                <a16:creationId xmlns:a16="http://schemas.microsoft.com/office/drawing/2014/main" id="{06E2B0E0-A245-7AF7-8684-FD30C8E6C5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3453" y="787035"/>
            <a:ext cx="3543904" cy="2657928"/>
          </a:xfrm>
          <a:prstGeom prst="rect">
            <a:avLst/>
          </a:prstGeom>
        </p:spPr>
      </p:pic>
      <p:pic>
        <p:nvPicPr>
          <p:cNvPr id="10" name="Picture 9" descr="A drawing of a building&#10;&#10;Description automatically generated">
            <a:extLst>
              <a:ext uri="{FF2B5EF4-FFF2-40B4-BE49-F238E27FC236}">
                <a16:creationId xmlns:a16="http://schemas.microsoft.com/office/drawing/2014/main" id="{5C05855A-A4D9-FA97-8B5F-3484C12F44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04742" y="3531203"/>
            <a:ext cx="2860222" cy="2383518"/>
          </a:xfrm>
          <a:prstGeom prst="rect">
            <a:avLst/>
          </a:prstGeom>
        </p:spPr>
      </p:pic>
      <p:sp>
        <p:nvSpPr>
          <p:cNvPr id="3" name="TextBox 2">
            <a:extLst>
              <a:ext uri="{FF2B5EF4-FFF2-40B4-BE49-F238E27FC236}">
                <a16:creationId xmlns:a16="http://schemas.microsoft.com/office/drawing/2014/main" id="{5C457D60-FFBE-6962-B247-864FA8467FA4}"/>
              </a:ext>
            </a:extLst>
          </p:cNvPr>
          <p:cNvSpPr txBox="1"/>
          <p:nvPr/>
        </p:nvSpPr>
        <p:spPr>
          <a:xfrm>
            <a:off x="778932" y="6344556"/>
            <a:ext cx="211999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Pinterest</a:t>
            </a:r>
          </a:p>
        </p:txBody>
      </p:sp>
    </p:spTree>
    <p:extLst>
      <p:ext uri="{BB962C8B-B14F-4D97-AF65-F5344CB8AC3E}">
        <p14:creationId xmlns:p14="http://schemas.microsoft.com/office/powerpoint/2010/main" val="1526839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DC310-C68F-1010-3E5A-91538F68A6E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2920600-CA71-93C3-5288-B26E48A2D069}"/>
              </a:ext>
            </a:extLst>
          </p:cNvPr>
          <p:cNvSpPr>
            <a:spLocks noGrp="1"/>
          </p:cNvSpPr>
          <p:nvPr>
            <p:ph type="body" sz="half" idx="2"/>
          </p:nvPr>
        </p:nvSpPr>
        <p:spPr>
          <a:xfrm>
            <a:off x="381039" y="1084008"/>
            <a:ext cx="4068091" cy="4689984"/>
          </a:xfrm>
        </p:spPr>
        <p:txBody>
          <a:bodyPr>
            <a:normAutofit fontScale="92500" lnSpcReduction="20000"/>
          </a:bodyPr>
          <a:lstStyle/>
          <a:p>
            <a:pPr marL="342900" indent="-342900">
              <a:buFont typeface="Arial" panose="020B0604020202020204" pitchFamily="34" charset="0"/>
              <a:buChar char="•"/>
            </a:pPr>
            <a:r>
              <a:rPr lang="en-US" dirty="0"/>
              <a:t>Author: Bjarke Ingles (BIG)</a:t>
            </a:r>
          </a:p>
          <a:p>
            <a:pPr marL="342900" indent="-342900">
              <a:buFont typeface="Arial" panose="020B0604020202020204" pitchFamily="34" charset="0"/>
              <a:buChar char="•"/>
            </a:pPr>
            <a:r>
              <a:rPr lang="en-US" dirty="0"/>
              <a:t>Summary: One of the most famous expressions of BIG’s architectural philosophy is encapsulated in the "Yes is More" manifesto. This manifesto, which is also the title of a comic book written by Bjarke Ingels, serves as an accessible and dynamic way to present BIG's projects and ideas. It embodies the firm’s approach to architecture and urbanism, focusing on the possibilities rather than the limitations by embracing a can-do spirit.</a:t>
            </a:r>
          </a:p>
          <a:p>
            <a:pPr marL="342900" indent="-342900">
              <a:buFont typeface="Arial" panose="020B0604020202020204" pitchFamily="34" charset="0"/>
              <a:buChar char="•"/>
            </a:pPr>
            <a:r>
              <a:rPr lang="en-US" dirty="0"/>
              <a:t>Inclusivity over Exclusivity</a:t>
            </a:r>
          </a:p>
          <a:p>
            <a:pPr marL="342900" indent="-342900">
              <a:buFont typeface="Arial" panose="020B0604020202020204" pitchFamily="34" charset="0"/>
              <a:buChar char="•"/>
            </a:pPr>
            <a:r>
              <a:rPr lang="en-US" dirty="0"/>
              <a:t>Sustainability as Desirable not as Constraint</a:t>
            </a:r>
          </a:p>
          <a:p>
            <a:pPr marL="342900" indent="-342900">
              <a:buFont typeface="Arial" panose="020B0604020202020204" pitchFamily="34" charset="0"/>
              <a:buChar char="•"/>
            </a:pPr>
            <a:r>
              <a:rPr lang="en-AU" dirty="0"/>
              <a:t>Pragmatic Utopian Architecture </a:t>
            </a:r>
          </a:p>
        </p:txBody>
      </p:sp>
      <p:sp>
        <p:nvSpPr>
          <p:cNvPr id="2" name="Title 1">
            <a:extLst>
              <a:ext uri="{FF2B5EF4-FFF2-40B4-BE49-F238E27FC236}">
                <a16:creationId xmlns:a16="http://schemas.microsoft.com/office/drawing/2014/main" id="{C703C12C-8D22-D329-CF56-D9C7CA5EFC29}"/>
              </a:ext>
            </a:extLst>
          </p:cNvPr>
          <p:cNvSpPr>
            <a:spLocks noGrp="1"/>
          </p:cNvSpPr>
          <p:nvPr>
            <p:ph type="title"/>
          </p:nvPr>
        </p:nvSpPr>
        <p:spPr/>
        <p:txBody>
          <a:bodyPr/>
          <a:lstStyle/>
          <a:p>
            <a:r>
              <a:rPr lang="en-AU" dirty="0"/>
              <a:t>Example Manifesto in Architecture</a:t>
            </a:r>
          </a:p>
        </p:txBody>
      </p:sp>
      <p:pic>
        <p:nvPicPr>
          <p:cNvPr id="9" name="Picture 8">
            <a:extLst>
              <a:ext uri="{FF2B5EF4-FFF2-40B4-BE49-F238E27FC236}">
                <a16:creationId xmlns:a16="http://schemas.microsoft.com/office/drawing/2014/main" id="{578FFD96-7879-97D1-CE2B-30BD90B46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7386" y="3709554"/>
            <a:ext cx="4190935" cy="2200241"/>
          </a:xfrm>
          <a:prstGeom prst="rect">
            <a:avLst/>
          </a:prstGeom>
        </p:spPr>
      </p:pic>
      <p:pic>
        <p:nvPicPr>
          <p:cNvPr id="11" name="Picture 10">
            <a:extLst>
              <a:ext uri="{FF2B5EF4-FFF2-40B4-BE49-F238E27FC236}">
                <a16:creationId xmlns:a16="http://schemas.microsoft.com/office/drawing/2014/main" id="{DC8F76B2-149D-5516-0A45-FA9FD64707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7386" y="1084008"/>
            <a:ext cx="4190935" cy="2423122"/>
          </a:xfrm>
          <a:prstGeom prst="rect">
            <a:avLst/>
          </a:prstGeom>
        </p:spPr>
      </p:pic>
      <p:pic>
        <p:nvPicPr>
          <p:cNvPr id="13" name="Picture 12">
            <a:extLst>
              <a:ext uri="{FF2B5EF4-FFF2-40B4-BE49-F238E27FC236}">
                <a16:creationId xmlns:a16="http://schemas.microsoft.com/office/drawing/2014/main" id="{6A75CA11-4D31-6AF3-ED40-EB9A23C39F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33681" y="3709554"/>
            <a:ext cx="3252853" cy="2436500"/>
          </a:xfrm>
          <a:prstGeom prst="rect">
            <a:avLst/>
          </a:prstGeom>
        </p:spPr>
      </p:pic>
      <p:pic>
        <p:nvPicPr>
          <p:cNvPr id="15" name="Picture 14" descr="A person sitting at a desk with books on it&#10;&#10;Description automatically generated">
            <a:extLst>
              <a:ext uri="{FF2B5EF4-FFF2-40B4-BE49-F238E27FC236}">
                <a16:creationId xmlns:a16="http://schemas.microsoft.com/office/drawing/2014/main" id="{96474A5C-1B7E-5997-1581-500990DB55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3682" y="1084008"/>
            <a:ext cx="3252853" cy="2498273"/>
          </a:xfrm>
          <a:prstGeom prst="rect">
            <a:avLst/>
          </a:prstGeom>
        </p:spPr>
      </p:pic>
      <p:sp>
        <p:nvSpPr>
          <p:cNvPr id="3" name="TextBox 2">
            <a:extLst>
              <a:ext uri="{FF2B5EF4-FFF2-40B4-BE49-F238E27FC236}">
                <a16:creationId xmlns:a16="http://schemas.microsoft.com/office/drawing/2014/main" id="{F0FE90F7-7F50-F666-5C85-AB467E5702CD}"/>
              </a:ext>
            </a:extLst>
          </p:cNvPr>
          <p:cNvSpPr txBox="1"/>
          <p:nvPr/>
        </p:nvSpPr>
        <p:spPr>
          <a:xfrm>
            <a:off x="9988329" y="5916292"/>
            <a:ext cx="2119992"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324433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01B985D1-474E-44A1-0C8D-59A48F1BB2BE}"/>
              </a:ext>
            </a:extLst>
          </p:cNvPr>
          <p:cNvSpPr txBox="1">
            <a:spLocks/>
          </p:cNvSpPr>
          <p:nvPr/>
        </p:nvSpPr>
        <p:spPr>
          <a:xfrm>
            <a:off x="1246850" y="2985802"/>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AU" dirty="0"/>
              <a:t>Activity 1: Create a Design Concept</a:t>
            </a:r>
            <a:endParaRPr lang="en-US" dirty="0"/>
          </a:p>
        </p:txBody>
      </p:sp>
    </p:spTree>
    <p:extLst>
      <p:ext uri="{BB962C8B-B14F-4D97-AF65-F5344CB8AC3E}">
        <p14:creationId xmlns:p14="http://schemas.microsoft.com/office/powerpoint/2010/main" val="4129433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361F1-97B3-6BD9-CBBE-9AADF5AAA60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2F50D29-8570-52D8-D56B-D3C741C5A6D7}"/>
              </a:ext>
            </a:extLst>
          </p:cNvPr>
          <p:cNvSpPr>
            <a:spLocks noGrp="1"/>
          </p:cNvSpPr>
          <p:nvPr>
            <p:ph type="ctrTitle"/>
          </p:nvPr>
        </p:nvSpPr>
        <p:spPr>
          <a:xfrm>
            <a:off x="599440" y="1832433"/>
            <a:ext cx="6291512" cy="1479648"/>
          </a:xfrm>
        </p:spPr>
        <p:txBody>
          <a:bodyPr lIns="0" tIns="0" rIns="0" bIns="0"/>
          <a:lstStyle/>
          <a:p>
            <a:r>
              <a:rPr lang="en-US" dirty="0"/>
              <a:t>Session 4</a:t>
            </a:r>
          </a:p>
        </p:txBody>
      </p:sp>
      <p:sp>
        <p:nvSpPr>
          <p:cNvPr id="10" name="Subtitle 2">
            <a:extLst>
              <a:ext uri="{FF2B5EF4-FFF2-40B4-BE49-F238E27FC236}">
                <a16:creationId xmlns:a16="http://schemas.microsoft.com/office/drawing/2014/main" id="{808EF377-8484-B550-299C-2DDBE7503B67}"/>
              </a:ext>
            </a:extLst>
          </p:cNvPr>
          <p:cNvSpPr>
            <a:spLocks noGrp="1"/>
          </p:cNvSpPr>
          <p:nvPr>
            <p:ph type="subTitle" idx="1"/>
          </p:nvPr>
        </p:nvSpPr>
        <p:spPr>
          <a:xfrm>
            <a:off x="599440" y="2579438"/>
            <a:ext cx="5069840" cy="990115"/>
          </a:xfrm>
        </p:spPr>
        <p:txBody>
          <a:bodyPr lIns="0" tIns="0" rIns="0" bIns="0"/>
          <a:lstStyle/>
          <a:p>
            <a:r>
              <a:rPr lang="en-US" dirty="0"/>
              <a:t>Massing</a:t>
            </a:r>
          </a:p>
        </p:txBody>
      </p:sp>
    </p:spTree>
    <p:extLst>
      <p:ext uri="{BB962C8B-B14F-4D97-AF65-F5344CB8AC3E}">
        <p14:creationId xmlns:p14="http://schemas.microsoft.com/office/powerpoint/2010/main" val="1188193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764D29-BABD-5899-BBD2-02F66C9B2438}"/>
              </a:ext>
            </a:extLst>
          </p:cNvPr>
          <p:cNvSpPr>
            <a:spLocks noGrp="1"/>
          </p:cNvSpPr>
          <p:nvPr>
            <p:ph type="body" sz="half" idx="2"/>
          </p:nvPr>
        </p:nvSpPr>
        <p:spPr/>
        <p:txBody>
          <a:bodyPr/>
          <a:lstStyle/>
          <a:p>
            <a:pPr marL="342900" indent="-342900">
              <a:buFont typeface="Arial" panose="020B0604020202020204" pitchFamily="34" charset="0"/>
              <a:buChar char="•"/>
            </a:pPr>
            <a:r>
              <a:rPr lang="en-US" b="1" dirty="0"/>
              <a:t>Definition</a:t>
            </a:r>
            <a:r>
              <a:rPr lang="en-US" dirty="0"/>
              <a:t>: Massing refers to the composition of a building’s overall shape and form as defined by its volume and three-dimensional configuration.</a:t>
            </a:r>
          </a:p>
          <a:p>
            <a:pPr marL="342900" indent="-342900">
              <a:buFont typeface="Arial" panose="020B0604020202020204" pitchFamily="34" charset="0"/>
              <a:buChar char="•"/>
            </a:pPr>
            <a:r>
              <a:rPr lang="en-US" b="1" dirty="0"/>
              <a:t>Importance</a:t>
            </a:r>
            <a:r>
              <a:rPr lang="en-US" dirty="0"/>
              <a:t>: It plays a critical role in defining the aesthetic and functional qualities of a building, influencing both the internal layout and the external appearance.</a:t>
            </a:r>
          </a:p>
          <a:p>
            <a:pPr marL="342900" indent="-342900">
              <a:buFont typeface="Arial" panose="020B0604020202020204" pitchFamily="34" charset="0"/>
              <a:buChar char="•"/>
            </a:pPr>
            <a:r>
              <a:rPr lang="en-US" dirty="0"/>
              <a:t>Usually conducted at the initial Design Phase </a:t>
            </a:r>
            <a:endParaRPr lang="en-AU" dirty="0"/>
          </a:p>
        </p:txBody>
      </p:sp>
      <p:sp>
        <p:nvSpPr>
          <p:cNvPr id="2" name="Title 1">
            <a:extLst>
              <a:ext uri="{FF2B5EF4-FFF2-40B4-BE49-F238E27FC236}">
                <a16:creationId xmlns:a16="http://schemas.microsoft.com/office/drawing/2014/main" id="{31926EB6-D395-23B9-E5D9-8B3B78F091A2}"/>
              </a:ext>
            </a:extLst>
          </p:cNvPr>
          <p:cNvSpPr>
            <a:spLocks noGrp="1"/>
          </p:cNvSpPr>
          <p:nvPr>
            <p:ph type="title"/>
          </p:nvPr>
        </p:nvSpPr>
        <p:spPr/>
        <p:txBody>
          <a:bodyPr/>
          <a:lstStyle/>
          <a:p>
            <a:r>
              <a:rPr lang="en-AU" dirty="0"/>
              <a:t>Introduction to Architectural Massing</a:t>
            </a:r>
          </a:p>
        </p:txBody>
      </p:sp>
    </p:spTree>
    <p:extLst>
      <p:ext uri="{BB962C8B-B14F-4D97-AF65-F5344CB8AC3E}">
        <p14:creationId xmlns:p14="http://schemas.microsoft.com/office/powerpoint/2010/main" val="1596882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0EBB6-0FF2-E016-0106-B8F6A4DBB9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A0D6D-D810-185F-FB54-E9BB99E74142}"/>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Key Principles: Scale (the size of building elements in relation to each other), proportion (the relationship between the different parts of the building), and hierarchy (the emphasis placed on certain parts of the building over others).</a:t>
            </a:r>
          </a:p>
          <a:p>
            <a:pPr marL="342900" indent="-342900">
              <a:buFont typeface="Arial" panose="020B0604020202020204" pitchFamily="34" charset="0"/>
              <a:buChar char="•"/>
            </a:pPr>
            <a:r>
              <a:rPr lang="en-US" dirty="0"/>
              <a:t>Zoning and set back are key factors too.</a:t>
            </a:r>
          </a:p>
          <a:p>
            <a:pPr marL="342900" indent="-342900">
              <a:buFont typeface="Arial" panose="020B0604020202020204" pitchFamily="34" charset="0"/>
              <a:buChar char="•"/>
            </a:pPr>
            <a:r>
              <a:rPr lang="en-US" dirty="0"/>
              <a:t>Impact: Proper massing ensures that a building is harmonious with its surroundings and meets the functional needs of its users.</a:t>
            </a:r>
            <a:endParaRPr lang="en-AU" dirty="0"/>
          </a:p>
        </p:txBody>
      </p:sp>
      <p:sp>
        <p:nvSpPr>
          <p:cNvPr id="2" name="Title 1">
            <a:extLst>
              <a:ext uri="{FF2B5EF4-FFF2-40B4-BE49-F238E27FC236}">
                <a16:creationId xmlns:a16="http://schemas.microsoft.com/office/drawing/2014/main" id="{3BA92A4A-9DD5-ECD7-F5E8-5FF9FEE9205F}"/>
              </a:ext>
            </a:extLst>
          </p:cNvPr>
          <p:cNvSpPr>
            <a:spLocks noGrp="1"/>
          </p:cNvSpPr>
          <p:nvPr>
            <p:ph type="title"/>
          </p:nvPr>
        </p:nvSpPr>
        <p:spPr/>
        <p:txBody>
          <a:bodyPr/>
          <a:lstStyle/>
          <a:p>
            <a:r>
              <a:rPr lang="en-AU" dirty="0"/>
              <a:t>Principles of Massing</a:t>
            </a:r>
          </a:p>
        </p:txBody>
      </p:sp>
    </p:spTree>
    <p:extLst>
      <p:ext uri="{BB962C8B-B14F-4D97-AF65-F5344CB8AC3E}">
        <p14:creationId xmlns:p14="http://schemas.microsoft.com/office/powerpoint/2010/main" val="3955757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2A69B-F8EF-53B3-A595-2B7D3EC2E8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9A04E8-202A-8518-3530-53DD27A8BF79}"/>
              </a:ext>
            </a:extLst>
          </p:cNvPr>
          <p:cNvSpPr>
            <a:spLocks noGrp="1"/>
          </p:cNvSpPr>
          <p:nvPr>
            <p:ph type="body" sz="half" idx="2"/>
          </p:nvPr>
        </p:nvSpPr>
        <p:spPr/>
        <p:txBody>
          <a:bodyPr/>
          <a:lstStyle/>
          <a:p>
            <a:pPr marL="342900" indent="-342900">
              <a:buFont typeface="Arial" panose="020B0604020202020204" pitchFamily="34" charset="0"/>
              <a:buChar char="•"/>
            </a:pPr>
            <a:r>
              <a:rPr lang="en-US" dirty="0"/>
              <a:t>Site Constraints: Include limitations and opportunities presented by the site's topography, climate, and existing structures.</a:t>
            </a:r>
          </a:p>
          <a:p>
            <a:pPr marL="342900" indent="-342900">
              <a:buFont typeface="Arial" panose="020B0604020202020204" pitchFamily="34" charset="0"/>
              <a:buChar char="•"/>
            </a:pPr>
            <a:r>
              <a:rPr lang="en-US" dirty="0"/>
              <a:t>Regulatory Factors: Massing must comply with zoning laws, building codes, and other regulatory frameworks that may dictate building height, bulk, and setback.</a:t>
            </a:r>
          </a:p>
          <a:p>
            <a:pPr marL="342900" indent="-342900">
              <a:buFont typeface="Arial" panose="020B0604020202020204" pitchFamily="34" charset="0"/>
              <a:buChar char="•"/>
            </a:pPr>
            <a:r>
              <a:rPr lang="en-US" dirty="0"/>
              <a:t>From Concept to Massing </a:t>
            </a:r>
          </a:p>
          <a:p>
            <a:pPr marL="342900" indent="-342900">
              <a:buFont typeface="Arial" panose="020B0604020202020204" pitchFamily="34" charset="0"/>
              <a:buChar char="•"/>
            </a:pPr>
            <a:r>
              <a:rPr lang="en-US" dirty="0"/>
              <a:t>From Site Analysis to Massing</a:t>
            </a:r>
          </a:p>
          <a:p>
            <a:pPr marL="342900" indent="-342900">
              <a:buFont typeface="Arial" panose="020B0604020202020204" pitchFamily="34" charset="0"/>
              <a:buChar char="•"/>
            </a:pPr>
            <a:r>
              <a:rPr lang="en-US" dirty="0"/>
              <a:t>From Function Arrangement to Massing </a:t>
            </a:r>
            <a:r>
              <a:rPr lang="en-US" dirty="0" err="1"/>
              <a:t>etc</a:t>
            </a:r>
            <a:r>
              <a:rPr lang="en-US" dirty="0"/>
              <a:t>… (refer to the next page for examples of each)</a:t>
            </a:r>
            <a:endParaRPr lang="en-AU" dirty="0"/>
          </a:p>
        </p:txBody>
      </p:sp>
      <p:sp>
        <p:nvSpPr>
          <p:cNvPr id="2" name="Title 1">
            <a:extLst>
              <a:ext uri="{FF2B5EF4-FFF2-40B4-BE49-F238E27FC236}">
                <a16:creationId xmlns:a16="http://schemas.microsoft.com/office/drawing/2014/main" id="{3A78B24B-1615-CABB-8BB6-C7F5FF9E57AB}"/>
              </a:ext>
            </a:extLst>
          </p:cNvPr>
          <p:cNvSpPr>
            <a:spLocks noGrp="1"/>
          </p:cNvSpPr>
          <p:nvPr>
            <p:ph type="title"/>
          </p:nvPr>
        </p:nvSpPr>
        <p:spPr/>
        <p:txBody>
          <a:bodyPr/>
          <a:lstStyle/>
          <a:p>
            <a:r>
              <a:rPr lang="en-AU" dirty="0"/>
              <a:t>Factors Impacting Massing</a:t>
            </a:r>
          </a:p>
        </p:txBody>
      </p:sp>
    </p:spTree>
    <p:extLst>
      <p:ext uri="{BB962C8B-B14F-4D97-AF65-F5344CB8AC3E}">
        <p14:creationId xmlns:p14="http://schemas.microsoft.com/office/powerpoint/2010/main" val="1532819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D65A-2311-54FE-C655-6DAC8C8FDA7A}"/>
              </a:ext>
            </a:extLst>
          </p:cNvPr>
          <p:cNvSpPr>
            <a:spLocks noGrp="1"/>
          </p:cNvSpPr>
          <p:nvPr>
            <p:ph type="title"/>
          </p:nvPr>
        </p:nvSpPr>
        <p:spPr/>
        <p:txBody>
          <a:bodyPr/>
          <a:lstStyle/>
          <a:p>
            <a:r>
              <a:rPr lang="en-AU" dirty="0"/>
              <a:t>Massing Studies – Digital  </a:t>
            </a:r>
          </a:p>
        </p:txBody>
      </p:sp>
      <p:pic>
        <p:nvPicPr>
          <p:cNvPr id="5" name="Content Placeholder 4">
            <a:extLst>
              <a:ext uri="{FF2B5EF4-FFF2-40B4-BE49-F238E27FC236}">
                <a16:creationId xmlns:a16="http://schemas.microsoft.com/office/drawing/2014/main" id="{45E21798-1387-A86F-3117-02E57203A5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214" y="1272500"/>
            <a:ext cx="3431117" cy="2287411"/>
          </a:xfrm>
        </p:spPr>
      </p:pic>
      <p:pic>
        <p:nvPicPr>
          <p:cNvPr id="7" name="Picture 6" descr="A diagram of different types of cubes&#10;&#10;Description automatically generated">
            <a:extLst>
              <a:ext uri="{FF2B5EF4-FFF2-40B4-BE49-F238E27FC236}">
                <a16:creationId xmlns:a16="http://schemas.microsoft.com/office/drawing/2014/main" id="{B9560304-219B-0874-DE8F-FE7A254F4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5521" y="0"/>
            <a:ext cx="4626479" cy="6858000"/>
          </a:xfrm>
          <a:prstGeom prst="rect">
            <a:avLst/>
          </a:prstGeom>
        </p:spPr>
      </p:pic>
      <p:pic>
        <p:nvPicPr>
          <p:cNvPr id="9" name="Picture 8" descr="A diagram of different types of cubes&#10;&#10;Description automatically generated">
            <a:extLst>
              <a:ext uri="{FF2B5EF4-FFF2-40B4-BE49-F238E27FC236}">
                <a16:creationId xmlns:a16="http://schemas.microsoft.com/office/drawing/2014/main" id="{14A89F57-75A2-6966-6A98-B538C2C441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043" y="4004732"/>
            <a:ext cx="3431117" cy="2488143"/>
          </a:xfrm>
          <a:prstGeom prst="rect">
            <a:avLst/>
          </a:prstGeom>
        </p:spPr>
      </p:pic>
      <p:pic>
        <p:nvPicPr>
          <p:cNvPr id="11" name="Picture 10" descr="A group of different colored shapes&#10;&#10;Description automatically generated">
            <a:extLst>
              <a:ext uri="{FF2B5EF4-FFF2-40B4-BE49-F238E27FC236}">
                <a16:creationId xmlns:a16="http://schemas.microsoft.com/office/drawing/2014/main" id="{87E5FA16-66A3-2E14-F6C4-1CDAB921EF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69897" y="1202973"/>
            <a:ext cx="3551060" cy="2663295"/>
          </a:xfrm>
          <a:prstGeom prst="rect">
            <a:avLst/>
          </a:prstGeom>
        </p:spPr>
      </p:pic>
      <p:pic>
        <p:nvPicPr>
          <p:cNvPr id="13" name="Picture 12">
            <a:extLst>
              <a:ext uri="{FF2B5EF4-FFF2-40B4-BE49-F238E27FC236}">
                <a16:creationId xmlns:a16="http://schemas.microsoft.com/office/drawing/2014/main" id="{1483F711-28B4-21D2-DDDE-D52B812764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4821" y="3957406"/>
            <a:ext cx="3101038" cy="2582794"/>
          </a:xfrm>
          <a:prstGeom prst="rect">
            <a:avLst/>
          </a:prstGeom>
        </p:spPr>
      </p:pic>
      <p:sp>
        <p:nvSpPr>
          <p:cNvPr id="3" name="TextBox 3">
            <a:extLst>
              <a:ext uri="{FF2B5EF4-FFF2-40B4-BE49-F238E27FC236}">
                <a16:creationId xmlns:a16="http://schemas.microsoft.com/office/drawing/2014/main" id="{E707E8F9-62D5-A77E-B1A6-B23F9E27169C}"/>
              </a:ext>
            </a:extLst>
          </p:cNvPr>
          <p:cNvSpPr txBox="1"/>
          <p:nvPr/>
        </p:nvSpPr>
        <p:spPr>
          <a:xfrm>
            <a:off x="7669138" y="6492875"/>
            <a:ext cx="211999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Pinterest</a:t>
            </a:r>
          </a:p>
        </p:txBody>
      </p:sp>
    </p:spTree>
    <p:extLst>
      <p:ext uri="{BB962C8B-B14F-4D97-AF65-F5344CB8AC3E}">
        <p14:creationId xmlns:p14="http://schemas.microsoft.com/office/powerpoint/2010/main" val="2246554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44AF4-878F-1819-EB46-18E7566CF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0E560-964E-83D3-92BB-51E5616A0135}"/>
              </a:ext>
            </a:extLst>
          </p:cNvPr>
          <p:cNvSpPr>
            <a:spLocks noGrp="1"/>
          </p:cNvSpPr>
          <p:nvPr>
            <p:ph type="title"/>
          </p:nvPr>
        </p:nvSpPr>
        <p:spPr/>
        <p:txBody>
          <a:bodyPr/>
          <a:lstStyle/>
          <a:p>
            <a:r>
              <a:rPr lang="en-AU" dirty="0"/>
              <a:t>Massing Studies – Modelling</a:t>
            </a:r>
          </a:p>
        </p:txBody>
      </p:sp>
      <p:pic>
        <p:nvPicPr>
          <p:cNvPr id="5" name="Content Placeholder 4">
            <a:extLst>
              <a:ext uri="{FF2B5EF4-FFF2-40B4-BE49-F238E27FC236}">
                <a16:creationId xmlns:a16="http://schemas.microsoft.com/office/drawing/2014/main" id="{A1648D57-5BDD-9507-855F-87BC230B04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794932"/>
            <a:ext cx="5063068" cy="5063068"/>
          </a:xfrm>
        </p:spPr>
      </p:pic>
      <p:pic>
        <p:nvPicPr>
          <p:cNvPr id="7" name="Picture 6">
            <a:extLst>
              <a:ext uri="{FF2B5EF4-FFF2-40B4-BE49-F238E27FC236}">
                <a16:creationId xmlns:a16="http://schemas.microsoft.com/office/drawing/2014/main" id="{BC7E344D-5CC7-162F-6E97-15FAD1BA82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4331" y="1797248"/>
            <a:ext cx="6747669" cy="5060752"/>
          </a:xfrm>
          <a:prstGeom prst="rect">
            <a:avLst/>
          </a:prstGeom>
        </p:spPr>
      </p:pic>
      <p:sp>
        <p:nvSpPr>
          <p:cNvPr id="3" name="TextBox 3">
            <a:extLst>
              <a:ext uri="{FF2B5EF4-FFF2-40B4-BE49-F238E27FC236}">
                <a16:creationId xmlns:a16="http://schemas.microsoft.com/office/drawing/2014/main" id="{39CAF255-A338-BD35-47C3-2A3F559BF8FF}"/>
              </a:ext>
            </a:extLst>
          </p:cNvPr>
          <p:cNvSpPr txBox="1"/>
          <p:nvPr/>
        </p:nvSpPr>
        <p:spPr>
          <a:xfrm>
            <a:off x="10072008" y="1425600"/>
            <a:ext cx="211999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Pinterest</a:t>
            </a:r>
          </a:p>
        </p:txBody>
      </p:sp>
    </p:spTree>
    <p:extLst>
      <p:ext uri="{BB962C8B-B14F-4D97-AF65-F5344CB8AC3E}">
        <p14:creationId xmlns:p14="http://schemas.microsoft.com/office/powerpoint/2010/main" val="3663778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84F58-7EB2-911B-6602-D0FA241F2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AA254-2681-59BB-6F4D-06C28752087B}"/>
              </a:ext>
            </a:extLst>
          </p:cNvPr>
          <p:cNvSpPr>
            <a:spLocks noGrp="1"/>
          </p:cNvSpPr>
          <p:nvPr>
            <p:ph type="title"/>
          </p:nvPr>
        </p:nvSpPr>
        <p:spPr/>
        <p:txBody>
          <a:bodyPr/>
          <a:lstStyle/>
          <a:p>
            <a:r>
              <a:rPr lang="en-AU" dirty="0"/>
              <a:t>Massing Studies – Sketching</a:t>
            </a:r>
          </a:p>
        </p:txBody>
      </p:sp>
      <p:pic>
        <p:nvPicPr>
          <p:cNvPr id="5" name="Content Placeholder 4">
            <a:extLst>
              <a:ext uri="{FF2B5EF4-FFF2-40B4-BE49-F238E27FC236}">
                <a16:creationId xmlns:a16="http://schemas.microsoft.com/office/drawing/2014/main" id="{09DAF4E4-A492-06E8-2584-0146A4BA84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3651924" cy="5167312"/>
          </a:xfrm>
        </p:spPr>
      </p:pic>
      <p:pic>
        <p:nvPicPr>
          <p:cNvPr id="7" name="Picture 6">
            <a:extLst>
              <a:ext uri="{FF2B5EF4-FFF2-40B4-BE49-F238E27FC236}">
                <a16:creationId xmlns:a16="http://schemas.microsoft.com/office/drawing/2014/main" id="{DC2D89C1-668A-9F50-2ED2-DF605E095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6593" y="1690688"/>
            <a:ext cx="6150737" cy="4886418"/>
          </a:xfrm>
          <a:prstGeom prst="rect">
            <a:avLst/>
          </a:prstGeom>
        </p:spPr>
      </p:pic>
      <p:sp>
        <p:nvSpPr>
          <p:cNvPr id="3" name="TextBox 3">
            <a:extLst>
              <a:ext uri="{FF2B5EF4-FFF2-40B4-BE49-F238E27FC236}">
                <a16:creationId xmlns:a16="http://schemas.microsoft.com/office/drawing/2014/main" id="{E1DCDBA1-DCA1-A761-0E88-6B68EFE6A50C}"/>
              </a:ext>
            </a:extLst>
          </p:cNvPr>
          <p:cNvSpPr txBox="1"/>
          <p:nvPr/>
        </p:nvSpPr>
        <p:spPr>
          <a:xfrm>
            <a:off x="9937334" y="1321356"/>
            <a:ext cx="211999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Pinterest</a:t>
            </a:r>
          </a:p>
        </p:txBody>
      </p:sp>
    </p:spTree>
    <p:extLst>
      <p:ext uri="{BB962C8B-B14F-4D97-AF65-F5344CB8AC3E}">
        <p14:creationId xmlns:p14="http://schemas.microsoft.com/office/powerpoint/2010/main" val="1338246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4EC3-E1DA-8DA4-33E2-5053E594D25C}"/>
              </a:ext>
            </a:extLst>
          </p:cNvPr>
          <p:cNvSpPr>
            <a:spLocks noGrp="1"/>
          </p:cNvSpPr>
          <p:nvPr>
            <p:ph type="title"/>
          </p:nvPr>
        </p:nvSpPr>
        <p:spPr/>
        <p:txBody>
          <a:bodyPr/>
          <a:lstStyle/>
          <a:p>
            <a:r>
              <a:rPr lang="en-AU" dirty="0"/>
              <a:t>Solid Massing</a:t>
            </a:r>
          </a:p>
        </p:txBody>
      </p:sp>
      <p:pic>
        <p:nvPicPr>
          <p:cNvPr id="5" name="Content Placeholder 4">
            <a:extLst>
              <a:ext uri="{FF2B5EF4-FFF2-40B4-BE49-F238E27FC236}">
                <a16:creationId xmlns:a16="http://schemas.microsoft.com/office/drawing/2014/main" id="{88A8F9F0-D27F-B29E-4D62-56E6B20865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391965"/>
            <a:ext cx="6705600" cy="4466035"/>
          </a:xfrm>
        </p:spPr>
      </p:pic>
      <p:pic>
        <p:nvPicPr>
          <p:cNvPr id="7" name="Picture 6" descr="A city at night with buildings and roads&#10;&#10;Description automatically generated">
            <a:extLst>
              <a:ext uri="{FF2B5EF4-FFF2-40B4-BE49-F238E27FC236}">
                <a16:creationId xmlns:a16="http://schemas.microsoft.com/office/drawing/2014/main" id="{898FD3FC-2869-4E1C-2B5A-0D2552AA7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0"/>
            <a:ext cx="5486400" cy="4114800"/>
          </a:xfrm>
          <a:prstGeom prst="rect">
            <a:avLst/>
          </a:prstGeom>
        </p:spPr>
      </p:pic>
      <p:sp>
        <p:nvSpPr>
          <p:cNvPr id="8" name="Content Placeholder 2">
            <a:extLst>
              <a:ext uri="{FF2B5EF4-FFF2-40B4-BE49-F238E27FC236}">
                <a16:creationId xmlns:a16="http://schemas.microsoft.com/office/drawing/2014/main" id="{66CA3B0F-E82C-28A5-FF08-CA7AA23954CF}"/>
              </a:ext>
            </a:extLst>
          </p:cNvPr>
          <p:cNvSpPr txBox="1">
            <a:spLocks/>
          </p:cNvSpPr>
          <p:nvPr/>
        </p:nvSpPr>
        <p:spPr>
          <a:xfrm>
            <a:off x="8102600" y="5371570"/>
            <a:ext cx="4089400" cy="148643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i="0" dirty="0">
                <a:solidFill>
                  <a:srgbClr val="303030"/>
                </a:solidFill>
                <a:effectLst/>
                <a:latin typeface="Source Sans Pro" panose="020B0503030403020204" pitchFamily="34" charset="0"/>
              </a:rPr>
              <a:t>OMA's latest competition winner: the </a:t>
            </a:r>
            <a:r>
              <a:rPr lang="en-US" b="0" i="0" u="none" strike="noStrike" dirty="0">
                <a:effectLst/>
                <a:latin typeface="Source Sans Pro" panose="020B0503030403020204" pitchFamily="34" charset="0"/>
                <a:hlinkClick r:id="rId4"/>
              </a:rPr>
              <a:t>Essence Financial Building</a:t>
            </a:r>
            <a:r>
              <a:rPr lang="en-US" b="0" i="0" dirty="0">
                <a:solidFill>
                  <a:srgbClr val="303030"/>
                </a:solidFill>
                <a:effectLst/>
                <a:latin typeface="Source Sans Pro" panose="020B0503030403020204" pitchFamily="34" charset="0"/>
              </a:rPr>
              <a:t> for the city of </a:t>
            </a:r>
            <a:r>
              <a:rPr lang="en-US" b="0" i="0" u="none" strike="noStrike" dirty="0">
                <a:effectLst/>
                <a:latin typeface="Source Sans Pro" panose="020B0503030403020204" pitchFamily="34" charset="0"/>
                <a:hlinkClick r:id="rId5"/>
              </a:rPr>
              <a:t>Shenzhen</a:t>
            </a:r>
            <a:r>
              <a:rPr lang="en-US" b="0" i="0" dirty="0">
                <a:solidFill>
                  <a:srgbClr val="303030"/>
                </a:solidFill>
                <a:effectLst/>
                <a:latin typeface="Source Sans Pro" panose="020B0503030403020204" pitchFamily="34" charset="0"/>
              </a:rPr>
              <a:t>, </a:t>
            </a:r>
            <a:r>
              <a:rPr lang="en-US" b="0" i="0" u="none" strike="noStrike" dirty="0">
                <a:effectLst/>
                <a:latin typeface="Source Sans Pro" panose="020B0503030403020204" pitchFamily="34" charset="0"/>
                <a:hlinkClick r:id="rId6"/>
              </a:rPr>
              <a:t>China</a:t>
            </a:r>
            <a:r>
              <a:rPr lang="en-US" b="0" i="0" dirty="0">
                <a:solidFill>
                  <a:srgbClr val="303030"/>
                </a:solidFill>
                <a:effectLst/>
                <a:latin typeface="Source Sans Pro" panose="020B0503030403020204" pitchFamily="34" charset="0"/>
              </a:rPr>
              <a:t>. </a:t>
            </a:r>
            <a:endParaRPr lang="en-AU" dirty="0"/>
          </a:p>
        </p:txBody>
      </p:sp>
      <p:sp>
        <p:nvSpPr>
          <p:cNvPr id="3" name="TextBox 3">
            <a:extLst>
              <a:ext uri="{FF2B5EF4-FFF2-40B4-BE49-F238E27FC236}">
                <a16:creationId xmlns:a16="http://schemas.microsoft.com/office/drawing/2014/main" id="{F8479135-280A-A2F8-4DE0-C2EB2645DEC1}"/>
              </a:ext>
            </a:extLst>
          </p:cNvPr>
          <p:cNvSpPr txBox="1"/>
          <p:nvPr/>
        </p:nvSpPr>
        <p:spPr>
          <a:xfrm>
            <a:off x="10293804" y="4171195"/>
            <a:ext cx="211999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OMA</a:t>
            </a:r>
          </a:p>
        </p:txBody>
      </p:sp>
    </p:spTree>
    <p:extLst>
      <p:ext uri="{BB962C8B-B14F-4D97-AF65-F5344CB8AC3E}">
        <p14:creationId xmlns:p14="http://schemas.microsoft.com/office/powerpoint/2010/main" val="3224375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B5BB4-8A43-18CE-56E7-9FE81DAE0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63DB8-2B03-C1FC-37EB-968AD6496711}"/>
              </a:ext>
            </a:extLst>
          </p:cNvPr>
          <p:cNvSpPr>
            <a:spLocks noGrp="1"/>
          </p:cNvSpPr>
          <p:nvPr>
            <p:ph type="title"/>
          </p:nvPr>
        </p:nvSpPr>
        <p:spPr/>
        <p:txBody>
          <a:bodyPr/>
          <a:lstStyle/>
          <a:p>
            <a:r>
              <a:rPr lang="en-AU" dirty="0"/>
              <a:t>Fluid Massing</a:t>
            </a:r>
          </a:p>
        </p:txBody>
      </p:sp>
      <p:pic>
        <p:nvPicPr>
          <p:cNvPr id="5" name="Content Placeholder 4">
            <a:extLst>
              <a:ext uri="{FF2B5EF4-FFF2-40B4-BE49-F238E27FC236}">
                <a16:creationId xmlns:a16="http://schemas.microsoft.com/office/drawing/2014/main" id="{11DDA110-E50C-DC89-23F2-50C29D4599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2684695"/>
            <a:ext cx="6299339" cy="4173306"/>
          </a:xfrm>
        </p:spPr>
      </p:pic>
      <p:pic>
        <p:nvPicPr>
          <p:cNvPr id="7" name="Picture 6">
            <a:extLst>
              <a:ext uri="{FF2B5EF4-FFF2-40B4-BE49-F238E27FC236}">
                <a16:creationId xmlns:a16="http://schemas.microsoft.com/office/drawing/2014/main" id="{468CECE4-2998-85F0-385D-C3863C0129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9340" y="0"/>
            <a:ext cx="5892660" cy="4202373"/>
          </a:xfrm>
          <a:prstGeom prst="rect">
            <a:avLst/>
          </a:prstGeom>
        </p:spPr>
      </p:pic>
      <p:sp>
        <p:nvSpPr>
          <p:cNvPr id="8" name="Content Placeholder 2">
            <a:extLst>
              <a:ext uri="{FF2B5EF4-FFF2-40B4-BE49-F238E27FC236}">
                <a16:creationId xmlns:a16="http://schemas.microsoft.com/office/drawing/2014/main" id="{4465A975-BB4C-8FAB-089A-61F72A7C526B}"/>
              </a:ext>
            </a:extLst>
          </p:cNvPr>
          <p:cNvSpPr txBox="1">
            <a:spLocks/>
          </p:cNvSpPr>
          <p:nvPr/>
        </p:nvSpPr>
        <p:spPr>
          <a:xfrm>
            <a:off x="8102600" y="5371570"/>
            <a:ext cx="4089400" cy="148643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Zaha Hadid </a:t>
            </a:r>
            <a:r>
              <a:rPr lang="en-US" b="0" i="0" dirty="0">
                <a:solidFill>
                  <a:srgbClr val="001D35"/>
                </a:solidFill>
                <a:effectLst/>
                <a:latin typeface="Google Sans"/>
              </a:rPr>
              <a:t>MAXXI - National Museum of 21st Century Art in Rome, Italy</a:t>
            </a:r>
            <a:endParaRPr lang="en-AU" dirty="0"/>
          </a:p>
        </p:txBody>
      </p:sp>
      <p:sp>
        <p:nvSpPr>
          <p:cNvPr id="3" name="TextBox 3">
            <a:extLst>
              <a:ext uri="{FF2B5EF4-FFF2-40B4-BE49-F238E27FC236}">
                <a16:creationId xmlns:a16="http://schemas.microsoft.com/office/drawing/2014/main" id="{E75E44D2-AEF3-48EF-C8A5-39CE37634093}"/>
              </a:ext>
            </a:extLst>
          </p:cNvPr>
          <p:cNvSpPr txBox="1"/>
          <p:nvPr/>
        </p:nvSpPr>
        <p:spPr>
          <a:xfrm>
            <a:off x="9033933" y="4330044"/>
            <a:ext cx="325120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a:t>
            </a:r>
            <a:r>
              <a:rPr lang="en-AU" dirty="0"/>
              <a:t>Zaha Hadid Architects</a:t>
            </a:r>
            <a:endParaRPr lang="en-AU" sz="1800" dirty="0"/>
          </a:p>
        </p:txBody>
      </p:sp>
    </p:spTree>
    <p:extLst>
      <p:ext uri="{BB962C8B-B14F-4D97-AF65-F5344CB8AC3E}">
        <p14:creationId xmlns:p14="http://schemas.microsoft.com/office/powerpoint/2010/main" val="1801095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35EB9-9FCB-581C-F780-F5413C011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A5DF3-5156-37AE-AB0B-B55EF2B297AF}"/>
              </a:ext>
            </a:extLst>
          </p:cNvPr>
          <p:cNvSpPr>
            <a:spLocks noGrp="1"/>
          </p:cNvSpPr>
          <p:nvPr>
            <p:ph type="title"/>
          </p:nvPr>
        </p:nvSpPr>
        <p:spPr>
          <a:xfrm>
            <a:off x="0" y="24395"/>
            <a:ext cx="3445933" cy="1325563"/>
          </a:xfrm>
        </p:spPr>
        <p:txBody>
          <a:bodyPr>
            <a:normAutofit/>
          </a:bodyPr>
          <a:lstStyle/>
          <a:p>
            <a:r>
              <a:rPr lang="en-AU" dirty="0"/>
              <a:t>Massing with Site Model</a:t>
            </a:r>
          </a:p>
        </p:txBody>
      </p:sp>
      <p:pic>
        <p:nvPicPr>
          <p:cNvPr id="5" name="Content Placeholder 4">
            <a:extLst>
              <a:ext uri="{FF2B5EF4-FFF2-40B4-BE49-F238E27FC236}">
                <a16:creationId xmlns:a16="http://schemas.microsoft.com/office/drawing/2014/main" id="{28078A77-1661-A399-F059-419143E0AA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6315" y="0"/>
            <a:ext cx="2622114" cy="3933172"/>
          </a:xfrm>
        </p:spPr>
      </p:pic>
      <p:pic>
        <p:nvPicPr>
          <p:cNvPr id="7" name="Picture 6">
            <a:extLst>
              <a:ext uri="{FF2B5EF4-FFF2-40B4-BE49-F238E27FC236}">
                <a16:creationId xmlns:a16="http://schemas.microsoft.com/office/drawing/2014/main" id="{EB07DFEB-62D3-9EF2-5DA4-B5A079112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7029" y="0"/>
            <a:ext cx="5444971" cy="6858000"/>
          </a:xfrm>
          <a:prstGeom prst="rect">
            <a:avLst/>
          </a:prstGeom>
        </p:spPr>
      </p:pic>
      <p:pic>
        <p:nvPicPr>
          <p:cNvPr id="9" name="Picture 8">
            <a:extLst>
              <a:ext uri="{FF2B5EF4-FFF2-40B4-BE49-F238E27FC236}">
                <a16:creationId xmlns:a16="http://schemas.microsoft.com/office/drawing/2014/main" id="{E6E892A2-2AB4-A372-39E3-44C44B787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6315" y="4235887"/>
            <a:ext cx="2622114" cy="2622114"/>
          </a:xfrm>
          <a:prstGeom prst="rect">
            <a:avLst/>
          </a:prstGeom>
        </p:spPr>
      </p:pic>
      <p:pic>
        <p:nvPicPr>
          <p:cNvPr id="11" name="Picture 10">
            <a:extLst>
              <a:ext uri="{FF2B5EF4-FFF2-40B4-BE49-F238E27FC236}">
                <a16:creationId xmlns:a16="http://schemas.microsoft.com/office/drawing/2014/main" id="{76F8C316-098C-4B1C-098C-BE0C65F28B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324065"/>
            <a:ext cx="3674533" cy="5533935"/>
          </a:xfrm>
          <a:prstGeom prst="rect">
            <a:avLst/>
          </a:prstGeom>
        </p:spPr>
      </p:pic>
      <p:sp>
        <p:nvSpPr>
          <p:cNvPr id="3" name="TextBox 3">
            <a:extLst>
              <a:ext uri="{FF2B5EF4-FFF2-40B4-BE49-F238E27FC236}">
                <a16:creationId xmlns:a16="http://schemas.microsoft.com/office/drawing/2014/main" id="{9EC110C2-D166-73C8-4148-3FA05F7E8AA7}"/>
              </a:ext>
            </a:extLst>
          </p:cNvPr>
          <p:cNvSpPr txBox="1"/>
          <p:nvPr/>
        </p:nvSpPr>
        <p:spPr>
          <a:xfrm>
            <a:off x="3816805" y="617009"/>
            <a:ext cx="211999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AU" sz="1800" dirty="0"/>
              <a:t>Source: Pinterest</a:t>
            </a:r>
          </a:p>
        </p:txBody>
      </p:sp>
    </p:spTree>
    <p:extLst>
      <p:ext uri="{BB962C8B-B14F-4D97-AF65-F5344CB8AC3E}">
        <p14:creationId xmlns:p14="http://schemas.microsoft.com/office/powerpoint/2010/main" val="4254943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699F-0691-406E-1AE4-04AD3AD885B6}"/>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AD6DE18A-5429-E6DC-A4D8-5CC90CC5815D}"/>
              </a:ext>
            </a:extLst>
          </p:cNvPr>
          <p:cNvSpPr txBox="1">
            <a:spLocks/>
          </p:cNvSpPr>
          <p:nvPr/>
        </p:nvSpPr>
        <p:spPr>
          <a:xfrm>
            <a:off x="1194763" y="2830457"/>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2: Initial Massing Study</a:t>
            </a:r>
          </a:p>
        </p:txBody>
      </p:sp>
    </p:spTree>
    <p:extLst>
      <p:ext uri="{BB962C8B-B14F-4D97-AF65-F5344CB8AC3E}">
        <p14:creationId xmlns:p14="http://schemas.microsoft.com/office/powerpoint/2010/main" val="405412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ED34BE-BB78-0590-93A1-EE41566D7B4C}"/>
              </a:ext>
            </a:extLst>
          </p:cNvPr>
          <p:cNvSpPr>
            <a:spLocks noGrp="1"/>
          </p:cNvSpPr>
          <p:nvPr>
            <p:ph type="body" sz="half" idx="2"/>
          </p:nvPr>
        </p:nvSpPr>
        <p:spPr/>
        <p:txBody>
          <a:bodyPr/>
          <a:lstStyle/>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Zaha Hadid Architects.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Zaha Hadid Archives.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https://www.zaha-hadid.com/archive/?type=architecture</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OMA.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OMA Projects.</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3"/>
              </a:rPr>
              <a:t>https://www.oma.com/projects</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hlinkClick r:id="rId4"/>
              </a:rPr>
              <a:t>https://www.pinterest.com/</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AU" dirty="0"/>
          </a:p>
        </p:txBody>
      </p:sp>
      <p:sp>
        <p:nvSpPr>
          <p:cNvPr id="2" name="Title 1">
            <a:extLst>
              <a:ext uri="{FF2B5EF4-FFF2-40B4-BE49-F238E27FC236}">
                <a16:creationId xmlns:a16="http://schemas.microsoft.com/office/drawing/2014/main" id="{86450B5C-7904-DD0E-48E8-B7A023F54F87}"/>
              </a:ext>
            </a:extLst>
          </p:cNvPr>
          <p:cNvSpPr>
            <a:spLocks noGrp="1"/>
          </p:cNvSpPr>
          <p:nvPr>
            <p:ph type="title"/>
          </p:nvPr>
        </p:nvSpPr>
        <p:spPr/>
        <p:txBody>
          <a:bodyPr/>
          <a:lstStyle/>
          <a:p>
            <a:r>
              <a:rPr lang="en-AU" dirty="0"/>
              <a:t>Reference</a:t>
            </a:r>
          </a:p>
        </p:txBody>
      </p:sp>
    </p:spTree>
    <p:extLst>
      <p:ext uri="{BB962C8B-B14F-4D97-AF65-F5344CB8AC3E}">
        <p14:creationId xmlns:p14="http://schemas.microsoft.com/office/powerpoint/2010/main" val="4166837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3.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VU_PPT Template</Template>
  <TotalTime>171</TotalTime>
  <Words>905</Words>
  <Application>Microsoft Office PowerPoint</Application>
  <PresentationFormat>Widescreen</PresentationFormat>
  <Paragraphs>80</Paragraphs>
  <Slides>26</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.Lucida Grande UI Regular</vt:lpstr>
      <vt:lpstr>Arial</vt:lpstr>
      <vt:lpstr>Calibri</vt:lpstr>
      <vt:lpstr>Google Sans</vt:lpstr>
      <vt:lpstr>Helvetica Neue</vt:lpstr>
      <vt:lpstr>Source Sans Pro</vt:lpstr>
      <vt:lpstr>Office Theme</vt:lpstr>
      <vt:lpstr>Session 4</vt:lpstr>
      <vt:lpstr>PowerPoint Presentation</vt:lpstr>
      <vt:lpstr>Introduction to Architectural Design Concept </vt:lpstr>
      <vt:lpstr>Developing a Design Concept</vt:lpstr>
      <vt:lpstr>Elements of Design Concept</vt:lpstr>
      <vt:lpstr>Examples of Architectural Design Concepts</vt:lpstr>
      <vt:lpstr>Examples of Architectural Design Concepts</vt:lpstr>
      <vt:lpstr>Examples of Architectural Design Concepts</vt:lpstr>
      <vt:lpstr>Examples of Architectural Design Concepts</vt:lpstr>
      <vt:lpstr>Manifesto in Architecture</vt:lpstr>
      <vt:lpstr>Example Manifesto in Architecture</vt:lpstr>
      <vt:lpstr>Example Manifesto in Architecture</vt:lpstr>
      <vt:lpstr>PowerPoint Presentation</vt:lpstr>
      <vt:lpstr>Session 4</vt:lpstr>
      <vt:lpstr>Introduction to Architectural Massing</vt:lpstr>
      <vt:lpstr>Principles of Massing</vt:lpstr>
      <vt:lpstr>Factors Impacting Massing</vt:lpstr>
      <vt:lpstr>Massing Studies – Digital  </vt:lpstr>
      <vt:lpstr>Massing Studies – Modelling</vt:lpstr>
      <vt:lpstr>Massing Studies – Sketching</vt:lpstr>
      <vt:lpstr>Solid Massing</vt:lpstr>
      <vt:lpstr>Fluid Massing</vt:lpstr>
      <vt:lpstr>Massing with Site Model</vt:lpstr>
      <vt:lpstr>PowerPoint Presentation</vt:lpstr>
      <vt:lpstr>Reference</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5</cp:revision>
  <dcterms:created xsi:type="dcterms:W3CDTF">2025-01-30T23:38:47Z</dcterms:created>
  <dcterms:modified xsi:type="dcterms:W3CDTF">2025-02-03T01:10:17Z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